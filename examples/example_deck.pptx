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128</c:v>
                </c:pt>
                <c:pt idx="3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142</c:v>
                </c:pt>
                <c:pt idx="1">
                  <c:v>160</c:v>
                </c:pt>
                <c:pt idx="2">
                  <c:v>171</c:v>
                </c:pt>
                <c:pt idx="3">
                  <c:v>188</c:v>
                </c:pt>
              </c:numCache>
            </c:numRef>
          </c:val>
        </c:ser>
        <c:dLbls>
          <c:txPr>
            <a:bodyPr/>
            <a:lstStyle/>
            <a:p>
              <a:pPr>
                <a:defRPr sz="1377"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1">
                <a:lumMod val="40000"/>
                <a:lumOff val="60000"/>
              </a:schemeClr>
            </a:solidFill>
          </a:ln>
        </c:spPr>
        <c:txPr>
          <a:bodyPr/>
          <a:lstStyle/>
          <a:p>
            <a:pPr>
              <a:defRPr sz="1450">
                <a:latin typeface="+mn-l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50" b="0">
                    <a:latin typeface="+mn-lt"/>
                  </a:rPr>
                  <a:t>Revenue (k$)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50">
                <a:latin typeface="+mn-l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50">
              <a:latin typeface="+mn-lt"/>
            </a:defRPr>
          </a:pPr>
        </a:p>
      </c:txPr>
    </c:legend>
    <c:dispBlanksAs val="gap"/>
  </c:chart>
  <c:txPr>
    <a:bodyPr/>
    <a:lstStyle/>
    <a:p>
      <a:pPr>
        <a:defRPr sz="1450">
          <a:solidFill>
            <a:schemeClr val="tx1">
              <a:lumMod val="75000"/>
              <a:lumOff val="25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circle"/>
            <c:size val="7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2.1</c:v>
                </c:pt>
                <c:pt idx="1">
                  <c:v>2.4</c:v>
                </c:pt>
                <c:pt idx="2">
                  <c:v>2.2</c:v>
                </c:pt>
                <c:pt idx="3">
                  <c:v>2.9</c:v>
                </c:pt>
                <c:pt idx="4">
                  <c:v>3.1</c:v>
                </c:pt>
                <c:pt idx="5">
                  <c:v>3.3</c:v>
                </c:pt>
                <c:pt idx="6">
                  <c:v>3.6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method</c:v>
                </c:pt>
              </c:strCache>
            </c:strRef>
          </c:tx>
          <c:spPr>
            <a:ln w="31750">
              <a:solidFill>
                <a:schemeClr val="accent2"/>
              </a:solidFill>
            </a:ln>
          </c:spPr>
          <c:marker>
            <c:symbol val="circle"/>
            <c:size val="7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2.3</c:v>
                </c:pt>
                <c:pt idx="1">
                  <c:v>2.9</c:v>
                </c:pt>
                <c:pt idx="2">
                  <c:v>3.4</c:v>
                </c:pt>
                <c:pt idx="3">
                  <c:v>3.9</c:v>
                </c:pt>
                <c:pt idx="4">
                  <c:v>4.6</c:v>
                </c:pt>
                <c:pt idx="5">
                  <c:v>5.0</c:v>
                </c:pt>
                <c:pt idx="6">
                  <c:v>5.7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1">
                <a:lumMod val="40000"/>
                <a:lumOff val="60000"/>
              </a:schemeClr>
            </a:solidFill>
          </a:ln>
        </c:spPr>
        <c:txPr>
          <a:bodyPr/>
          <a:lstStyle/>
          <a:p>
            <a:pPr>
              <a:defRPr sz="1450">
                <a:latin typeface="+mn-l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50" b="0">
                    <a:latin typeface="+mn-lt"/>
                  </a:rPr>
                  <a:t>Throughput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50">
                <a:latin typeface="+mn-lt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50">
              <a:latin typeface="+mn-l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50">
          <a:solidFill>
            <a:schemeClr val="tx1">
              <a:lumMod val="75000"/>
              <a:lumOff val="25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667" b="1">
                <a:solidFill>
                  <a:schemeClr val="accent1"/>
                </a:solidFill>
                <a:latin typeface="+mn-lt"/>
              </a:rPr>
              <a:t>Traffic by channel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</c:dPt>
          <c:dPt>
            <c:idx val="1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</c:dPt>
          <c:dPt>
            <c:idx val="2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</c:dPt>
          <c:dPt>
            <c:idx val="3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Direct</c:v>
                </c:pt>
                <c:pt idx="2">
                  <c:v>Social</c:v>
                </c:pt>
                <c:pt idx="3">
                  <c:v>Email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0.27</c:v>
                </c:pt>
                <c:pt idx="2">
                  <c:v>0.17</c:v>
                </c:pt>
                <c:pt idx="3">
                  <c:v>0.1</c:v>
                </c:pt>
              </c:numCache>
            </c:numRef>
          </c:val>
        </c:ser>
        <c:dLbls>
          <c:txPr>
            <a:bodyPr/>
            <a:lstStyle/>
            <a:p>
              <a:pPr>
                <a:defRPr sz="1377">
                  <a:latin typeface="+mn-lt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450">
              <a:latin typeface="+mn-lt"/>
            </a:defRPr>
          </a:pPr>
        </a:p>
      </c:txPr>
    </c:legend>
    <c:dispBlanksAs val="gap"/>
  </c:chart>
  <c:txPr>
    <a:bodyPr/>
    <a:lstStyle/>
    <a:p>
      <a:pPr>
        <a:defRPr sz="1450">
          <a:solidFill>
            <a:schemeClr val="tx1">
              <a:lumMod val="75000"/>
              <a:lumOff val="25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667" b="1">
                <a:solidFill>
                  <a:schemeClr val="accent1"/>
                </a:solidFill>
                <a:latin typeface="+mn-lt"/>
              </a:rPr>
              <a:t>Budget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</c:spPr>
          </c:dPt>
          <c:dPt>
            <c:idx val="1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</c:spPr>
          </c:dPt>
          <c:dPt>
            <c:idx val="2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</c:spPr>
          </c:dPt>
          <c:dPt>
            <c:idx val="3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Staff</c:v>
                </c:pt>
                <c:pt idx="1">
                  <c:v>Compute</c:v>
                </c:pt>
                <c:pt idx="2">
                  <c:v>Travel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25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450">
              <a:latin typeface="+mn-l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50">
          <a:solidFill>
            <a:schemeClr val="tx1">
              <a:lumMod val="75000"/>
              <a:lumOff val="25000"/>
            </a:schemeClr>
          </a:solidFill>
          <a:latin typeface="+mn-lt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go here. They appear in PowerPoint's presenter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A. Researcher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Beamer-style PowerPoint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A. Researcher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Beamer-style PowerPoint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Bar"/>
          <p:cNvSpPr/>
          <p:nvPr userDrawn="1"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A. Researcher</a:t>
            </a:r>
            <a:endParaRPr lang="en-US" sz="11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Beamer-style PowerPoint</a:t>
            </a:r>
            <a:endParaRPr lang="en-US" sz="11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70000"/>
        <a:buFont typeface="Arial" panose="020B0604020202020204"/>
        <a:buChar char="►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python-pptx.readthedocs.i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pandoc.org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Beamer-Style Decks in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Write content once, get a fully editable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A. Researcher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Department of Presentation Science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October 22,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/>
              <a:t>Motivation</a:t>
            </a:r>
          </a:p>
          <a:p>
            <a:pPr>
              <a:buAutoNum type="arabicPeriod"/>
            </a:pPr>
            <a:r>
              <a:rPr/>
              <a:t>Results</a:t>
            </a:r>
          </a:p>
          <a:p>
            <a:pPr>
              <a:buAutoNum type="arabicPeriod"/>
            </a:pPr>
            <a:r>
              <a:rPr/>
              <a:t>Diagrams</a:t>
            </a:r>
          </a:p>
          <a:p>
            <a:pPr>
              <a:buAutoNum type="arabicPeriod"/>
            </a:pPr>
            <a:r>
              <a:rPr/>
              <a:t>Animation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Motivation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Why separate content from formatting?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Consistency</a:t>
            </a:r>
            <a:r>
              <a:rPr/>
              <a:t> - every slide follows the slide master</a:t>
            </a:r>
          </a:p>
          <a:p>
            <a:pPr/>
            <a:r>
              <a:rPr b="1"/>
              <a:t>Speed</a:t>
            </a:r>
            <a:r>
              <a:rPr/>
              <a:t> - edit a text file, rebuild in a second</a:t>
            </a:r>
          </a:p>
          <a:p>
            <a:pPr lvl="1"/>
            <a:r>
              <a:rPr/>
              <a:t>Charts rebuilt from data, not screenshots</a:t>
            </a:r>
          </a:p>
          <a:p>
            <a:pPr lvl="1"/>
            <a:r>
              <a:rPr/>
              <a:t>Equations stay editable</a:t>
            </a:r>
          </a:p>
          <a:p>
            <a:pPr/>
            <a:r>
              <a:rPr b="1"/>
              <a:t>Editability</a:t>
            </a:r>
            <a:r>
              <a:rPr/>
              <a:t> - the output is an </a:t>
            </a:r>
            <a:r>
              <a:rPr>
                <a:solidFill>
                  <a:schemeClr val="accent2"/>
                </a:solidFill>
              </a:rPr>
              <a:t>ordinary PowerPoint deck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Beamer blocks</a:t>
            </a:r>
          </a:p>
          <a:p>
            <a:r>
              <a:rPr sz="1739" b="0"/>
              <a:t>block, alertblock and exampleblock</a:t>
            </a:r>
          </a:p>
        </p:txBody>
      </p:sp>
      <p:grpSp>
        <p:nvGrpSpPr>
          <p:cNvPr id="5" name="Block: Definition"/>
          <p:cNvGrpSpPr/>
          <p:nvPr/>
        </p:nvGrpSpPr>
        <p:grpSpPr>
          <a:xfrm>
            <a:off x="548640" y="2743435"/>
            <a:ext cx="3454298" cy="2011210"/>
            <a:chOff x="548640" y="2743435"/>
            <a:chExt cx="3454298" cy="201121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2743435"/>
              <a:ext cx="3454298" cy="2011210"/>
            </a:xfrm>
            <a:prstGeom prst="roundRect">
              <a:avLst>
                <a:gd name="adj" fmla="val 4091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A </a:t>
              </a:r>
              <a:r>
                <a:rPr sz="1980" i="1">
                  <a:solidFill>
                    <a:schemeClr val="tx1"/>
                  </a:solidFill>
                </a:rPr>
                <a:t>template</a:t>
              </a:r>
              <a:r>
                <a:rPr sz="1980">
                  <a:solidFill>
                    <a:schemeClr val="tx1"/>
                  </a:solidFill>
                </a:rPr>
                <a:t> holds all formatting: theme colours, fonts, the slide master and layouts.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2743435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Definition</a:t>
              </a:r>
            </a:p>
          </p:txBody>
        </p:sp>
      </p:grpSp>
      <p:grpSp>
        <p:nvGrpSpPr>
          <p:cNvPr id="8" name="Alertblock: Watch out"/>
          <p:cNvGrpSpPr/>
          <p:nvPr/>
        </p:nvGrpSpPr>
        <p:grpSpPr>
          <a:xfrm>
            <a:off x="4368698" y="2743435"/>
            <a:ext cx="3454298" cy="2011210"/>
            <a:chOff x="4368698" y="2743435"/>
            <a:chExt cx="3454298" cy="2011210"/>
          </a:xfrm>
        </p:grpSpPr>
        <p:sp>
          <p:nvSpPr>
            <p:cNvPr id="6" name="Rounded Rectangle 5"/>
            <p:cNvSpPr/>
            <p:nvPr/>
          </p:nvSpPr>
          <p:spPr>
            <a:xfrm>
              <a:off x="4368698" y="2743435"/>
              <a:ext cx="3454298" cy="2011210"/>
            </a:xfrm>
            <a:prstGeom prst="roundRect">
              <a:avLst>
                <a:gd name="adj" fmla="val 4091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Formatting typed into the content file is limited to </a:t>
              </a:r>
              <a:r>
                <a:rPr sz="1980" b="1">
                  <a:solidFill>
                    <a:schemeClr val="tx1"/>
                  </a:solidFill>
                </a:rPr>
                <a:t>bold</a:t>
              </a:r>
              <a:r>
                <a:rPr sz="1980">
                  <a:solidFill>
                    <a:schemeClr val="tx1"/>
                  </a:solidFill>
                </a:rPr>
                <a:t>, </a:t>
              </a:r>
              <a:r>
                <a:rPr sz="1980" i="1">
                  <a:solidFill>
                    <a:schemeClr val="tx1"/>
                  </a:solidFill>
                </a:rPr>
                <a:t>italic</a:t>
              </a:r>
              <a:r>
                <a:rPr sz="1980">
                  <a:solidFill>
                    <a:schemeClr val="tx1"/>
                  </a:solidFill>
                </a:rPr>
                <a:t>, </a:t>
              </a:r>
              <a:r>
                <a:rPr sz="1980">
                  <a:solidFill>
                    <a:schemeClr val="tx1"/>
                  </a:solidFill>
                  <a:latin typeface="Courier New"/>
                </a:rPr>
                <a:t>code</a:t>
              </a:r>
              <a:r>
                <a:rPr sz="1980">
                  <a:solidFill>
                    <a:schemeClr val="tx1"/>
                  </a:solidFill>
                </a:rPr>
                <a:t>, </a:t>
              </a:r>
              <a:r>
                <a:rPr sz="1980">
                  <a:solidFill>
                    <a:schemeClr val="accent2"/>
                  </a:solidFill>
                </a:rPr>
                <a:t>alert</a:t>
              </a:r>
              <a:r>
                <a:rPr sz="1980">
                  <a:solidFill>
                    <a:schemeClr val="tx1"/>
                  </a:solidFill>
                </a:rPr>
                <a:t> and </a:t>
              </a:r>
              <a:r>
                <a:rPr sz="1980">
                  <a:solidFill>
                    <a:schemeClr val="tx1"/>
                  </a:solidFill>
                  <a:hlinkClick r:id="rId2"/>
                </a:rPr>
                <a:t>links</a:t>
              </a:r>
              <a:r>
                <a:rPr sz="198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4368698" y="2743435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Watch out</a:t>
              </a:r>
            </a:p>
          </p:txBody>
        </p:sp>
      </p:grpSp>
      <p:grpSp>
        <p:nvGrpSpPr>
          <p:cNvPr id="11" name="Exampleblock: Example"/>
          <p:cNvGrpSpPr/>
          <p:nvPr/>
        </p:nvGrpSpPr>
        <p:grpSpPr>
          <a:xfrm>
            <a:off x="8188757" y="2743435"/>
            <a:ext cx="3454298" cy="2011210"/>
            <a:chOff x="8188757" y="2743435"/>
            <a:chExt cx="3454298" cy="2011210"/>
          </a:xfrm>
        </p:grpSpPr>
        <p:sp>
          <p:nvSpPr>
            <p:cNvPr id="9" name="Rounded Rectangle 8"/>
            <p:cNvSpPr/>
            <p:nvPr/>
          </p:nvSpPr>
          <p:spPr>
            <a:xfrm>
              <a:off x="8188757" y="2743435"/>
              <a:ext cx="3454298" cy="2011210"/>
            </a:xfrm>
            <a:prstGeom prst="roundRect">
              <a:avLst>
                <a:gd name="adj" fmla="val 4091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980"/>
                <a:t>Theme accent 3</a:t>
              </a:r>
            </a:p>
            <a:p>
              <a:pPr algn="l"/>
              <a:r>
                <a:rPr sz="1980"/>
                <a:t>Bullets work too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8188757" y="2743435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Example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Equations are native and editable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899412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The Gaussian integral, with inline math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2200" i="1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200" i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200"/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2200" i="1">
                            <a:latin typeface="Cambria Math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 i="0">
                            <a:latin typeface="Cambria Math"/>
                          </a:rPr>
                          <m:t>−</m:t>
                        </m:r>
                        <m:sSup>
                          <m:e>
                            <m:r>
                              <a:rPr lang="en-US" sz="2200" i="1">
                                <a:latin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en-US" sz="2200" i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200"/>
                  <a:t>:</a:t>
                </a:r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1899412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70000"/>
                  <a:buFont typeface="Arial" panose="020B0604020202020204"/>
                  <a:buChar char="►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The Gaussian integral, with inline math such as </a:t>
                </a:r>
                <a:r>
                  <a:rPr sz="2200" i="1"/>
                  <a:t>σ²</a:t>
                </a:r>
                <a:r>
                  <a:rPr sz="2200"/>
                  <a:t> and </a:t>
                </a:r>
                <a:r>
                  <a:rPr sz="2200" i="1"/>
                  <a:t>e^(−x²)</a:t>
                </a:r>
                <a:r>
                  <a:rPr sz="2200"/>
                  <a:t>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674620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∞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∞</m:t>
                          </m:r>
                        </m:sup>
                        <m:e>
                          <m:sSup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310" i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  <m:r>
                        <a:rPr lang="en-US" sz="2310" i="0">
                          <a:latin typeface="Cambria Math"/>
                        </a:rPr>
                        <m:t> </m:t>
                      </m:r>
                      <m:r>
                        <a:rPr lang="en-US" sz="2310" i="1">
                          <a:latin typeface="Cambria Math"/>
                        </a:rPr>
                        <m:t>d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2310" i="1">
                              <a:latin typeface="Cambria Math"/>
                            </a:rPr>
                            <m:t>π</m:t>
                          </m:r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674620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∫_(−∞)^∞ e^(−x²) dx = √π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48640" y="3863340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200"/>
              <a:t>Bayes' rule: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8640" y="4638548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∣</m:t>
                      </m:r>
                      <m:r>
                        <a:rPr lang="en-US" sz="2310" i="1">
                          <a:latin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∣</m:t>
                          </m:r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548640" y="4638548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P(A | B) = (P(B | A) P(A))/(P(B))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Charts, tables and figures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Native chart - right-click, Edit Data</a:t>
            </a:r>
          </a:p>
        </p:txBody>
      </p:sp>
      <p:graphicFrame>
        <p:nvGraphicFramePr>
          <p:cNvPr id="3" name="Chart: column"/>
          <p:cNvGraphicFramePr>
            <a:graphicFrameLocks noGrp="1"/>
          </p:cNvGraphicFramePr>
          <p:nvPr/>
        </p:nvGraphicFramePr>
        <p:xfrm>
          <a:off x="548640" y="1828800"/>
          <a:ext cx="11094415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Chart next to text</a:t>
            </a:r>
          </a:p>
        </p:txBody>
      </p:sp>
      <p:graphicFrame>
        <p:nvGraphicFramePr>
          <p:cNvPr id="3" name="Chart: line"/>
          <p:cNvGraphicFramePr>
            <a:graphicFrameLocks noGrp="1"/>
          </p:cNvGraphicFramePr>
          <p:nvPr/>
        </p:nvGraphicFramePr>
        <p:xfrm>
          <a:off x="548640" y="1828800"/>
          <a:ext cx="62226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37020" y="2412219"/>
            <a:ext cx="4506035" cy="13390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2200"/>
              <a:t>Our method pulls ahead after 2020</a:t>
            </a:r>
          </a:p>
          <a:p>
            <a:pPr lvl="1"/>
            <a:r>
              <a:rPr sz="2000"/>
              <a:t>+58% by 2025</a:t>
            </a:r>
          </a:p>
          <a:p>
            <a:pPr/>
            <a:r>
              <a:rPr sz="2200"/>
              <a:t>Baseline growth is roughly linear</a:t>
            </a:r>
          </a:p>
        </p:txBody>
      </p:sp>
      <p:grpSp>
        <p:nvGrpSpPr>
          <p:cNvPr id="7" name="Alertblock: Caveat"/>
          <p:cNvGrpSpPr/>
          <p:nvPr/>
        </p:nvGrpSpPr>
        <p:grpSpPr>
          <a:xfrm>
            <a:off x="7137020" y="3979907"/>
            <a:ext cx="4506035" cy="1105954"/>
            <a:chOff x="7137020" y="3979907"/>
            <a:chExt cx="4506035" cy="1105954"/>
          </a:xfrm>
        </p:grpSpPr>
        <p:sp>
          <p:nvSpPr>
            <p:cNvPr id="5" name="Rounded Rectangle 4"/>
            <p:cNvSpPr/>
            <p:nvPr/>
          </p:nvSpPr>
          <p:spPr>
            <a:xfrm>
              <a:off x="7137020" y="3979907"/>
              <a:ext cx="4506035" cy="1105954"/>
            </a:xfrm>
            <a:prstGeom prst="roundRect">
              <a:avLst>
                <a:gd name="adj" fmla="val 7441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Synthetic data for illustration.</a:t>
              </a:r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137020" y="3979907"/>
              <a:ext cx="450603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Caveat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Pie and doughnut charts</a:t>
            </a:r>
          </a:p>
        </p:txBody>
      </p:sp>
      <p:graphicFrame>
        <p:nvGraphicFramePr>
          <p:cNvPr id="3" name="Chart: Traffic by channel"/>
          <p:cNvGraphicFramePr>
            <a:graphicFrameLocks noGrp="1"/>
          </p:cNvGraphicFramePr>
          <p:nvPr/>
        </p:nvGraphicFramePr>
        <p:xfrm>
          <a:off x="548640" y="1828800"/>
          <a:ext cx="5364327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: Budget"/>
          <p:cNvGraphicFramePr>
            <a:graphicFrameLocks noGrp="1"/>
          </p:cNvGraphicFramePr>
          <p:nvPr/>
        </p:nvGraphicFramePr>
        <p:xfrm>
          <a:off x="6278727" y="1828800"/>
          <a:ext cx="5364327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Tables in booktabs style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2742730" y="1725549"/>
          <a:ext cx="6706235" cy="179120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601470"/>
                <a:gridCol w="1301115"/>
                <a:gridCol w="1601470"/>
                <a:gridCol w="2202180"/>
              </a:tblGrid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 b="1">
                          <a:solidFill>
                            <a:schemeClr val="tx1"/>
                          </a:solidFill>
                        </a:rPr>
                        <a:t>Params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 b="1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 b="1">
                          <a:solidFill>
                            <a:schemeClr val="tx1"/>
                          </a:solidFill>
                        </a:rPr>
                        <a:t>Latency (ms)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12M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81.4%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Wide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48M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84.9%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tx1"/>
                          </a:solidFill>
                        </a:rPr>
                        <a:t>Ours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20M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accent2"/>
                          </a:solidFill>
                        </a:rPr>
                        <a:t>86.2%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45357"/>
            <a:ext cx="11094415" cy="45516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600"/>
              <a:t>Striped style: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3044883" y="4429125"/>
          <a:ext cx="6101929" cy="134340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60626"/>
                <a:gridCol w="1347101"/>
                <a:gridCol w="1347101"/>
                <a:gridCol w="1347101"/>
              </a:tblGrid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bg1"/>
                          </a:solidFill>
                        </a:rPr>
                        <a:t>Region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 b="1">
                          <a:solidFill>
                            <a:schemeClr val="bg1"/>
                          </a:solidFill>
                        </a:rPr>
                        <a:t>Q1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 b="1">
                          <a:solidFill>
                            <a:schemeClr val="bg1"/>
                          </a:solidFill>
                        </a:rPr>
                        <a:t>Q2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 b="1">
                          <a:solidFill>
                            <a:schemeClr val="bg1"/>
                          </a:solidFill>
                        </a:rPr>
                        <a:t>Q3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North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135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South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98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0">
                          <a:solidFill>
                            <a:schemeClr val="tx1"/>
                          </a:solidFill>
                        </a:rPr>
                        <a:t>125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Figures from any tool</a:t>
            </a:r>
          </a:p>
        </p:txBody>
      </p:sp>
      <p:pic>
        <p:nvPicPr>
          <p:cNvPr id="3" name="Contour plot of a two-peak surface" descr="Contour plot of a two-peak surfa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02" y="1381947"/>
            <a:ext cx="7766090" cy="4368426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786949"/>
            <a:ext cx="11094415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 i="1">
                <a:solidFill>
                  <a:schemeClr val="tx1">
                    <a:lumMod val="55000"/>
                    <a:lumOff val="45000"/>
                  </a:schemeClr>
                </a:solidFill>
              </a:rPr>
              <a:t>Contour plots have no native PowerPoint form, so they come in as images.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SVG figures and figure rows</a:t>
            </a:r>
          </a:p>
        </p:txBody>
      </p:sp>
      <p:pic>
        <p:nvPicPr>
          <p:cNvPr id="3" name="contour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7433"/>
            <a:ext cx="6954122" cy="3911693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434340" y="5375703"/>
            <a:ext cx="7182722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>
                <a:solidFill>
                  <a:schemeClr val="tx1">
                    <a:lumMod val="55000"/>
                    <a:lumOff val="45000"/>
                  </a:schemeClr>
                </a:solidFill>
              </a:rPr>
              <a:t>(a) PNG from any tool</a:t>
            </a:r>
          </a:p>
        </p:txBody>
      </p:sp>
      <p:pic>
        <p:nvPicPr>
          <p:cNvPr id="5" name="attention.svg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1362" y="1427433"/>
            <a:ext cx="3911693" cy="3911693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7617062" y="5375703"/>
            <a:ext cx="4140293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>
                <a:solidFill>
                  <a:schemeClr val="tx1">
                    <a:lumMod val="55000"/>
                    <a:lumOff val="45000"/>
                  </a:schemeClr>
                </a:solidFill>
              </a:rPr>
              <a:t>(b) SVG: stays sharp at any size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548640" y="5741463"/>
            <a:ext cx="11094415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 i="1">
                <a:solidFill>
                  <a:schemeClr val="tx1">
                    <a:lumMod val="55000"/>
                    <a:lumOff val="45000"/>
                  </a:schemeClr>
                </a:solidFill>
              </a:rPr>
              <a:t>Figures in a row share one height and keep their aspect ratio.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Key numbers</a:t>
            </a:r>
          </a:p>
        </p:txBody>
      </p:sp>
      <p:sp>
        <p:nvSpPr>
          <p:cNvPr id="3" name="Stat: +4.2"/>
          <p:cNvSpPr txBox="1"/>
          <p:nvPr/>
        </p:nvSpPr>
        <p:spPr>
          <a:xfrm>
            <a:off x="548640" y="2709164"/>
            <a:ext cx="3515258" cy="130454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3960" b="1">
                <a:solidFill>
                  <a:schemeClr val="accent1"/>
                </a:solidFill>
              </a:rPr>
              <a:t>+4.2</a:t>
            </a:r>
          </a:p>
          <a:p>
            <a:pPr marL="0" indent="0" algn="ctr">
              <a:buNone/>
            </a:pPr>
            <a:r>
              <a:rPr sz="1760">
                <a:solidFill>
                  <a:schemeClr val="tx1">
                    <a:lumMod val="55000"/>
                    <a:lumOff val="45000"/>
                  </a:schemeClr>
                </a:solidFill>
              </a:rPr>
              <a:t>accuracy points over the baseline</a:t>
            </a:r>
          </a:p>
        </p:txBody>
      </p:sp>
      <p:sp>
        <p:nvSpPr>
          <p:cNvPr id="4" name="Stat: 3×"/>
          <p:cNvSpPr txBox="1"/>
          <p:nvPr/>
        </p:nvSpPr>
        <p:spPr>
          <a:xfrm>
            <a:off x="4338218" y="2709164"/>
            <a:ext cx="3515258" cy="130454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3960" b="1">
                <a:solidFill>
                  <a:schemeClr val="accent1"/>
                </a:solidFill>
              </a:rPr>
              <a:t>3×</a:t>
            </a:r>
          </a:p>
          <a:p>
            <a:pPr marL="0" indent="0" algn="ctr">
              <a:buNone/>
            </a:pPr>
            <a:r>
              <a:rPr sz="1760">
                <a:solidFill>
                  <a:schemeClr val="tx1">
                    <a:lumMod val="55000"/>
                    <a:lumOff val="45000"/>
                  </a:schemeClr>
                </a:solidFill>
              </a:rPr>
              <a:t>faster to rebuild than to edit by hand</a:t>
            </a:r>
          </a:p>
        </p:txBody>
      </p:sp>
      <p:sp>
        <p:nvSpPr>
          <p:cNvPr id="5" name="Stat: 0"/>
          <p:cNvSpPr txBox="1"/>
          <p:nvPr/>
        </p:nvSpPr>
        <p:spPr>
          <a:xfrm>
            <a:off x="8127797" y="2709164"/>
            <a:ext cx="3515258" cy="130454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3960" b="1">
                <a:solidFill>
                  <a:schemeClr val="accent2"/>
                </a:solidFill>
              </a:rPr>
              <a:t>0</a:t>
            </a:r>
          </a:p>
          <a:p>
            <a:pPr marL="0" indent="0" algn="ctr">
              <a:buNone/>
            </a:pPr>
            <a:r>
              <a:rPr sz="1760">
                <a:solidFill>
                  <a:schemeClr val="tx1">
                    <a:lumMod val="55000"/>
                    <a:lumOff val="45000"/>
                  </a:schemeClr>
                </a:solidFill>
              </a:rPr>
              <a:t>formatting steps by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42308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>
                <a:solidFill>
                  <a:schemeClr val="tx1">
                    <a:lumMod val="55000"/>
                    <a:lumOff val="45000"/>
                  </a:schemeClr>
                </a:solidFill>
              </a:rPr>
              <a:t>One number per click, like the bullets of a Beamer </a:t>
            </a:r>
            <a:r>
              <a:rPr sz="2200">
                <a:solidFill>
                  <a:schemeClr val="tx1">
                    <a:lumMod val="55000"/>
                    <a:lumOff val="45000"/>
                  </a:schemeClr>
                </a:solidFill>
                <a:latin typeface="Courier New"/>
              </a:rPr>
              <a:t>\pause</a:t>
            </a:r>
            <a:r>
              <a:rPr sz="2200">
                <a:solidFill>
                  <a:schemeClr val="tx1">
                    <a:lumMod val="55000"/>
                    <a:lumOff val="45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Code listings</a:t>
            </a:r>
          </a:p>
        </p:txBody>
      </p:sp>
      <p:sp>
        <p:nvSpPr>
          <p:cNvPr id="3" name="Code"/>
          <p:cNvSpPr/>
          <p:nvPr/>
        </p:nvSpPr>
        <p:spPr>
          <a:xfrm>
            <a:off x="548640" y="2310181"/>
            <a:ext cx="11094415" cy="1228750"/>
          </a:xfrm>
          <a:prstGeom prst="roundRect">
            <a:avLst>
              <a:gd name="adj" fmla="val 4465"/>
            </a:avLst>
          </a:prstGeom>
          <a:solidFill>
            <a:schemeClr val="tx1">
              <a:lumMod val="5000"/>
              <a:lumOff val="95000"/>
            </a:schemeClr>
          </a:solidFill>
          <a:ln>
            <a:noFill/>
          </a:ln>
        </p:spPr>
        <p:txBody>
          <a:bodyPr rtlCol="0" anchor="ctr" wrap="square" lIns="182880" rIns="182880" tIns="91440" bIns="91440"/>
          <a:lstStyle/>
          <a:p>
            <a:pPr algn="l"/>
            <a:r>
              <a:rPr sz="1540">
                <a:solidFill>
                  <a:schemeClr val="tx1"/>
                </a:solidFill>
                <a:latin typeface="Courier New"/>
              </a:rPr>
              <a:t xml:space="preserve">from ppt_templated import build_deck</a:t>
            </a:r>
          </a:p>
          <a:p>
            <a:pPr algn="l"/>
            <a:r>
              <a:rPr sz="1540">
                <a:solidFill>
                  <a:schemeClr val="tx1"/>
                </a:solidFill>
                <a:latin typeface="Courier New"/>
              </a:rPr>
              <a:t xml:space="preserve"> </a:t>
            </a:r>
          </a:p>
          <a:p>
            <a:pPr algn="l"/>
            <a:r>
              <a:rPr sz="1540">
                <a:solidFill>
                  <a:schemeClr val="tx1"/>
                </a:solidFill>
                <a:latin typeface="Courier New"/>
              </a:rPr>
              <a:t xml:space="preserve"># content.yaml + template -&gt; editable deck</a:t>
            </a:r>
          </a:p>
          <a:p>
            <a:pPr algn="l"/>
            <a:r>
              <a:rPr sz="1540">
                <a:solidFill>
                  <a:schemeClr val="tx1"/>
                </a:solidFill>
                <a:latin typeface="Courier New"/>
              </a:rPr>
              <a:t xml:space="preserve">build_deck("talk.yaml", "talk.pptx")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67531"/>
            <a:ext cx="11094415" cy="142036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AutoNum type="arabicPeriod"/>
            </a:pPr>
            <a:r>
              <a:rPr sz="2200"/>
              <a:t>Write or edit the YAML file</a:t>
            </a:r>
          </a:p>
          <a:p>
            <a:pPr>
              <a:buAutoNum type="arabicPeriod"/>
            </a:pPr>
            <a:r>
              <a:rPr sz="2200"/>
              <a:t>Run </a:t>
            </a:r>
            <a:r>
              <a:rPr sz="2200">
                <a:latin typeface="Courier New"/>
              </a:rPr>
              <a:t>python ppt_templated.py talk.yaml</a:t>
            </a:r>
          </a:p>
          <a:p>
            <a:pPr>
              <a:buAutoNum type="arabicPeriod"/>
            </a:pPr>
            <a:r>
              <a:rPr sz="2200"/>
              <a:t>Open the .pptx and edit freely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Diagrams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Flowcharts and workflows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Flowchart from nodes and edges</a:t>
            </a:r>
          </a:p>
        </p:txBody>
      </p:sp>
      <p:grpSp>
        <p:nvGrpSpPr>
          <p:cNvPr id="16" name="Flow: Raw data" descr="Flowchart: Raw data, Clean + normalize, Quality OK?, Train model xxxx, Model registry"/>
          <p:cNvGrpSpPr/>
          <p:nvPr/>
        </p:nvGrpSpPr>
        <p:grpSpPr>
          <a:xfrm>
            <a:off x="567613" y="2631243"/>
            <a:ext cx="11056468" cy="2349863"/>
            <a:chOff x="567613" y="2631243"/>
            <a:chExt cx="11056468" cy="2349863"/>
          </a:xfrm>
        </p:grpSpPr>
        <p:sp>
          <p:nvSpPr>
            <p:cNvPr id="3" name="Group: Preprocessing"/>
            <p:cNvSpPr/>
            <p:nvPr/>
          </p:nvSpPr>
          <p:spPr>
            <a:xfrm>
              <a:off x="2596509" y="2670613"/>
              <a:ext cx="4365793" cy="1396447"/>
            </a:xfrm>
            <a:prstGeom prst="roundRect">
              <a:avLst>
                <a:gd name="adj" fmla="val 6793"/>
              </a:avLst>
            </a:prstGeom>
            <a:solidFill>
              <a:schemeClr val="tx1">
                <a:lumMod val="6000"/>
                <a:lumOff val="94000"/>
              </a:schemeClr>
            </a:solidFill>
            <a:ln w="12700">
              <a:solidFill>
                <a:schemeClr val="tx1">
                  <a:lumMod val="55000"/>
                  <a:lumOff val="45000"/>
                </a:schemeClr>
              </a:solidFill>
              <a:prstDash val="dash"/>
            </a:ln>
          </p:spPr>
          <p:txBody>
            <a:bodyPr rtlCol="0" anchor="t" wrap="square" lIns="68304" rIns="68304" tIns="22768" bIns="9487">
              <a:noAutofit/>
            </a:bodyPr>
            <a:lstStyle/>
            <a:p>
              <a:pPr algn="l" marL="0" indent="0">
                <a:buNone/>
              </a:pPr>
              <a:r>
                <a:rPr sz="1200" b="1">
                  <a:solidFill>
                    <a:schemeClr val="tx1">
                      <a:lumMod val="55000"/>
                      <a:lumOff val="45000"/>
                    </a:schemeClr>
                  </a:solidFill>
                </a:rPr>
                <a:t>Preprocessing</a:t>
              </a:r>
            </a:p>
          </p:txBody>
        </p:sp>
        <p:cxnSp>
          <p:nvCxnSpPr>
            <p:cNvPr id="9" name="Arrow: raw -&gt; clean"/>
            <p:cNvCxnSpPr>
              <a:stCxn id="4" idx="5"/>
              <a:endCxn id="5" idx="1"/>
            </p:cNvCxnSpPr>
            <p:nvPr/>
          </p:nvCxnSpPr>
          <p:spPr>
            <a:xfrm>
              <a:off x="1990623" y="3478882"/>
              <a:ext cx="719727" cy="0"/>
            </a:xfrm>
            <a:prstGeom prst="straightConnector1">
              <a:avLst/>
            </a:prstGeom>
            <a:ln w="15875">
              <a:solidFill>
                <a:schemeClr val="tx1">
                  <a:lumMod val="70000"/>
                  <a:lumOff val="30000"/>
                </a:schemeClr>
              </a:solidFill>
              <a:tailEnd type="triangle" w="med" len="med"/>
            </a:ln>
          </p:spPr>
        </p:cxnSp>
        <p:cxnSp>
          <p:nvCxnSpPr>
            <p:cNvPr id="10" name="Arrow: clean -&gt; ok"/>
            <p:cNvCxnSpPr>
              <a:stCxn id="5" idx="3"/>
              <a:endCxn id="6" idx="1"/>
            </p:cNvCxnSpPr>
            <p:nvPr/>
          </p:nvCxnSpPr>
          <p:spPr>
            <a:xfrm>
              <a:off x="4712050" y="3478882"/>
              <a:ext cx="561614" cy="0"/>
            </a:xfrm>
            <a:prstGeom prst="straightConnector1">
              <a:avLst/>
            </a:prstGeom>
            <a:ln w="15875">
              <a:solidFill>
                <a:schemeClr val="tx1">
                  <a:lumMod val="70000"/>
                  <a:lumOff val="30000"/>
                </a:schemeClr>
              </a:solidFill>
              <a:tailEnd type="triangle" w="med" len="med"/>
            </a:ln>
          </p:spPr>
        </p:cxnSp>
        <p:cxnSp>
          <p:nvCxnSpPr>
            <p:cNvPr id="11" name="Arrow: ok -&gt; model"/>
            <p:cNvCxnSpPr>
              <a:stCxn id="6" idx="3"/>
              <a:endCxn id="7" idx="1"/>
            </p:cNvCxnSpPr>
            <p:nvPr/>
          </p:nvCxnSpPr>
          <p:spPr>
            <a:xfrm>
              <a:off x="6848461" y="3478882"/>
              <a:ext cx="561615" cy="0"/>
            </a:xfrm>
            <a:prstGeom prst="straightConnector1">
              <a:avLst/>
            </a:prstGeom>
            <a:ln w="15875">
              <a:solidFill>
                <a:schemeClr val="tx1">
                  <a:lumMod val="70000"/>
                  <a:lumOff val="30000"/>
                </a:schemeClr>
              </a:solidFill>
              <a:tailEnd type="triangle" w="med" len="med"/>
            </a:ln>
          </p:spPr>
        </p:cxnSp>
        <p:cxnSp>
          <p:nvCxnSpPr>
            <p:cNvPr id="13" name="Arrow: ok -&gt; clean"/>
            <p:cNvCxnSpPr>
              <a:stCxn id="6" idx="2"/>
              <a:endCxn id="5" idx="2"/>
            </p:cNvCxnSpPr>
            <p:nvPr/>
          </p:nvCxnSpPr>
          <p:spPr>
            <a:xfrm flipH="1" rot="5400000">
              <a:off x="4739087" y="2631243"/>
              <a:ext cx="294089" cy="2349863"/>
            </a:xfrm>
            <a:prstGeom prst="bentConnector3">
              <a:avLst>
                <a:gd name="adj1" fmla="val -103226"/>
              </a:avLst>
            </a:prstGeom>
            <a:ln w="15875">
              <a:solidFill>
                <a:schemeClr val="tx1">
                  <a:lumMod val="70000"/>
                  <a:lumOff val="30000"/>
                </a:schemeClr>
              </a:solidFill>
              <a:tailEnd type="triangle" w="med" len="med"/>
            </a:ln>
          </p:spPr>
        </p:cxnSp>
        <p:cxnSp>
          <p:nvCxnSpPr>
            <p:cNvPr id="15" name="Arrow: model -&gt; store"/>
            <p:cNvCxnSpPr>
              <a:stCxn id="7" idx="3"/>
              <a:endCxn id="8" idx="2"/>
            </p:cNvCxnSpPr>
            <p:nvPr/>
          </p:nvCxnSpPr>
          <p:spPr>
            <a:xfrm>
              <a:off x="9411776" y="3478882"/>
              <a:ext cx="561614" cy="0"/>
            </a:xfrm>
            <a:prstGeom prst="straightConnector1">
              <a:avLst/>
            </a:prstGeom>
            <a:ln w="15875">
              <a:solidFill>
                <a:schemeClr val="tx1">
                  <a:lumMod val="70000"/>
                  <a:lumOff val="30000"/>
                </a:schemeClr>
              </a:solidFill>
              <a:tailEnd type="triangle" w="med" len="med"/>
            </a:ln>
          </p:spPr>
        </p:cxnSp>
        <p:sp>
          <p:nvSpPr>
            <p:cNvPr id="4" name="Node: Raw data"/>
            <p:cNvSpPr/>
            <p:nvPr/>
          </p:nvSpPr>
          <p:spPr>
            <a:xfrm>
              <a:off x="567613" y="3308121"/>
              <a:ext cx="1581122" cy="341522"/>
            </a:xfrm>
            <a:prstGeom prst="flowChartInputOutput">
              <a:avLst/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56920" rIns="56920" tIns="56920" bIns="56920">
              <a:noAutofit/>
            </a:bodyPr>
            <a:lstStyle/>
            <a:p>
              <a:pPr algn="ctr" marL="0" indent="0">
                <a:buNone/>
              </a:pPr>
              <a:r>
                <a:rPr sz="1490">
                  <a:solidFill>
                    <a:schemeClr val="tx1"/>
                  </a:solidFill>
                </a:rPr>
                <a:t>Raw data</a:t>
              </a:r>
            </a:p>
          </p:txBody>
        </p:sp>
        <p:sp>
          <p:nvSpPr>
            <p:cNvPr id="5" name="Node: Clean + normalize"/>
            <p:cNvSpPr/>
            <p:nvPr/>
          </p:nvSpPr>
          <p:spPr>
            <a:xfrm>
              <a:off x="2710350" y="3298634"/>
              <a:ext cx="2001700" cy="360496"/>
            </a:xfrm>
            <a:prstGeom prst="roundRect">
              <a:avLst>
                <a:gd name="adj" fmla="val 15789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13841" rIns="113841" tIns="66407" bIns="66407">
              <a:noAutofit/>
            </a:bodyPr>
            <a:lstStyle/>
            <a:p>
              <a:pPr algn="ctr" marL="0" indent="0">
                <a:buNone/>
              </a:pPr>
              <a:r>
                <a:rPr sz="1490">
                  <a:solidFill>
                    <a:schemeClr val="tx1"/>
                  </a:solidFill>
                </a:rPr>
                <a:t>Clean + </a:t>
              </a:r>
              <a:r>
                <a:rPr sz="1490" b="1">
                  <a:solidFill>
                    <a:schemeClr val="tx1"/>
                  </a:solidFill>
                </a:rPr>
                <a:t>normalize</a:t>
              </a:r>
            </a:p>
          </p:txBody>
        </p:sp>
        <p:sp>
          <p:nvSpPr>
            <p:cNvPr id="6" name="Node: Quality OK?"/>
            <p:cNvSpPr/>
            <p:nvPr/>
          </p:nvSpPr>
          <p:spPr>
            <a:xfrm>
              <a:off x="5273664" y="3004546"/>
              <a:ext cx="1574797" cy="948673"/>
            </a:xfrm>
            <a:prstGeom prst="flowChartDecision">
              <a:avLst/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28460" rIns="28460" tIns="9487" bIns="9487">
              <a:noAutofit/>
            </a:bodyPr>
            <a:lstStyle/>
            <a:p>
              <a:pPr algn="ctr" marL="0" indent="0">
                <a:buNone/>
              </a:pPr>
              <a:r>
                <a:rPr sz="1490">
                  <a:solidFill>
                    <a:schemeClr val="tx1"/>
                  </a:solidFill>
                </a:rPr>
                <a:t>Quality OK?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Node: Train model xxxx"/>
                <p:cNvSpPr/>
                <p:nvPr/>
              </p:nvSpPr>
              <p:spPr>
                <a:xfrm>
                  <a:off x="7410076" y="3298634"/>
                  <a:ext cx="2001700" cy="360496"/>
                </a:xfrm>
                <a:prstGeom prst="roundRect">
                  <a:avLst>
                    <a:gd name="adj" fmla="val 15789"/>
                  </a:avLst>
                </a:prstGeom>
                <a:solidFill>
                  <a:schemeClr val="accent2">
                    <a:lumMod val="15000"/>
                    <a:lumOff val="85000"/>
                  </a:schemeClr>
                </a:solidFill>
                <a:ln w="15875">
                  <a:solidFill>
                    <a:schemeClr val="accent2"/>
                  </a:solidFill>
                </a:ln>
              </p:spPr>
              <p:txBody>
                <a:bodyPr rtlCol="0" anchor="ctr" wrap="square" lIns="113841" rIns="113841" tIns="66407" bIns="66407">
                  <a:noAutofit/>
                </a:bodyPr>
                <a:lstStyle/>
                <a:p>
                  <a:pPr algn="ctr" marL="0" indent="0">
                    <a:buNone/>
                  </a:pPr>
                  <a:r>
                    <a:rPr sz="1490">
                      <a:solidFill>
                        <a:schemeClr val="tx1"/>
                      </a:solidFill>
                    </a:rPr>
                    <a:t>Train model </a:t>
                  </a:r>
                  <a14:m>
                    <m:oMath xmlns:m="http://schemas.openxmlformats.org/officeDocument/2006/math">
                      <m:sSub>
                        <m:e>
                          <m:r>
                            <a:rPr lang="en-US" sz="149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149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θ</m:t>
                          </m:r>
                        </m:sub>
                      </m:sSub>
                    </m:oMath>
                  </a14:m>
                </a:p>
              </p:txBody>
            </p:sp>
          </mc:Choice>
          <mc:Fallback>
            <p:sp>
              <p:nvSpPr>
                <p:cNvPr id="7" name="Node: Train model xxxx"/>
                <p:cNvSpPr/>
                <p:nvPr/>
              </p:nvSpPr>
              <p:spPr>
                <a:xfrm>
                  <a:off x="7410076" y="3298634"/>
                  <a:ext cx="2001700" cy="360496"/>
                </a:xfrm>
                <a:prstGeom prst="roundRect">
                  <a:avLst>
                    <a:gd name="adj" fmla="val 15789"/>
                  </a:avLst>
                </a:prstGeom>
                <a:solidFill>
                  <a:schemeClr val="accent2">
                    <a:lumMod val="15000"/>
                    <a:lumOff val="85000"/>
                  </a:schemeClr>
                </a:solidFill>
                <a:ln w="15875">
                  <a:solidFill>
                    <a:schemeClr val="accent2"/>
                  </a:solidFill>
                </a:ln>
              </p:spPr>
              <p:txBody>
                <a:bodyPr rtlCol="0" anchor="ctr" wrap="square" lIns="113841" rIns="113841" tIns="66407" bIns="66407">
                  <a:noAutofit/>
                </a:bodyPr>
                <a:lstStyle/>
                <a:p>
                  <a:pPr algn="ctr" marL="0" indent="0">
                    <a:buNone/>
                  </a:pPr>
                  <a:r>
                    <a:rPr sz="1490">
                      <a:solidFill>
                        <a:schemeClr val="tx1"/>
                      </a:solidFill>
                    </a:rPr>
                    <a:t>Train model </a:t>
                  </a:r>
                  <a:r>
                    <a:rPr sz="1490" i="1">
                      <a:solidFill>
                        <a:schemeClr val="tx1"/>
                      </a:solidFill>
                    </a:rPr>
                    <a:t>f_θ</a:t>
                  </a:r>
                </a:p>
              </p:txBody>
            </p:sp>
          </mc:Fallback>
        </mc:AlternateContent>
        <p:sp>
          <p:nvSpPr>
            <p:cNvPr id="8" name="Node: Model registry"/>
            <p:cNvSpPr/>
            <p:nvPr/>
          </p:nvSpPr>
          <p:spPr>
            <a:xfrm>
              <a:off x="9973390" y="3213254"/>
              <a:ext cx="1650691" cy="531257"/>
            </a:xfrm>
            <a:prstGeom prst="flowChartMagneticDisk">
              <a:avLst/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94867" rIns="94867" tIns="18973" bIns="18973">
              <a:noAutofit/>
            </a:bodyPr>
            <a:lstStyle/>
            <a:p>
              <a:pPr algn="ctr" marL="0" indent="0">
                <a:buNone/>
              </a:pPr>
              <a:r>
                <a:rPr sz="1490">
                  <a:solidFill>
                    <a:schemeClr val="tx1"/>
                  </a:solidFill>
                </a:rPr>
                <a:t>Model registry</a:t>
              </a:r>
            </a:p>
          </p:txBody>
        </p:sp>
        <p:sp>
          <p:nvSpPr>
            <p:cNvPr id="12" name="Label: yes"/>
            <p:cNvSpPr txBox="1"/>
            <p:nvPr/>
          </p:nvSpPr>
          <p:spPr>
            <a:xfrm>
              <a:off x="7004044" y="3273969"/>
              <a:ext cx="250450" cy="18214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marL="0" indent="0" algn="ctr">
                <a:buNone/>
              </a:pPr>
              <a:r>
                <a:rPr sz="1200">
                  <a:solidFill>
                    <a:schemeClr val="tx1">
                      <a:lumMod val="70000"/>
                      <a:lumOff val="30000"/>
                    </a:schemeClr>
                  </a:solidFill>
                </a:rPr>
                <a:t>yes</a:t>
              </a:r>
            </a:p>
          </p:txBody>
        </p:sp>
        <p:sp>
          <p:nvSpPr>
            <p:cNvPr id="14" name="Label: no"/>
            <p:cNvSpPr txBox="1"/>
            <p:nvPr/>
          </p:nvSpPr>
          <p:spPr>
            <a:xfrm>
              <a:off x="4802648" y="4279562"/>
              <a:ext cx="166966" cy="18214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marL="0" indent="0" algn="ctr">
                <a:buNone/>
              </a:pPr>
              <a:r>
                <a:rPr sz="1200">
                  <a:solidFill>
                    <a:schemeClr val="tx1">
                      <a:lumMod val="70000"/>
                      <a:lumOff val="30000"/>
                    </a:schemeClr>
                  </a:solidFill>
                </a:rPr>
                <a:t>no</a:t>
              </a:r>
            </a:p>
          </p:txBody>
        </p:sp>
      </p:grpSp>
      <p:sp>
        <p:nvSpPr>
          <p:cNvPr id="17" name="Caption"/>
          <p:cNvSpPr txBox="1"/>
          <p:nvPr/>
        </p:nvSpPr>
        <p:spPr>
          <a:xfrm>
            <a:off x="548640" y="4517257"/>
            <a:ext cx="11094415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 i="1">
                <a:solidFill>
                  <a:schemeClr val="tx1">
                    <a:lumMod val="55000"/>
                    <a:lumOff val="45000"/>
                  </a:schemeClr>
                </a:solidFill>
              </a:rPr>
              <a:t>Native shapes and connectors: drag a box in PowerPoint and its arrows follow.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Top-down flow, revealed step by step</a:t>
            </a:r>
          </a:p>
        </p:txBody>
      </p:sp>
      <p:cxnSp>
        <p:nvCxnSpPr>
          <p:cNvPr id="8" name="Arrow: s -&gt; read"/>
          <p:cNvCxnSpPr>
            <a:stCxn id="3" idx="2"/>
            <a:endCxn id="4" idx="1"/>
          </p:cNvCxnSpPr>
          <p:nvPr/>
        </p:nvCxnSpPr>
        <p:spPr>
          <a:xfrm>
            <a:off x="2249774" y="2357029"/>
            <a:ext cx="0" cy="482803"/>
          </a:xfrm>
          <a:prstGeom prst="straightConnector1">
            <a:avLst/>
          </a:prstGeom>
          <a:ln w="15875">
            <a:solidFill>
              <a:schemeClr val="tx1">
                <a:lumMod val="70000"/>
                <a:lumOff val="30000"/>
              </a:schemeClr>
            </a:solidFill>
            <a:tailEnd type="triangle" w="med" len="med"/>
          </a:ln>
        </p:spPr>
      </p:cxnSp>
      <p:cxnSp>
        <p:nvCxnSpPr>
          <p:cNvPr id="9" name="Arrow: read -&gt; more"/>
          <p:cNvCxnSpPr>
            <a:stCxn id="4" idx="4"/>
            <a:endCxn id="5" idx="0"/>
          </p:cNvCxnSpPr>
          <p:nvPr/>
        </p:nvCxnSpPr>
        <p:spPr>
          <a:xfrm>
            <a:off x="2249774" y="3201935"/>
            <a:ext cx="0" cy="482803"/>
          </a:xfrm>
          <a:prstGeom prst="straightConnector1">
            <a:avLst/>
          </a:prstGeom>
          <a:ln w="15875">
            <a:solidFill>
              <a:schemeClr val="tx1">
                <a:lumMod val="70000"/>
                <a:lumOff val="30000"/>
              </a:schemeClr>
            </a:solidFill>
            <a:tailEnd type="triangle" w="med" len="med"/>
          </a:ln>
        </p:spPr>
      </p:cxnSp>
      <p:cxnSp>
        <p:nvCxnSpPr>
          <p:cNvPr id="10" name="Arrow: more -&gt; step"/>
          <p:cNvCxnSpPr>
            <a:stCxn id="5" idx="2"/>
            <a:endCxn id="6" idx="0"/>
          </p:cNvCxnSpPr>
          <p:nvPr/>
        </p:nvCxnSpPr>
        <p:spPr>
          <a:xfrm>
            <a:off x="2249774" y="4690578"/>
            <a:ext cx="0" cy="505435"/>
          </a:xfrm>
          <a:prstGeom prst="straightConnector1">
            <a:avLst/>
          </a:prstGeom>
          <a:ln w="15875">
            <a:solidFill>
              <a:schemeClr val="tx1">
                <a:lumMod val="70000"/>
                <a:lumOff val="30000"/>
              </a:schemeClr>
            </a:solidFill>
            <a:tailEnd type="triangle" w="med" len="med"/>
          </a:ln>
        </p:spPr>
      </p:cxnSp>
      <p:cxnSp>
        <p:nvCxnSpPr>
          <p:cNvPr id="12" name="Arrow: more -&gt; save"/>
          <p:cNvCxnSpPr>
            <a:stCxn id="5" idx="3"/>
            <a:endCxn id="7" idx="0"/>
          </p:cNvCxnSpPr>
          <p:nvPr/>
        </p:nvCxnSpPr>
        <p:spPr>
          <a:xfrm>
            <a:off x="2863337" y="4187658"/>
            <a:ext cx="1858122" cy="985723"/>
          </a:xfrm>
          <a:prstGeom prst="bentConnector2">
            <a:avLst/>
          </a:prstGeom>
          <a:ln w="15875">
            <a:solidFill>
              <a:schemeClr val="tx1">
                <a:lumMod val="70000"/>
                <a:lumOff val="30000"/>
              </a:schemeClr>
            </a:solidFill>
            <a:tailEnd type="triangle" w="med" len="med"/>
          </a:ln>
        </p:spPr>
      </p:cxnSp>
      <p:cxnSp>
        <p:nvCxnSpPr>
          <p:cNvPr id="14" name="Arrow: step -&gt; read"/>
          <p:cNvCxnSpPr>
            <a:stCxn id="6" idx="1"/>
            <a:endCxn id="4" idx="2"/>
          </p:cNvCxnSpPr>
          <p:nvPr/>
        </p:nvCxnSpPr>
        <p:spPr>
          <a:xfrm flipV="1">
            <a:off x="1409898" y="3020884"/>
            <a:ext cx="21793" cy="2366238"/>
          </a:xfrm>
          <a:prstGeom prst="bentConnector3">
            <a:avLst>
              <a:gd name="adj1" fmla="val -1761556"/>
            </a:avLst>
          </a:prstGeom>
          <a:ln w="15875">
            <a:solidFill>
              <a:schemeClr val="tx1">
                <a:lumMod val="70000"/>
                <a:lumOff val="30000"/>
              </a:schemeClr>
            </a:solidFill>
            <a:tailEnd type="triangle" w="med" len="med"/>
          </a:ln>
        </p:spPr>
      </p:cxnSp>
      <p:sp>
        <p:nvSpPr>
          <p:cNvPr id="3" name="Node: Start"/>
          <p:cNvSpPr/>
          <p:nvPr/>
        </p:nvSpPr>
        <p:spPr>
          <a:xfrm>
            <a:off x="1841850" y="1897217"/>
            <a:ext cx="815848" cy="459813"/>
          </a:xfrm>
          <a:prstGeom prst="flowChartTerminator">
            <a:avLst/>
          </a:prstGeom>
          <a:solidFill>
            <a:schemeClr val="accent1">
              <a:lumMod val="15000"/>
              <a:lumOff val="8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 wrap="square" lIns="90526" rIns="90526" tIns="40234" bIns="40234">
            <a:noAutofit/>
          </a:bodyPr>
          <a:lstStyle/>
          <a:p>
            <a:pPr algn="ctr" marL="0" indent="0">
              <a:buNone/>
            </a:pPr>
            <a:r>
              <a:rPr sz="158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4" name="Node: Read batch"/>
          <p:cNvSpPr/>
          <p:nvPr/>
        </p:nvSpPr>
        <p:spPr>
          <a:xfrm>
            <a:off x="1227170" y="2839832"/>
            <a:ext cx="2045208" cy="362102"/>
          </a:xfrm>
          <a:prstGeom prst="flowChartInputOutput">
            <a:avLst/>
          </a:prstGeom>
          <a:solidFill>
            <a:schemeClr val="accent1">
              <a:lumMod val="15000"/>
              <a:lumOff val="8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 wrap="square" lIns="60350" rIns="60350" tIns="60350" bIns="60350">
            <a:noAutofit/>
          </a:bodyPr>
          <a:lstStyle/>
          <a:p>
            <a:pPr algn="ctr" marL="0" indent="0">
              <a:buNone/>
            </a:pPr>
            <a:r>
              <a:rPr sz="1580">
                <a:solidFill>
                  <a:schemeClr val="tx1"/>
                </a:solidFill>
              </a:rPr>
              <a:t>Read batch</a:t>
            </a:r>
          </a:p>
        </p:txBody>
      </p:sp>
      <p:sp>
        <p:nvSpPr>
          <p:cNvPr id="5" name="Node: More data?"/>
          <p:cNvSpPr/>
          <p:nvPr/>
        </p:nvSpPr>
        <p:spPr>
          <a:xfrm>
            <a:off x="1636212" y="3684738"/>
            <a:ext cx="1227125" cy="1005840"/>
          </a:xfrm>
          <a:prstGeom prst="flowChartDecision">
            <a:avLst/>
          </a:prstGeom>
          <a:solidFill>
            <a:schemeClr val="accent1">
              <a:lumMod val="15000"/>
              <a:lumOff val="8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 wrap="square" lIns="30175" rIns="30175" tIns="10058" bIns="10058">
            <a:noAutofit/>
          </a:bodyPr>
          <a:lstStyle/>
          <a:p>
            <a:pPr algn="ctr" marL="0" indent="0">
              <a:buNone/>
            </a:pPr>
            <a:r>
              <a:rPr sz="1580">
                <a:solidFill>
                  <a:schemeClr val="tx1"/>
                </a:solidFill>
              </a:rPr>
              <a:t>More data?</a:t>
            </a:r>
          </a:p>
        </p:txBody>
      </p:sp>
      <p:sp>
        <p:nvSpPr>
          <p:cNvPr id="6" name="Node: Gradient step"/>
          <p:cNvSpPr/>
          <p:nvPr/>
        </p:nvSpPr>
        <p:spPr>
          <a:xfrm>
            <a:off x="1409898" y="5196013"/>
            <a:ext cx="1679753" cy="382219"/>
          </a:xfrm>
          <a:prstGeom prst="roundRect">
            <a:avLst>
              <a:gd name="adj" fmla="val 15789"/>
            </a:avLst>
          </a:prstGeom>
          <a:solidFill>
            <a:schemeClr val="accent1">
              <a:lumMod val="15000"/>
              <a:lumOff val="8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 wrap="square" lIns="120701" rIns="120701" tIns="70409" bIns="70409">
            <a:noAutofit/>
          </a:bodyPr>
          <a:lstStyle/>
          <a:p>
            <a:pPr algn="ctr" marL="0" indent="0">
              <a:buNone/>
            </a:pPr>
            <a:r>
              <a:rPr sz="1580">
                <a:solidFill>
                  <a:schemeClr val="tx1"/>
                </a:solidFill>
              </a:rPr>
              <a:t>Gradient step</a:t>
            </a:r>
          </a:p>
        </p:txBody>
      </p:sp>
      <p:sp>
        <p:nvSpPr>
          <p:cNvPr id="7" name="Node: Save weights"/>
          <p:cNvSpPr/>
          <p:nvPr/>
        </p:nvSpPr>
        <p:spPr>
          <a:xfrm>
            <a:off x="3957020" y="5173381"/>
            <a:ext cx="1528877" cy="427482"/>
          </a:xfrm>
          <a:prstGeom prst="flowChartDocument">
            <a:avLst/>
          </a:prstGeom>
          <a:solidFill>
            <a:schemeClr val="accent1">
              <a:lumMod val="15000"/>
              <a:lumOff val="8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 wrap="square" lIns="100584" rIns="100584" tIns="50292" bIns="50292">
            <a:noAutofit/>
          </a:bodyPr>
          <a:lstStyle/>
          <a:p>
            <a:pPr algn="ctr" marL="0" indent="0">
              <a:buNone/>
            </a:pPr>
            <a:r>
              <a:rPr sz="1580">
                <a:solidFill>
                  <a:schemeClr val="tx1"/>
                </a:solidFill>
              </a:rPr>
              <a:t>Save weights</a:t>
            </a:r>
          </a:p>
        </p:txBody>
      </p:sp>
      <p:sp>
        <p:nvSpPr>
          <p:cNvPr id="11" name="Label: yes"/>
          <p:cNvSpPr txBox="1"/>
          <p:nvPr/>
        </p:nvSpPr>
        <p:spPr>
          <a:xfrm>
            <a:off x="2290008" y="4846735"/>
            <a:ext cx="265542" cy="19312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marL="0" indent="0" algn="ctr">
              <a:buNone/>
            </a:pPr>
            <a:r>
              <a:rPr sz="1270">
                <a:solidFill>
                  <a:schemeClr val="tx1">
                    <a:lumMod val="70000"/>
                    <a:lumOff val="30000"/>
                  </a:schemeClr>
                </a:solidFill>
              </a:rPr>
              <a:t>yes</a:t>
            </a:r>
          </a:p>
        </p:txBody>
      </p:sp>
      <p:sp>
        <p:nvSpPr>
          <p:cNvPr id="13" name="Label: no"/>
          <p:cNvSpPr txBox="1"/>
          <p:nvPr/>
        </p:nvSpPr>
        <p:spPr>
          <a:xfrm>
            <a:off x="2923687" y="3970397"/>
            <a:ext cx="177028" cy="19312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marL="0" indent="0" algn="ctr">
              <a:buNone/>
            </a:pPr>
            <a:r>
              <a:rPr sz="1270">
                <a:solidFill>
                  <a:schemeClr val="tx1">
                    <a:lumMod val="70000"/>
                    <a:lumOff val="30000"/>
                  </a:schemeClr>
                </a:solidFill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71216"/>
            <a:ext cx="5364327" cy="175564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2200">
                <a:latin typeface="Courier New"/>
              </a:rPr>
              <a:t>direction: down</a:t>
            </a:r>
            <a:r>
              <a:rPr sz="2200"/>
              <a:t> for classic flowcharts</a:t>
            </a:r>
          </a:p>
          <a:p>
            <a:pPr/>
            <a:r>
              <a:rPr sz="2200"/>
              <a:t>Shapes: </a:t>
            </a:r>
            <a:r>
              <a:rPr sz="2200">
                <a:latin typeface="Courier New"/>
              </a:rPr>
              <a:t>terminal</a:t>
            </a:r>
            <a:r>
              <a:rPr sz="2200"/>
              <a:t>, </a:t>
            </a:r>
            <a:r>
              <a:rPr sz="2200">
                <a:latin typeface="Courier New"/>
              </a:rPr>
              <a:t>data</a:t>
            </a:r>
            <a:r>
              <a:rPr sz="2200"/>
              <a:t>, </a:t>
            </a:r>
            <a:r>
              <a:rPr sz="2200">
                <a:latin typeface="Courier New"/>
              </a:rPr>
              <a:t>decision</a:t>
            </a:r>
            <a:r>
              <a:rPr sz="2200"/>
              <a:t>, </a:t>
            </a:r>
            <a:r>
              <a:rPr sz="2200">
                <a:latin typeface="Courier New"/>
              </a:rPr>
              <a:t>document</a:t>
            </a:r>
            <a:r>
              <a:rPr sz="2200"/>
              <a:t>, </a:t>
            </a:r>
            <a:r>
              <a:rPr sz="2200">
                <a:latin typeface="Courier New"/>
              </a:rPr>
              <a:t>database</a:t>
            </a:r>
            <a:r>
              <a:rPr sz="2200"/>
              <a:t>, ...</a:t>
            </a:r>
          </a:p>
          <a:p>
            <a:pPr/>
            <a:r>
              <a:rPr sz="2200">
                <a:latin typeface="Courier New"/>
              </a:rPr>
              <a:t>build: true</a:t>
            </a:r>
            <a:r>
              <a:rPr sz="2200"/>
              <a:t> reveals one step per click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1" grpId="0" animBg="1"/>
      <p:bldP spid="13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Workflow steps</a:t>
            </a:r>
          </a:p>
        </p:txBody>
      </p:sp>
      <p:grpSp>
        <p:nvGrpSpPr>
          <p:cNvPr id="8" name="Steps: Collect" descr="Steps: Collect, Clean, Train, Evaluate, Deploy"/>
          <p:cNvGrpSpPr/>
          <p:nvPr/>
        </p:nvGrpSpPr>
        <p:grpSpPr>
          <a:xfrm>
            <a:off x="2908341" y="3232404"/>
            <a:ext cx="6375014" cy="382219"/>
            <a:chOff x="2908341" y="3232404"/>
            <a:chExt cx="6375014" cy="382219"/>
          </a:xfrm>
        </p:grpSpPr>
        <p:sp>
          <p:nvSpPr>
            <p:cNvPr id="3" name="Step: Collect"/>
            <p:cNvSpPr/>
            <p:nvPr/>
          </p:nvSpPr>
          <p:spPr>
            <a:xfrm>
              <a:off x="2908341" y="3232404"/>
              <a:ext cx="1333744" cy="382219"/>
            </a:xfrm>
            <a:prstGeom prst="homePlate">
              <a:avLst>
                <a:gd name="adj" fmla="val 35000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90526" rIns="90526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>
                  <a:solidFill>
                    <a:schemeClr val="tx1"/>
                  </a:solidFill>
                </a:rPr>
                <a:t>Collect</a:t>
              </a:r>
            </a:p>
          </p:txBody>
        </p:sp>
        <p:sp>
          <p:nvSpPr>
            <p:cNvPr id="4" name="Step: Clean"/>
            <p:cNvSpPr/>
            <p:nvPr/>
          </p:nvSpPr>
          <p:spPr>
            <a:xfrm>
              <a:off x="4168658" y="3232404"/>
              <a:ext cx="1333744" cy="382219"/>
            </a:xfrm>
            <a:prstGeom prst="chevron">
              <a:avLst>
                <a:gd name="adj" fmla="val 35000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90526" rIns="90526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>
                  <a:solidFill>
                    <a:schemeClr val="tx1"/>
                  </a:solidFill>
                </a:rPr>
                <a:t>Clean</a:t>
              </a:r>
            </a:p>
          </p:txBody>
        </p:sp>
        <p:sp>
          <p:nvSpPr>
            <p:cNvPr id="5" name="Step: Train"/>
            <p:cNvSpPr/>
            <p:nvPr/>
          </p:nvSpPr>
          <p:spPr>
            <a:xfrm>
              <a:off x="5428976" y="3232404"/>
              <a:ext cx="1333744" cy="382219"/>
            </a:xfrm>
            <a:prstGeom prst="chevron">
              <a:avLst>
                <a:gd name="adj" fmla="val 35000"/>
              </a:avLst>
            </a:prstGeom>
            <a:solidFill>
              <a:schemeClr val="accen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90526" rIns="90526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 b="1">
                  <a:solidFill>
                    <a:schemeClr val="bg1"/>
                  </a:solidFill>
                </a:rPr>
                <a:t>Train</a:t>
              </a:r>
            </a:p>
          </p:txBody>
        </p:sp>
        <p:sp>
          <p:nvSpPr>
            <p:cNvPr id="6" name="Step: Evaluate"/>
            <p:cNvSpPr/>
            <p:nvPr/>
          </p:nvSpPr>
          <p:spPr>
            <a:xfrm>
              <a:off x="6689293" y="3232404"/>
              <a:ext cx="1333744" cy="382219"/>
            </a:xfrm>
            <a:prstGeom prst="chevron">
              <a:avLst>
                <a:gd name="adj" fmla="val 35000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90526" rIns="90526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>
                  <a:solidFill>
                    <a:schemeClr val="tx1"/>
                  </a:solidFill>
                </a:rPr>
                <a:t>Evaluate</a:t>
              </a:r>
            </a:p>
          </p:txBody>
        </p:sp>
        <p:sp>
          <p:nvSpPr>
            <p:cNvPr id="7" name="Step: Deploy"/>
            <p:cNvSpPr/>
            <p:nvPr/>
          </p:nvSpPr>
          <p:spPr>
            <a:xfrm>
              <a:off x="7949611" y="3232404"/>
              <a:ext cx="1333744" cy="382219"/>
            </a:xfrm>
            <a:prstGeom prst="chevron">
              <a:avLst>
                <a:gd name="adj" fmla="val 35000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90526" rIns="90526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>
                  <a:solidFill>
                    <a:schemeClr val="tx1"/>
                  </a:solidFill>
                </a:rPr>
                <a:t>Deploy</a:t>
              </a:r>
            </a:p>
          </p:txBody>
        </p:sp>
      </p:grpSp>
      <p:grpSp>
        <p:nvGrpSpPr>
          <p:cNvPr id="16" name="Steps: Plan" descr="Steps: Plan, Build, Measure, Learn"/>
          <p:cNvGrpSpPr/>
          <p:nvPr/>
        </p:nvGrpSpPr>
        <p:grpSpPr>
          <a:xfrm>
            <a:off x="3339846" y="3863340"/>
            <a:ext cx="5512003" cy="382219"/>
            <a:chOff x="3339846" y="3863340"/>
            <a:chExt cx="5512003" cy="382219"/>
          </a:xfrm>
        </p:grpSpPr>
        <p:cxnSp>
          <p:nvCxnSpPr>
            <p:cNvPr id="13" name="Arrow: step1 -&gt; step2"/>
            <p:cNvCxnSpPr>
              <a:stCxn id="9" idx="3"/>
              <a:endCxn id="10" idx="1"/>
            </p:cNvCxnSpPr>
            <p:nvPr/>
          </p:nvCxnSpPr>
          <p:spPr>
            <a:xfrm>
              <a:off x="4355744" y="4054450"/>
              <a:ext cx="482803" cy="0"/>
            </a:xfrm>
            <a:prstGeom prst="straightConnector1">
              <a:avLst/>
            </a:prstGeom>
            <a:ln w="15875">
              <a:solidFill>
                <a:schemeClr val="tx1">
                  <a:lumMod val="70000"/>
                  <a:lumOff val="30000"/>
                </a:schemeClr>
              </a:solidFill>
              <a:tailEnd type="triangle" w="med" len="med"/>
            </a:ln>
          </p:spPr>
        </p:cxnSp>
        <p:cxnSp>
          <p:nvCxnSpPr>
            <p:cNvPr id="14" name="Arrow: step2 -&gt; step3"/>
            <p:cNvCxnSpPr>
              <a:stCxn id="10" idx="3"/>
              <a:endCxn id="11" idx="1"/>
            </p:cNvCxnSpPr>
            <p:nvPr/>
          </p:nvCxnSpPr>
          <p:spPr>
            <a:xfrm>
              <a:off x="5854446" y="4054450"/>
              <a:ext cx="482803" cy="0"/>
            </a:xfrm>
            <a:prstGeom prst="straightConnector1">
              <a:avLst/>
            </a:prstGeom>
            <a:ln w="15875">
              <a:solidFill>
                <a:schemeClr val="tx1">
                  <a:lumMod val="70000"/>
                  <a:lumOff val="30000"/>
                </a:schemeClr>
              </a:solidFill>
              <a:tailEnd type="triangle" w="med" len="med"/>
            </a:ln>
          </p:spPr>
        </p:cxnSp>
        <p:cxnSp>
          <p:nvCxnSpPr>
            <p:cNvPr id="15" name="Arrow: step3 -&gt; step4"/>
            <p:cNvCxnSpPr>
              <a:stCxn id="11" idx="3"/>
              <a:endCxn id="12" idx="1"/>
            </p:cNvCxnSpPr>
            <p:nvPr/>
          </p:nvCxnSpPr>
          <p:spPr>
            <a:xfrm>
              <a:off x="7353148" y="4054450"/>
              <a:ext cx="482803" cy="0"/>
            </a:xfrm>
            <a:prstGeom prst="straightConnector1">
              <a:avLst/>
            </a:prstGeom>
            <a:ln w="15875">
              <a:solidFill>
                <a:schemeClr val="tx1">
                  <a:lumMod val="70000"/>
                  <a:lumOff val="30000"/>
                </a:schemeClr>
              </a:solidFill>
              <a:tailEnd type="triangle" w="med" len="med"/>
            </a:ln>
          </p:spPr>
        </p:cxnSp>
        <p:sp>
          <p:nvSpPr>
            <p:cNvPr id="9" name="Step: Plan"/>
            <p:cNvSpPr/>
            <p:nvPr/>
          </p:nvSpPr>
          <p:spPr>
            <a:xfrm>
              <a:off x="3339846" y="3863340"/>
              <a:ext cx="1015898" cy="382219"/>
            </a:xfrm>
            <a:prstGeom prst="roundRect">
              <a:avLst>
                <a:gd name="adj" fmla="val 15789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20701" rIns="120701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10" name="Step: Build"/>
            <p:cNvSpPr/>
            <p:nvPr/>
          </p:nvSpPr>
          <p:spPr>
            <a:xfrm>
              <a:off x="4838547" y="3863340"/>
              <a:ext cx="1015898" cy="382219"/>
            </a:xfrm>
            <a:prstGeom prst="roundRect">
              <a:avLst>
                <a:gd name="adj" fmla="val 15789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20701" rIns="120701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>
                  <a:solidFill>
                    <a:schemeClr val="tx1"/>
                  </a:solidFill>
                </a:rPr>
                <a:t>Build</a:t>
              </a:r>
            </a:p>
          </p:txBody>
        </p:sp>
        <p:sp>
          <p:nvSpPr>
            <p:cNvPr id="11" name="Step: Measure"/>
            <p:cNvSpPr/>
            <p:nvPr/>
          </p:nvSpPr>
          <p:spPr>
            <a:xfrm>
              <a:off x="6337249" y="3863340"/>
              <a:ext cx="1015898" cy="382219"/>
            </a:xfrm>
            <a:prstGeom prst="roundRect">
              <a:avLst>
                <a:gd name="adj" fmla="val 15789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20701" rIns="120701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>
                  <a:solidFill>
                    <a:schemeClr val="tx1"/>
                  </a:solidFill>
                </a:rPr>
                <a:t>Measure</a:t>
              </a:r>
            </a:p>
          </p:txBody>
        </p:sp>
        <p:sp>
          <p:nvSpPr>
            <p:cNvPr id="12" name="Step: Learn"/>
            <p:cNvSpPr/>
            <p:nvPr/>
          </p:nvSpPr>
          <p:spPr>
            <a:xfrm>
              <a:off x="7835951" y="3863340"/>
              <a:ext cx="1015898" cy="382219"/>
            </a:xfrm>
            <a:prstGeom prst="roundRect">
              <a:avLst>
                <a:gd name="adj" fmla="val 15789"/>
              </a:avLst>
            </a:prstGeom>
            <a:solidFill>
              <a:schemeClr val="accent1">
                <a:lumMod val="15000"/>
                <a:lumOff val="8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20701" rIns="120701" tIns="70409" bIns="70409">
              <a:noAutofit/>
            </a:bodyPr>
            <a:lstStyle/>
            <a:p>
              <a:pPr algn="ctr" marL="0" indent="0">
                <a:buNone/>
              </a:pPr>
              <a:r>
                <a:rPr sz="1580">
                  <a:solidFill>
                    <a:schemeClr val="tx1"/>
                  </a:solidFill>
                </a:rPr>
                <a:t>Learn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Animation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Morph transitions (1/2)</a:t>
            </a:r>
          </a:p>
        </p:txBody>
      </p:sp>
      <p:grpSp>
        <p:nvGrpSpPr>
          <p:cNvPr id="5" name="!!focus"/>
          <p:cNvGrpSpPr/>
          <p:nvPr/>
        </p:nvGrpSpPr>
        <p:grpSpPr>
          <a:xfrm>
            <a:off x="548640" y="3045187"/>
            <a:ext cx="3755029" cy="1407706"/>
            <a:chOff x="548640" y="3045187"/>
            <a:chExt cx="3755029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3755029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This block moves and grows on the next slide.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3755029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Focus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669429" y="3475736"/>
            <a:ext cx="6973626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200"/>
              <a:t> 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Morph transitions (2/2)</a:t>
            </a:r>
          </a:p>
        </p:txBody>
      </p:sp>
      <p:grpSp>
        <p:nvGrpSpPr>
          <p:cNvPr id="5" name="!!focus"/>
          <p:cNvGrpSpPr/>
          <p:nvPr/>
        </p:nvGrpSpPr>
        <p:grpSpPr>
          <a:xfrm>
            <a:off x="548640" y="3045187"/>
            <a:ext cx="11094415" cy="1407706"/>
            <a:chOff x="548640" y="3045187"/>
            <a:chExt cx="11094415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11094415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Shapes with the same name ("!!focus") are matched by Morph, so PowerPoint animates the move. Older PowerPoint versions fall back to a fade.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Focus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References</a:t>
            </a:r>
          </a:p>
        </p:txBody>
      </p:sp>
      <p:sp>
        <p:nvSpPr>
          <p:cNvPr id="3" name="References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anchor="t" lIns="18288" rIns="18288" tIns="36576" bIns="36576">
            <a:noAutofit/>
          </a:bodyPr>
          <a:lstStyle/>
          <a:p>
            <a:pPr marL="430530" indent="-430530">
              <a:buNone/>
              <a:tabLst>
                <a:tab pos="430530" algn="l"/>
              </a:tabLst>
            </a:pPr>
            <a:r>
              <a:rPr sz="1400"/>
              <a:t>[1]	</a:t>
            </a:r>
            <a:r>
              <a:rPr sz="1400"/>
              <a:t>T. Tantau, J. Wright and V. Miletić, "The beamer class," user guide, CTAN.</a:t>
            </a:r>
          </a:p>
          <a:p>
            <a:pPr marL="430530" indent="-430530">
              <a:spcBef>
                <a:spcPts val="700"/>
              </a:spcBef>
              <a:buNone/>
              <a:tabLst>
                <a:tab pos="430530" algn="l"/>
              </a:tabLst>
            </a:pPr>
            <a:r>
              <a:rPr sz="1400"/>
              <a:t>[2]	</a:t>
            </a:r>
            <a:r>
              <a:rPr sz="1400"/>
              <a:t>J. D. Hunter, "Matplotlib: A 2D graphics environment," </a:t>
            </a:r>
            <a:r>
              <a:rPr sz="1400" i="1"/>
              <a:t>Computing in Science &amp; Engineering</a:t>
            </a:r>
            <a:r>
              <a:rPr sz="1400"/>
              <a:t>, vol. 9, no. 3, pp. 90-95, 2007.</a:t>
            </a:r>
          </a:p>
          <a:p>
            <a:pPr marL="430530" indent="-430530">
              <a:spcBef>
                <a:spcPts val="700"/>
              </a:spcBef>
              <a:buNone/>
              <a:tabLst>
                <a:tab pos="430530" algn="l"/>
              </a:tabLst>
            </a:pPr>
            <a:r>
              <a:rPr sz="1400"/>
              <a:t>[3]	</a:t>
            </a:r>
            <a:r>
              <a:rPr sz="1400"/>
              <a:t>J. MacFarlane, "Pandoc: a universal document converter," </a:t>
            </a:r>
            <a:r>
              <a:rPr sz="1400">
                <a:hlinkClick r:id="rId2"/>
              </a:rPr>
              <a:t>pandoc.org</a:t>
            </a:r>
            <a:r>
              <a:rPr sz="1400"/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43328"/>
            <a:ext cx="11094415" cy="8818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4400">
                <a:solidFill>
                  <a:schemeClr val="accent1"/>
                </a:solidFill>
                <a:latin typeface="+mj-lt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53816"/>
            <a:ext cx="11094415" cy="5770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400">
                <a:solidFill>
                  <a:schemeClr val="tx1">
                    <a:lumMod val="55000"/>
                    <a:lumOff val="45000"/>
                  </a:schemeClr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59504"/>
            <a:ext cx="11094415" cy="45516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600"/>
              <a:t>Made with ppt-templated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eamer Blue (Madrid-inspired)">
  <a:themeElements>
    <a:clrScheme name="Beamer Blue (Madrid-inspired)">
      <a:dk1>
        <a:srgbClr val="1F1F24"/>
      </a:dk1>
      <a:lt1>
        <a:srgbClr val="FFFFFF"/>
      </a:lt1>
      <a:dk2>
        <a:srgbClr val="1A1A5E"/>
      </a:dk2>
      <a:lt2>
        <a:srgbClr val="EBEBF7"/>
      </a:lt2>
      <a:accent1>
        <a:srgbClr val="3333B3"/>
      </a:accent1>
      <a:accent2>
        <a:srgbClr val="C0161B"/>
      </a:accent2>
      <a:accent3>
        <a:srgbClr val="1E7B34"/>
      </a:accent3>
      <a:accent4>
        <a:srgbClr val="E69F00"/>
      </a:accent4>
      <a:accent5>
        <a:srgbClr val="3E9BD6"/>
      </a:accent5>
      <a:accent6>
        <a:srgbClr val="7A7A8C"/>
      </a:accent6>
      <a:hlink>
        <a:srgbClr val="3333B3"/>
      </a:hlink>
      <a:folHlink>
        <a:srgbClr val="6A3DB8"/>
      </a:folHlink>
    </a:clrScheme>
    <a:fontScheme name="Beamer Blue (Madrid-inspired)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Beamer-Style Decks in PowerPoint</dc:title>
  <dc:subject/>
  <dc:creator>A. Researcher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