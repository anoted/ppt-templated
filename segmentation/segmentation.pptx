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15288" y="1325880"/>
            <a:ext cx="8961120" cy="1325880"/>
          </a:xfrm>
          <a:prstGeom prst="roundRect">
            <a:avLst>
              <a:gd name="adj" fmla="val 0"/>
            </a:avLst>
          </a:prstGeom>
          <a:solidFill>
            <a:schemeClr val="accent1"/>
          </a:solidFill>
        </p:spPr>
        <p:txBody>
          <a:bodyPr lIns="274320" rIns="274320" anchor="ctr">
            <a:normAutofit/>
          </a:bodyPr>
          <a:lstStyle>
            <a:lvl1pPr algn="ctr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15288" y="2743200"/>
            <a:ext cx="8961120" cy="548640"/>
          </a:xfrm>
        </p:spPr>
        <p:txBody>
          <a:bodyPr anchor="t"/>
          <a:lstStyle>
            <a:lvl1pPr algn="ctr" marL="0" indent="0">
              <a:buNone/>
              <a:defRPr sz="2200" i="1">
                <a:solidFill>
                  <a:schemeClr val="accent1"/>
                </a:solidFill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4" name="Author"/>
          <p:cNvSpPr>
            <a:spLocks noGrp="1"/>
          </p:cNvSpPr>
          <p:nvPr>
            <p:ph type="body" sz="quarter" idx="13"/>
          </p:nvPr>
        </p:nvSpPr>
        <p:spPr>
          <a:xfrm>
            <a:off x="1615288" y="3611880"/>
            <a:ext cx="8961120" cy="457200"/>
          </a:xfrm>
        </p:spPr>
        <p:txBody>
          <a:bodyPr anchor="ctr"/>
          <a:lstStyle>
            <a:lvl1pPr algn="ctr" marL="0" indent="0">
              <a:buNone/>
              <a:defRPr sz="2200">
                <a:solidFill>
                  <a:schemeClr val="tx1"/>
                </a:solidFill>
              </a:defRPr>
            </a:lvl1pPr>
          </a:lstStyle>
          <a:p>
            <a:r>
              <a:rPr lang="en-US"/>
              <a:t>Author Name</a:t>
            </a:r>
          </a:p>
        </p:txBody>
      </p:sp>
      <p:sp>
        <p:nvSpPr>
          <p:cNvPr id="5" name="Institute"/>
          <p:cNvSpPr>
            <a:spLocks noGrp="1"/>
          </p:cNvSpPr>
          <p:nvPr>
            <p:ph type="body" sz="quarter" idx="14"/>
          </p:nvPr>
        </p:nvSpPr>
        <p:spPr>
          <a:xfrm>
            <a:off x="1615288" y="4114800"/>
            <a:ext cx="8961120" cy="457200"/>
          </a:xfrm>
        </p:spPr>
        <p:txBody>
          <a:bodyPr anchor="ctr"/>
          <a:lstStyle>
            <a:lvl1pPr algn="ctr"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/>
              <a:t>Institute</a:t>
            </a:r>
          </a:p>
        </p:txBody>
      </p:sp>
      <p:sp>
        <p:nvSpPr>
          <p:cNvPr id="6" name="Date"/>
          <p:cNvSpPr>
            <a:spLocks noGrp="1"/>
          </p:cNvSpPr>
          <p:nvPr>
            <p:ph type="body" sz="quarter" idx="15"/>
          </p:nvPr>
        </p:nvSpPr>
        <p:spPr>
          <a:xfrm>
            <a:off x="1615288" y="4754880"/>
            <a:ext cx="8961120" cy="411480"/>
          </a:xfrm>
        </p:spPr>
        <p:txBody>
          <a:bodyPr anchor="ctr"/>
          <a:lstStyle>
            <a:lvl1pPr algn="ctr" marL="0" indent="0">
              <a:buNone/>
              <a:defRPr sz="1800">
                <a:solidFill>
                  <a:schemeClr val="tx1"/>
                </a:solidFill>
              </a:defRPr>
            </a:lvl1pPr>
          </a:lstStyle>
          <a:p>
            <a:r>
              <a:rPr lang="en-US"/>
              <a:t>Date</a:t>
            </a:r>
          </a:p>
        </p:txBody>
      </p:sp>
      <p:sp>
        <p:nvSpPr>
          <p:cNvPr id="24" name="Footline Stripe"/>
          <p:cNvSpPr/>
          <p:nvPr userDrawn="1"/>
        </p:nvSpPr>
        <p:spPr>
          <a:xfrm>
            <a:off x="0" y="6519672"/>
            <a:ext cx="12191695" cy="4572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wrap="square" lIns="91440" tIns="0" rIns="91440" bIns="0" rtlCol="0" anchor="ctr">
            <a:noAutofit/>
          </a:bodyPr>
          <a:lstStyle/>
          <a:p>
            <a:pPr algn="ctr"/>
            <a:endParaRPr lang="en-US" sz="1100"/>
          </a:p>
        </p:txBody>
      </p:sp>
      <p:sp>
        <p:nvSpPr>
          <p:cNvPr id="20" name="Footline Author"/>
          <p:cNvSpPr/>
          <p:nvPr userDrawn="1"/>
        </p:nvSpPr>
        <p:spPr>
          <a:xfrm>
            <a:off x="0" y="6565392"/>
            <a:ext cx="4073042" cy="2926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91440" tIns="0" rIns="91440" bIns="0" rtlCol="0" anchor="ctr">
            <a:noAutofit/>
          </a:bodyPr>
          <a:lstStyle/>
          <a:p>
            <a:pPr algn="ctr"/>
            <a:r>
              <a:rPr lang="en-US" sz="1100" b="0">
                <a:solidFill>
                  <a:schemeClr val="bg1"/>
                </a:solidFill>
              </a:rPr>
              <a:t>Your Name</a:t>
            </a:r>
            <a:endParaRPr lang="en-US" sz="1100"/>
          </a:p>
        </p:txBody>
      </p:sp>
      <p:sp>
        <p:nvSpPr>
          <p:cNvPr id="21" name="Footline Title"/>
          <p:cNvSpPr/>
          <p:nvPr userDrawn="1"/>
        </p:nvSpPr>
        <p:spPr>
          <a:xfrm>
            <a:off x="4063898" y="6565392"/>
            <a:ext cx="4073042" cy="2926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91440" tIns="0" rIns="91440" bIns="0" rtlCol="0" anchor="ctr">
            <a:noAutofit/>
          </a:bodyPr>
          <a:lstStyle/>
          <a:p>
            <a:pPr algn="ctr"/>
            <a:r>
              <a:rPr lang="en-US" sz="1100" b="0">
                <a:solidFill>
                  <a:schemeClr val="bg1">
                    <a:lumMod val="75000"/>
                  </a:schemeClr>
                </a:solidFill>
              </a:rPr>
              <a:t>Segmentation Methods</a:t>
            </a:r>
            <a:endParaRPr lang="en-US" sz="1100"/>
          </a:p>
        </p:txBody>
      </p:sp>
      <p:sp>
        <p:nvSpPr>
          <p:cNvPr id="22" name="Footline Date"/>
          <p:cNvSpPr/>
          <p:nvPr userDrawn="1"/>
        </p:nvSpPr>
        <p:spPr>
          <a:xfrm>
            <a:off x="8127797" y="6565392"/>
            <a:ext cx="4063898" cy="2926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91440" tIns="0" rIns="91440" bIns="0" rtlCol="0" anchor="ctr">
            <a:noAutofit/>
          </a:bodyPr>
          <a:lstStyle/>
          <a:p>
            <a:pPr algn="ctr"/>
            <a:r>
              <a:rPr lang="en-US" sz="1100" b="0">
                <a:solidFill>
                  <a:schemeClr val="bg1"/>
                </a:solidFill>
              </a:rPr>
              <a:t>September 27, 2026</a:t>
            </a:r>
            <a:endParaRPr lang="en-US" sz="1100"/>
          </a:p>
        </p:txBody>
      </p:sp>
      <p:sp>
        <p:nvSpPr>
          <p:cNvPr id="23" name="Footline Slide Number"/>
          <p:cNvSpPr/>
          <p:nvPr userDrawn="1"/>
        </p:nvSpPr>
        <p:spPr>
          <a:xfrm>
            <a:off x="11277295" y="6565392"/>
            <a:ext cx="77724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fld id="{7C1D2A8E-3B7F-4C11-9D35-2E4B5A6C7D8E}" type="slidenum">
              <a:rPr lang="en-US" sz="1100" b="0">
                <a:solidFill>
                  <a:schemeClr val="bg1"/>
                </a:solidFill>
              </a:rPr>
              <a:t>‹#›</a:t>
            </a:fld>
            <a:endParaRPr lang="en-US" sz="110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91440"/>
            <a:ext cx="11368735" cy="685800"/>
          </a:xfrm>
        </p:spPr>
        <p:txBody>
          <a:bodyPr/>
          <a:lstStyle/>
          <a:p>
            <a:r>
              <a:rPr lang="en-US"/>
              <a:t>Frame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188720"/>
            <a:ext cx="11094415" cy="512064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51760" y="2606040"/>
            <a:ext cx="6888175" cy="1051560"/>
          </a:xfrm>
          <a:prstGeom prst="roundRect">
            <a:avLst>
              <a:gd name="adj" fmla="val 0"/>
            </a:avLst>
          </a:prstGeom>
          <a:solidFill>
            <a:schemeClr val="accent1"/>
          </a:solidFill>
        </p:spPr>
        <p:txBody>
          <a:bodyPr lIns="274320" rIns="274320" anchor="ctr">
            <a:normAutofit/>
          </a:bodyPr>
          <a:lstStyle>
            <a:lvl1pPr algn="ctr"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3" name="Section Subtitle"/>
          <p:cNvSpPr>
            <a:spLocks noGrp="1"/>
          </p:cNvSpPr>
          <p:nvPr>
            <p:ph type="body" idx="1"/>
          </p:nvPr>
        </p:nvSpPr>
        <p:spPr>
          <a:xfrm>
            <a:off x="2651760" y="3794760"/>
            <a:ext cx="6888175" cy="548640"/>
          </a:xfrm>
        </p:spPr>
        <p:txBody>
          <a:bodyPr anchor="t"/>
          <a:lstStyle>
            <a:lvl1pPr algn="ctr" marL="0" indent="0">
              <a:buNone/>
              <a:defRPr sz="2000" i="1">
                <a:solidFill>
                  <a:schemeClr val="accent1"/>
                </a:solidFill>
              </a:defRPr>
            </a:lvl1pPr>
          </a:lstStyle>
          <a:p>
            <a:r>
              <a:rPr lang="en-US"/>
              <a:t>Optional subtitle</a:t>
            </a:r>
          </a:p>
        </p:txBody>
      </p:sp>
      <p:sp>
        <p:nvSpPr>
          <p:cNvPr id="24" name="Footline Stripe"/>
          <p:cNvSpPr/>
          <p:nvPr userDrawn="1"/>
        </p:nvSpPr>
        <p:spPr>
          <a:xfrm>
            <a:off x="0" y="6519672"/>
            <a:ext cx="12191695" cy="4572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wrap="square" lIns="91440" tIns="0" rIns="91440" bIns="0" rtlCol="0" anchor="ctr">
            <a:noAutofit/>
          </a:bodyPr>
          <a:lstStyle/>
          <a:p>
            <a:pPr algn="ctr"/>
            <a:endParaRPr lang="en-US" sz="1100"/>
          </a:p>
        </p:txBody>
      </p:sp>
      <p:sp>
        <p:nvSpPr>
          <p:cNvPr id="20" name="Footline Author"/>
          <p:cNvSpPr/>
          <p:nvPr userDrawn="1"/>
        </p:nvSpPr>
        <p:spPr>
          <a:xfrm>
            <a:off x="0" y="6565392"/>
            <a:ext cx="4073042" cy="2926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91440" tIns="0" rIns="91440" bIns="0" rtlCol="0" anchor="ctr">
            <a:noAutofit/>
          </a:bodyPr>
          <a:lstStyle/>
          <a:p>
            <a:pPr algn="ctr"/>
            <a:r>
              <a:rPr lang="en-US" sz="1100" b="0">
                <a:solidFill>
                  <a:schemeClr val="bg1"/>
                </a:solidFill>
              </a:rPr>
              <a:t>Your Name</a:t>
            </a:r>
            <a:endParaRPr lang="en-US" sz="1100"/>
          </a:p>
        </p:txBody>
      </p:sp>
      <p:sp>
        <p:nvSpPr>
          <p:cNvPr id="21" name="Footline Title"/>
          <p:cNvSpPr/>
          <p:nvPr userDrawn="1"/>
        </p:nvSpPr>
        <p:spPr>
          <a:xfrm>
            <a:off x="4063898" y="6565392"/>
            <a:ext cx="4073042" cy="2926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91440" tIns="0" rIns="91440" bIns="0" rtlCol="0" anchor="ctr">
            <a:noAutofit/>
          </a:bodyPr>
          <a:lstStyle/>
          <a:p>
            <a:pPr algn="ctr"/>
            <a:r>
              <a:rPr lang="en-US" sz="1100" b="0">
                <a:solidFill>
                  <a:schemeClr val="bg1">
                    <a:lumMod val="75000"/>
                  </a:schemeClr>
                </a:solidFill>
              </a:rPr>
              <a:t>Segmentation Methods</a:t>
            </a:r>
            <a:endParaRPr lang="en-US" sz="1100"/>
          </a:p>
        </p:txBody>
      </p:sp>
      <p:sp>
        <p:nvSpPr>
          <p:cNvPr id="22" name="Footline Date"/>
          <p:cNvSpPr/>
          <p:nvPr userDrawn="1"/>
        </p:nvSpPr>
        <p:spPr>
          <a:xfrm>
            <a:off x="8127797" y="6565392"/>
            <a:ext cx="4063898" cy="2926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91440" tIns="0" rIns="91440" bIns="0" rtlCol="0" anchor="ctr">
            <a:noAutofit/>
          </a:bodyPr>
          <a:lstStyle/>
          <a:p>
            <a:pPr algn="ctr"/>
            <a:r>
              <a:rPr lang="en-US" sz="1100" b="0">
                <a:solidFill>
                  <a:schemeClr val="bg1"/>
                </a:solidFill>
              </a:rPr>
              <a:t>September 27, 2026</a:t>
            </a:r>
            <a:endParaRPr lang="en-US" sz="1100"/>
          </a:p>
        </p:txBody>
      </p:sp>
      <p:sp>
        <p:nvSpPr>
          <p:cNvPr id="23" name="Footline Slide Number"/>
          <p:cNvSpPr/>
          <p:nvPr userDrawn="1"/>
        </p:nvSpPr>
        <p:spPr>
          <a:xfrm>
            <a:off x="11277295" y="6565392"/>
            <a:ext cx="77724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fld id="{7C1D2A8E-3B7F-4C11-9D35-2E4B5A6C7D8E}" type="slidenum">
              <a:rPr lang="en-US" sz="1100" b="0">
                <a:solidFill>
                  <a:schemeClr val="bg1"/>
                </a:solidFill>
              </a:rPr>
              <a:t>‹#›</a:t>
            </a:fld>
            <a:endParaRPr lang="en-US" sz="110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91440"/>
            <a:ext cx="11368735" cy="685800"/>
          </a:xfrm>
        </p:spPr>
        <p:txBody>
          <a:bodyPr/>
          <a:lstStyle/>
          <a:p>
            <a:r>
              <a:rPr lang="en-US"/>
              <a:t>Frame Title</a:t>
            </a:r>
          </a:p>
        </p:txBody>
      </p:sp>
      <p:sp>
        <p:nvSpPr>
          <p:cNvPr id="3" name="Content Placeholder Left"/>
          <p:cNvSpPr>
            <a:spLocks noGrp="1"/>
          </p:cNvSpPr>
          <p:nvPr>
            <p:ph sz="half" idx="1"/>
          </p:nvPr>
        </p:nvSpPr>
        <p:spPr>
          <a:xfrm>
            <a:off x="548640" y="1188720"/>
            <a:ext cx="5364328" cy="512064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Right"/>
          <p:cNvSpPr>
            <a:spLocks noGrp="1"/>
          </p:cNvSpPr>
          <p:nvPr>
            <p:ph sz="half" idx="2"/>
          </p:nvPr>
        </p:nvSpPr>
        <p:spPr>
          <a:xfrm>
            <a:off x="6278728" y="1188720"/>
            <a:ext cx="5364328" cy="512064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91440"/>
            <a:ext cx="11368735" cy="685800"/>
          </a:xfrm>
        </p:spPr>
        <p:txBody>
          <a:bodyPr/>
          <a:lstStyle/>
          <a:p>
            <a:r>
              <a:rPr lang="en-US"/>
              <a:t>Frame Title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ame Title Bar"/>
          <p:cNvSpPr/>
          <p:nvPr userDrawn="1"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91440" tIns="0" rIns="91440" bIns="0" rtlCol="0" anchor="ctr">
            <a:noAutofit/>
          </a:bodyPr>
          <a:lstStyle/>
          <a:p>
            <a:pPr algn="ctr"/>
            <a:endParaRPr lang="en-US" sz="1100"/>
          </a:p>
        </p:txBody>
      </p:sp>
      <p:sp>
        <p:nvSpPr>
          <p:cNvPr id="16" name="Frame Title Stripe"/>
          <p:cNvSpPr/>
          <p:nvPr userDrawn="1"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wrap="square" lIns="91440" tIns="0" rIns="91440" bIns="0" rtlCol="0" anchor="ctr">
            <a:noAutofit/>
          </a:bodyPr>
          <a:lstStyle/>
          <a:p>
            <a:pPr algn="ctr"/>
            <a:endParaRPr lang="en-US" sz="1100"/>
          </a:p>
        </p:txBody>
      </p:sp>
      <p:sp>
        <p:nvSpPr>
          <p:cNvPr id="15" name="Footline Stripe"/>
          <p:cNvSpPr/>
          <p:nvPr userDrawn="1"/>
        </p:nvSpPr>
        <p:spPr>
          <a:xfrm>
            <a:off x="0" y="6519672"/>
            <a:ext cx="12191695" cy="4572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wrap="square" lIns="91440" tIns="0" rIns="91440" bIns="0" rtlCol="0" anchor="ctr">
            <a:noAutofit/>
          </a:bodyPr>
          <a:lstStyle/>
          <a:p>
            <a:pPr algn="ctr"/>
            <a:endParaRPr lang="en-US" sz="1100"/>
          </a:p>
        </p:txBody>
      </p:sp>
      <p:sp>
        <p:nvSpPr>
          <p:cNvPr id="11" name="Footline Author"/>
          <p:cNvSpPr/>
          <p:nvPr userDrawn="1"/>
        </p:nvSpPr>
        <p:spPr>
          <a:xfrm>
            <a:off x="0" y="6565392"/>
            <a:ext cx="4073042" cy="2926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91440" tIns="0" rIns="91440" bIns="0" rtlCol="0" anchor="ctr">
            <a:noAutofit/>
          </a:bodyPr>
          <a:lstStyle/>
          <a:p>
            <a:pPr algn="ctr"/>
            <a:r>
              <a:rPr lang="en-US" sz="1100" b="0">
                <a:solidFill>
                  <a:schemeClr val="bg1"/>
                </a:solidFill>
              </a:rPr>
              <a:t>Your Name</a:t>
            </a:r>
            <a:endParaRPr lang="en-US" sz="1100"/>
          </a:p>
        </p:txBody>
      </p:sp>
      <p:sp>
        <p:nvSpPr>
          <p:cNvPr id="12" name="Footline Title"/>
          <p:cNvSpPr/>
          <p:nvPr userDrawn="1"/>
        </p:nvSpPr>
        <p:spPr>
          <a:xfrm>
            <a:off x="4063898" y="6565392"/>
            <a:ext cx="4073042" cy="2926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91440" tIns="0" rIns="91440" bIns="0" rtlCol="0" anchor="ctr">
            <a:noAutofit/>
          </a:bodyPr>
          <a:lstStyle/>
          <a:p>
            <a:pPr algn="ctr"/>
            <a:r>
              <a:rPr lang="en-US" sz="1100" b="0">
                <a:solidFill>
                  <a:schemeClr val="bg1">
                    <a:lumMod val="75000"/>
                  </a:schemeClr>
                </a:solidFill>
              </a:rPr>
              <a:t>Segmentation Methods</a:t>
            </a:r>
            <a:endParaRPr lang="en-US" sz="1100"/>
          </a:p>
        </p:txBody>
      </p:sp>
      <p:sp>
        <p:nvSpPr>
          <p:cNvPr id="13" name="Footline Date"/>
          <p:cNvSpPr/>
          <p:nvPr userDrawn="1"/>
        </p:nvSpPr>
        <p:spPr>
          <a:xfrm>
            <a:off x="8127797" y="6565392"/>
            <a:ext cx="4063898" cy="2926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91440" tIns="0" rIns="91440" bIns="0" rtlCol="0" anchor="ctr">
            <a:noAutofit/>
          </a:bodyPr>
          <a:lstStyle/>
          <a:p>
            <a:pPr algn="ctr"/>
            <a:r>
              <a:rPr lang="en-US" sz="1100" b="0">
                <a:solidFill>
                  <a:schemeClr val="bg1"/>
                </a:solidFill>
              </a:rPr>
              <a:t>September 27, 2026</a:t>
            </a:r>
            <a:endParaRPr lang="en-US" sz="1100"/>
          </a:p>
        </p:txBody>
      </p:sp>
      <p:sp>
        <p:nvSpPr>
          <p:cNvPr id="14" name="Footline Slide Number"/>
          <p:cNvSpPr/>
          <p:nvPr userDrawn="1"/>
        </p:nvSpPr>
        <p:spPr>
          <a:xfrm>
            <a:off x="11277295" y="6565392"/>
            <a:ext cx="77724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fld id="{7C1D2A8E-3B7F-4C11-9D35-2E4B5A6C7D8E}" type="slidenum">
              <a:rPr lang="en-US" sz="1100" b="0">
                <a:solidFill>
                  <a:schemeClr val="bg1"/>
                </a:solidFill>
              </a:rPr>
              <a:t>‹#›</a:t>
            </a:fld>
            <a:endParaRPr lang="en-US" sz="110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11480" y="91440"/>
            <a:ext cx="11368735" cy="685800"/>
          </a:xfrm>
        </p:spPr>
        <p:txBody>
          <a:bodyPr vert="horz" lIns="91440" tIns="0" rIns="91440" bIns="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188720"/>
            <a:ext cx="11094415" cy="512064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4" r:id="rId6"/>
    <p:sldLayoutId id="2147483655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310896" indent="-310896" algn="l" defTabSz="914400" rtl="0" eaLnBrk="1" latinLnBrk="0" hangingPunct="1">
        <a:lnSpc>
          <a:spcPct val="100000"/>
        </a:lnSpc>
        <a:spcBef>
          <a:spcPts val="1000"/>
        </a:spcBef>
        <a:buClr>
          <a:schemeClr val="accent1"/>
        </a:buClr>
        <a:buSzPct val="60000"/>
        <a:buFont typeface="Arial" panose="020B0604020202020204"/>
        <a:buChar char="■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76656" indent="-274320" algn="l" defTabSz="914400" rtl="0" eaLnBrk="1" latinLnBrk="0" hangingPunct="1">
        <a:lnSpc>
          <a:spcPct val="100000"/>
        </a:lnSpc>
        <a:spcBef>
          <a:spcPts val="400"/>
        </a:spcBef>
        <a:buClr>
          <a:schemeClr val="accent1"/>
        </a:buClr>
        <a:buSzPct val="100000"/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05840" indent="-256032" algn="l" defTabSz="914400" rtl="0" eaLnBrk="1" latinLnBrk="0" hangingPunct="1">
        <a:lnSpc>
          <a:spcPct val="100000"/>
        </a:lnSpc>
        <a:spcBef>
          <a:spcPts val="300"/>
        </a:spcBef>
        <a:buClr>
          <a:schemeClr val="accent1"/>
        </a:buClr>
        <a:buSzPct val="100000"/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25880" indent="-237744" algn="l" defTabSz="914400" rtl="0" eaLnBrk="1" latinLnBrk="0" hangingPunct="1">
        <a:lnSpc>
          <a:spcPct val="100000"/>
        </a:lnSpc>
        <a:spcBef>
          <a:spcPts val="200"/>
        </a:spcBef>
        <a:buClr>
          <a:schemeClr val="accent1"/>
        </a:buClr>
        <a:buSzPct val="60000"/>
        <a:buFont typeface="Arial" panose="020B0604020202020204"/>
        <a:buChar char="■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645920" indent="-237744" algn="l" defTabSz="914400" rtl="0" eaLnBrk="1" latinLnBrk="0" hangingPunct="1">
        <a:lnSpc>
          <a:spcPct val="100000"/>
        </a:lnSpc>
        <a:spcBef>
          <a:spcPts val="200"/>
        </a:spcBef>
        <a:buClr>
          <a:schemeClr val="accent1"/>
        </a:buClr>
        <a:buSzPct val="100000"/>
        <a:buFont typeface="Arial" panose="020B0604020202020204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965960" indent="-237744" algn="l" defTabSz="914400" rtl="0" eaLnBrk="1" latinLnBrk="0" hangingPunct="1">
        <a:lnSpc>
          <a:spcPct val="100000"/>
        </a:lnSpc>
        <a:spcBef>
          <a:spcPts val="200"/>
        </a:spcBef>
        <a:buClr>
          <a:schemeClr val="accent1"/>
        </a:buClr>
        <a:buSzPct val="100000"/>
        <a:buFont typeface="Arial" panose="020B0604020202020204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286000" indent="-237744" algn="l" defTabSz="914400" rtl="0" eaLnBrk="1" latinLnBrk="0" hangingPunct="1">
        <a:lnSpc>
          <a:spcPct val="100000"/>
        </a:lnSpc>
        <a:spcBef>
          <a:spcPts val="200"/>
        </a:spcBef>
        <a:buClr>
          <a:schemeClr val="accent1"/>
        </a:buClr>
        <a:buSzPct val="60000"/>
        <a:buFont typeface="Arial" panose="020B0604020202020204"/>
        <a:buChar char="■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606040" indent="-237744" algn="l" defTabSz="914400" rtl="0" eaLnBrk="1" latinLnBrk="0" hangingPunct="1">
        <a:lnSpc>
          <a:spcPct val="100000"/>
        </a:lnSpc>
        <a:spcBef>
          <a:spcPts val="200"/>
        </a:spcBef>
        <a:buClr>
          <a:schemeClr val="accent1"/>
        </a:buClr>
        <a:buSzPct val="100000"/>
        <a:buFont typeface="Arial" panose="020B0604020202020204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926080" indent="-237744" algn="l" defTabSz="914400" rtl="0" eaLnBrk="1" latinLnBrk="0" hangingPunct="1">
        <a:lnSpc>
          <a:spcPct val="100000"/>
        </a:lnSpc>
        <a:spcBef>
          <a:spcPts val="200"/>
        </a:spcBef>
        <a:buClr>
          <a:schemeClr val="accent1"/>
        </a:buClr>
        <a:buSzPct val="100000"/>
        <a:buFont typeface="Arial" panose="020B0604020202020204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/>
              <a:t>Image Segmentation Methods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0" indent="0">
              <a:buNone/>
            </a:pPr>
            <a:r>
              <a:rPr/>
              <a:t>From thresholding to transformers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 marL="0" indent="0">
              <a:buNone/>
            </a:pPr>
            <a:r>
              <a:rPr/>
              <a:t>Your Name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 marL="0" indent="0">
              <a:buNone/>
            </a:pPr>
            <a:r>
              <a:rPr/>
              <a:t>Computer Vision Seminar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marL="0" indent="0">
              <a:buNone/>
            </a:pPr>
            <a:r>
              <a:rPr/>
              <a:t>September 27, 2026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AutoNum type="arabicPeriod"/>
            </a:pPr>
            <a:r>
              <a:rPr/>
              <a:t>Introduction</a:t>
            </a:r>
          </a:p>
          <a:p>
            <a:pPr>
              <a:buAutoNum type="arabicPeriod"/>
            </a:pPr>
            <a:r>
              <a:rPr/>
              <a:t>Classical methods</a:t>
            </a:r>
          </a:p>
          <a:p>
            <a:pPr>
              <a:buAutoNum type="arabicPeriod"/>
            </a:pPr>
            <a:r>
              <a:rPr/>
              <a:t>Deep learning methods</a:t>
            </a:r>
          </a:p>
          <a:p>
            <a:pPr>
              <a:buAutoNum type="arabicPeriod"/>
            </a:pPr>
            <a:r>
              <a:rPr/>
              <a:t>Training and evaluation</a:t>
            </a:r>
          </a:p>
          <a:p>
            <a:pPr>
              <a:buAutoNum type="arabicPeriod"/>
            </a:pPr>
            <a:r>
              <a:rPr/>
              <a:t>Summary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Introduction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/>
              <a:t>What does it mean to segment an image?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Three flavours of segmentation</a:t>
            </a:r>
          </a:p>
        </p:txBody>
      </p:sp>
      <p:sp>
        <p:nvSpPr>
          <p:cNvPr id="3" name="Placeholder: Semantic vs instance vs panoptic" descr="Placeholder - Semantic vs instance vs panoptic"/>
          <p:cNvSpPr/>
          <p:nvPr/>
        </p:nvSpPr>
        <p:spPr>
          <a:xfrm>
            <a:off x="1321975" y="1188720"/>
            <a:ext cx="9547746" cy="3182582"/>
          </a:xfrm>
          <a:prstGeom prst="rect">
            <a:avLst/>
          </a:prstGeom>
          <a:solidFill>
            <a:schemeClr val="tx1">
              <a:lumMod val="7000"/>
              <a:lumOff val="93000"/>
            </a:schemeClr>
          </a:solidFill>
          <a:ln w="15875">
            <a:solidFill>
              <a:schemeClr val="tx1">
                <a:lumMod val="45000"/>
                <a:lumOff val="55000"/>
              </a:schemeClr>
            </a:solidFill>
            <a:prstDash val="dash"/>
          </a:ln>
        </p:spPr>
        <p:txBody>
          <a:bodyPr rtlCol="0" anchor="ctr" wrap="square" lIns="137160" rIns="137160" tIns="137160" bIns="137160"/>
          <a:lstStyle/>
          <a:p>
            <a:pPr algn="ctr" marL="0" indent="0">
              <a:buNone/>
            </a:pPr>
            <a:r>
              <a:rPr sz="1760" b="1">
                <a:solidFill>
                  <a:schemeClr val="tx1">
                    <a:lumMod val="55000"/>
                    <a:lumOff val="45000"/>
                  </a:schemeClr>
                </a:solidFill>
              </a:rPr>
              <a:t>Semantic vs instance vs panoptic</a:t>
            </a:r>
          </a:p>
          <a:p>
            <a:pPr algn="ctr"/>
            <a:r>
              <a:rPr sz="1320">
                <a:solidFill>
                  <a:schemeClr val="tx1">
                    <a:lumMod val="55000"/>
                    <a:lumOff val="45000"/>
                  </a:schemeClr>
                </a:solidFill>
              </a:rPr>
              <a:t>same street scene, three outputs side by side</a:t>
            </a:r>
          </a:p>
        </p:txBody>
      </p:sp>
      <p:grpSp>
        <p:nvGrpSpPr>
          <p:cNvPr id="6" name="Block: Semantic"/>
          <p:cNvGrpSpPr/>
          <p:nvPr/>
        </p:nvGrpSpPr>
        <p:grpSpPr>
          <a:xfrm>
            <a:off x="548640" y="4599902"/>
            <a:ext cx="3454298" cy="1709458"/>
            <a:chOff x="548640" y="4599902"/>
            <a:chExt cx="3454298" cy="1709458"/>
          </a:xfrm>
        </p:grpSpPr>
        <p:sp>
          <p:nvSpPr>
            <p:cNvPr id="4" name="Rounded Rectangle 3"/>
            <p:cNvSpPr/>
            <p:nvPr/>
          </p:nvSpPr>
          <p:spPr>
            <a:xfrm>
              <a:off x="548640" y="4599902"/>
              <a:ext cx="3454298" cy="1709458"/>
            </a:xfrm>
            <a:prstGeom prst="roundRect">
              <a:avLst>
                <a:gd name="adj" fmla="val 4814"/>
              </a:avLst>
            </a:prstGeom>
            <a:solidFill>
              <a:schemeClr val="accent1">
                <a:lumMod val="15000"/>
                <a:lumOff val="85000"/>
              </a:schemeClr>
            </a:solidFill>
            <a:ln>
              <a:noFill/>
            </a:ln>
          </p:spPr>
          <p:txBody>
            <a:bodyPr rtlCol="0" anchor="t" wrap="square" lIns="137160" rIns="137160" tIns="556298" bIns="73152">
              <a:noAutofit/>
            </a:bodyPr>
            <a:lstStyle>
              <a:lvl1pPr marL="310896" indent="-310896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1"/>
                </a:buClr>
                <a:buSzPct val="60000"/>
                <a:buFont typeface="Arial" panose="020B0604020202020204"/>
                <a:buChar char="■"/>
                <a:defRPr sz="2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76656" indent="-274320" algn="l" defTabSz="914400" rtl="0" eaLnBrk="1" latinLnBrk="0" hangingPunct="1">
                <a:lnSpc>
                  <a:spcPct val="100000"/>
                </a:lnSpc>
                <a:spcBef>
                  <a:spcPts val="4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05840" indent="-256032" algn="l" defTabSz="914400" rtl="0" eaLnBrk="1" latinLnBrk="0" hangingPunct="1">
                <a:lnSpc>
                  <a:spcPct val="100000"/>
                </a:lnSpc>
                <a:spcBef>
                  <a:spcPts val="3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25880" indent="-237744" algn="l" defTabSz="914400" rtl="0" eaLnBrk="1" latinLnBrk="0" hangingPunct="1">
                <a:lnSpc>
                  <a:spcPct val="100000"/>
                </a:lnSpc>
                <a:spcBef>
                  <a:spcPts val="200"/>
                </a:spcBef>
                <a:buClr>
                  <a:schemeClr val="accent1"/>
                </a:buClr>
                <a:buSzPct val="60000"/>
                <a:buFont typeface="Arial" panose="020B0604020202020204"/>
                <a:buChar char="■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645920" indent="-237744" algn="l" defTabSz="914400" rtl="0" eaLnBrk="1" latinLnBrk="0" hangingPunct="1">
                <a:lnSpc>
                  <a:spcPct val="100000"/>
                </a:lnSpc>
                <a:spcBef>
                  <a:spcPts val="2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–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965960" indent="-237744" algn="l" defTabSz="914400" rtl="0" eaLnBrk="1" latinLnBrk="0" hangingPunct="1">
                <a:lnSpc>
                  <a:spcPct val="100000"/>
                </a:lnSpc>
                <a:spcBef>
                  <a:spcPts val="2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286000" indent="-237744" algn="l" defTabSz="914400" rtl="0" eaLnBrk="1" latinLnBrk="0" hangingPunct="1">
                <a:lnSpc>
                  <a:spcPct val="100000"/>
                </a:lnSpc>
                <a:spcBef>
                  <a:spcPts val="200"/>
                </a:spcBef>
                <a:buClr>
                  <a:schemeClr val="accent1"/>
                </a:buClr>
                <a:buSzPct val="60000"/>
                <a:buFont typeface="Arial" panose="020B0604020202020204"/>
                <a:buChar char="■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606040" indent="-237744" algn="l" defTabSz="914400" rtl="0" eaLnBrk="1" latinLnBrk="0" hangingPunct="1">
                <a:lnSpc>
                  <a:spcPct val="100000"/>
                </a:lnSpc>
                <a:spcBef>
                  <a:spcPts val="2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–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926080" indent="-237744" algn="l" defTabSz="914400" rtl="0" eaLnBrk="1" latinLnBrk="0" hangingPunct="1">
                <a:lnSpc>
                  <a:spcPct val="100000"/>
                </a:lnSpc>
                <a:spcBef>
                  <a:spcPts val="2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 marL="0" indent="0">
                <a:buNone/>
              </a:pPr>
              <a:r>
                <a:rPr sz="1980">
                  <a:solidFill>
                    <a:schemeClr val="tx1"/>
                  </a:solidFill>
                </a:rPr>
                <a:t>One class label per pixel; objects of the same class merge</a:t>
              </a:r>
            </a:p>
          </p:txBody>
        </p:sp>
        <p:sp>
          <p:nvSpPr>
            <p:cNvPr id="5" name="Round Same Side Corner Rectangle 4"/>
            <p:cNvSpPr/>
            <p:nvPr/>
          </p:nvSpPr>
          <p:spPr>
            <a:xfrm>
              <a:off x="548640" y="4599902"/>
              <a:ext cx="3454298" cy="483146"/>
            </a:xfrm>
            <a:prstGeom prst="round2SameRect">
              <a:avLst>
                <a:gd name="adj1" fmla="val 17033"/>
                <a:gd name="adj2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137160" rIns="137160" tIns="18288" bIns="18288"/>
            <a:lstStyle/>
            <a:p>
              <a:pPr algn="l"/>
              <a:r>
                <a:rPr sz="2079" b="1">
                  <a:solidFill>
                    <a:schemeClr val="bg1"/>
                  </a:solidFill>
                </a:rPr>
                <a:t>Semantic</a:t>
              </a:r>
            </a:p>
          </p:txBody>
        </p:sp>
      </p:grpSp>
      <p:grpSp>
        <p:nvGrpSpPr>
          <p:cNvPr id="9" name="Block: Instance"/>
          <p:cNvGrpSpPr/>
          <p:nvPr/>
        </p:nvGrpSpPr>
        <p:grpSpPr>
          <a:xfrm>
            <a:off x="4368698" y="4599902"/>
            <a:ext cx="3454298" cy="1709458"/>
            <a:chOff x="4368698" y="4599902"/>
            <a:chExt cx="3454298" cy="1709458"/>
          </a:xfrm>
        </p:grpSpPr>
        <p:sp>
          <p:nvSpPr>
            <p:cNvPr id="7" name="Rounded Rectangle 6"/>
            <p:cNvSpPr/>
            <p:nvPr/>
          </p:nvSpPr>
          <p:spPr>
            <a:xfrm>
              <a:off x="4368698" y="4599902"/>
              <a:ext cx="3454298" cy="1709458"/>
            </a:xfrm>
            <a:prstGeom prst="roundRect">
              <a:avLst>
                <a:gd name="adj" fmla="val 4814"/>
              </a:avLst>
            </a:prstGeom>
            <a:solidFill>
              <a:schemeClr val="accent1">
                <a:lumMod val="15000"/>
                <a:lumOff val="85000"/>
              </a:schemeClr>
            </a:solidFill>
            <a:ln>
              <a:noFill/>
            </a:ln>
          </p:spPr>
          <p:txBody>
            <a:bodyPr rtlCol="0" anchor="t" wrap="square" lIns="137160" rIns="137160" tIns="556298" bIns="73152">
              <a:noAutofit/>
            </a:bodyPr>
            <a:lstStyle>
              <a:lvl1pPr marL="310896" indent="-310896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1"/>
                </a:buClr>
                <a:buSzPct val="60000"/>
                <a:buFont typeface="Arial" panose="020B0604020202020204"/>
                <a:buChar char="■"/>
                <a:defRPr sz="2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76656" indent="-274320" algn="l" defTabSz="914400" rtl="0" eaLnBrk="1" latinLnBrk="0" hangingPunct="1">
                <a:lnSpc>
                  <a:spcPct val="100000"/>
                </a:lnSpc>
                <a:spcBef>
                  <a:spcPts val="4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05840" indent="-256032" algn="l" defTabSz="914400" rtl="0" eaLnBrk="1" latinLnBrk="0" hangingPunct="1">
                <a:lnSpc>
                  <a:spcPct val="100000"/>
                </a:lnSpc>
                <a:spcBef>
                  <a:spcPts val="3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25880" indent="-237744" algn="l" defTabSz="914400" rtl="0" eaLnBrk="1" latinLnBrk="0" hangingPunct="1">
                <a:lnSpc>
                  <a:spcPct val="100000"/>
                </a:lnSpc>
                <a:spcBef>
                  <a:spcPts val="200"/>
                </a:spcBef>
                <a:buClr>
                  <a:schemeClr val="accent1"/>
                </a:buClr>
                <a:buSzPct val="60000"/>
                <a:buFont typeface="Arial" panose="020B0604020202020204"/>
                <a:buChar char="■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645920" indent="-237744" algn="l" defTabSz="914400" rtl="0" eaLnBrk="1" latinLnBrk="0" hangingPunct="1">
                <a:lnSpc>
                  <a:spcPct val="100000"/>
                </a:lnSpc>
                <a:spcBef>
                  <a:spcPts val="2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–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965960" indent="-237744" algn="l" defTabSz="914400" rtl="0" eaLnBrk="1" latinLnBrk="0" hangingPunct="1">
                <a:lnSpc>
                  <a:spcPct val="100000"/>
                </a:lnSpc>
                <a:spcBef>
                  <a:spcPts val="2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286000" indent="-237744" algn="l" defTabSz="914400" rtl="0" eaLnBrk="1" latinLnBrk="0" hangingPunct="1">
                <a:lnSpc>
                  <a:spcPct val="100000"/>
                </a:lnSpc>
                <a:spcBef>
                  <a:spcPts val="200"/>
                </a:spcBef>
                <a:buClr>
                  <a:schemeClr val="accent1"/>
                </a:buClr>
                <a:buSzPct val="60000"/>
                <a:buFont typeface="Arial" panose="020B0604020202020204"/>
                <a:buChar char="■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606040" indent="-237744" algn="l" defTabSz="914400" rtl="0" eaLnBrk="1" latinLnBrk="0" hangingPunct="1">
                <a:lnSpc>
                  <a:spcPct val="100000"/>
                </a:lnSpc>
                <a:spcBef>
                  <a:spcPts val="2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–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926080" indent="-237744" algn="l" defTabSz="914400" rtl="0" eaLnBrk="1" latinLnBrk="0" hangingPunct="1">
                <a:lnSpc>
                  <a:spcPct val="100000"/>
                </a:lnSpc>
                <a:spcBef>
                  <a:spcPts val="2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 marL="0" indent="0">
                <a:buNone/>
              </a:pPr>
              <a:r>
                <a:rPr sz="1980">
                  <a:solidFill>
                    <a:schemeClr val="tx1"/>
                  </a:solidFill>
                </a:rPr>
                <a:t>Separate mask per </a:t>
              </a:r>
              <a:r>
                <a:rPr sz="1980" i="1">
                  <a:solidFill>
                    <a:schemeClr val="tx1"/>
                  </a:solidFill>
                </a:rPr>
                <a:t>countable</a:t>
              </a:r>
              <a:r>
                <a:rPr sz="1980">
                  <a:solidFill>
                    <a:schemeClr val="tx1"/>
                  </a:solidFill>
                </a:rPr>
                <a:t> object; background ignored</a:t>
              </a:r>
            </a:p>
          </p:txBody>
        </p:sp>
        <p:sp>
          <p:nvSpPr>
            <p:cNvPr id="8" name="Round Same Side Corner Rectangle 7"/>
            <p:cNvSpPr/>
            <p:nvPr/>
          </p:nvSpPr>
          <p:spPr>
            <a:xfrm>
              <a:off x="4368698" y="4599902"/>
              <a:ext cx="3454298" cy="483146"/>
            </a:xfrm>
            <a:prstGeom prst="round2SameRect">
              <a:avLst>
                <a:gd name="adj1" fmla="val 17033"/>
                <a:gd name="adj2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137160" rIns="137160" tIns="18288" bIns="18288"/>
            <a:lstStyle/>
            <a:p>
              <a:pPr algn="l"/>
              <a:r>
                <a:rPr sz="2079" b="1">
                  <a:solidFill>
                    <a:schemeClr val="bg1"/>
                  </a:solidFill>
                </a:rPr>
                <a:t>Instance</a:t>
              </a:r>
            </a:p>
          </p:txBody>
        </p:sp>
      </p:grpSp>
      <p:grpSp>
        <p:nvGrpSpPr>
          <p:cNvPr id="12" name="Block: Panoptic"/>
          <p:cNvGrpSpPr/>
          <p:nvPr/>
        </p:nvGrpSpPr>
        <p:grpSpPr>
          <a:xfrm>
            <a:off x="8188757" y="4750778"/>
            <a:ext cx="3454298" cy="1407706"/>
            <a:chOff x="8188757" y="4750778"/>
            <a:chExt cx="3454298" cy="1407706"/>
          </a:xfrm>
        </p:grpSpPr>
        <p:sp>
          <p:nvSpPr>
            <p:cNvPr id="10" name="Rounded Rectangle 9"/>
            <p:cNvSpPr/>
            <p:nvPr/>
          </p:nvSpPr>
          <p:spPr>
            <a:xfrm>
              <a:off x="8188757" y="4750778"/>
              <a:ext cx="3454298" cy="1407706"/>
            </a:xfrm>
            <a:prstGeom prst="roundRect">
              <a:avLst>
                <a:gd name="adj" fmla="val 5846"/>
              </a:avLst>
            </a:prstGeom>
            <a:solidFill>
              <a:schemeClr val="accent1">
                <a:lumMod val="15000"/>
                <a:lumOff val="85000"/>
              </a:schemeClr>
            </a:solidFill>
            <a:ln>
              <a:noFill/>
            </a:ln>
          </p:spPr>
          <p:txBody>
            <a:bodyPr rtlCol="0" anchor="t" wrap="square" lIns="137160" rIns="137160" tIns="556298" bIns="73152">
              <a:noAutofit/>
            </a:bodyPr>
            <a:lstStyle>
              <a:lvl1pPr marL="310896" indent="-310896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1"/>
                </a:buClr>
                <a:buSzPct val="60000"/>
                <a:buFont typeface="Arial" panose="020B0604020202020204"/>
                <a:buChar char="■"/>
                <a:defRPr sz="2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76656" indent="-274320" algn="l" defTabSz="914400" rtl="0" eaLnBrk="1" latinLnBrk="0" hangingPunct="1">
                <a:lnSpc>
                  <a:spcPct val="100000"/>
                </a:lnSpc>
                <a:spcBef>
                  <a:spcPts val="4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05840" indent="-256032" algn="l" defTabSz="914400" rtl="0" eaLnBrk="1" latinLnBrk="0" hangingPunct="1">
                <a:lnSpc>
                  <a:spcPct val="100000"/>
                </a:lnSpc>
                <a:spcBef>
                  <a:spcPts val="3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25880" indent="-237744" algn="l" defTabSz="914400" rtl="0" eaLnBrk="1" latinLnBrk="0" hangingPunct="1">
                <a:lnSpc>
                  <a:spcPct val="100000"/>
                </a:lnSpc>
                <a:spcBef>
                  <a:spcPts val="200"/>
                </a:spcBef>
                <a:buClr>
                  <a:schemeClr val="accent1"/>
                </a:buClr>
                <a:buSzPct val="60000"/>
                <a:buFont typeface="Arial" panose="020B0604020202020204"/>
                <a:buChar char="■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645920" indent="-237744" algn="l" defTabSz="914400" rtl="0" eaLnBrk="1" latinLnBrk="0" hangingPunct="1">
                <a:lnSpc>
                  <a:spcPct val="100000"/>
                </a:lnSpc>
                <a:spcBef>
                  <a:spcPts val="2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–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965960" indent="-237744" algn="l" defTabSz="914400" rtl="0" eaLnBrk="1" latinLnBrk="0" hangingPunct="1">
                <a:lnSpc>
                  <a:spcPct val="100000"/>
                </a:lnSpc>
                <a:spcBef>
                  <a:spcPts val="2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286000" indent="-237744" algn="l" defTabSz="914400" rtl="0" eaLnBrk="1" latinLnBrk="0" hangingPunct="1">
                <a:lnSpc>
                  <a:spcPct val="100000"/>
                </a:lnSpc>
                <a:spcBef>
                  <a:spcPts val="200"/>
                </a:spcBef>
                <a:buClr>
                  <a:schemeClr val="accent1"/>
                </a:buClr>
                <a:buSzPct val="60000"/>
                <a:buFont typeface="Arial" panose="020B0604020202020204"/>
                <a:buChar char="■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606040" indent="-237744" algn="l" defTabSz="914400" rtl="0" eaLnBrk="1" latinLnBrk="0" hangingPunct="1">
                <a:lnSpc>
                  <a:spcPct val="100000"/>
                </a:lnSpc>
                <a:spcBef>
                  <a:spcPts val="2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–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926080" indent="-237744" algn="l" defTabSz="914400" rtl="0" eaLnBrk="1" latinLnBrk="0" hangingPunct="1">
                <a:lnSpc>
                  <a:spcPct val="100000"/>
                </a:lnSpc>
                <a:spcBef>
                  <a:spcPts val="2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 marL="0" indent="0">
                <a:buNone/>
              </a:pPr>
              <a:r>
                <a:rPr sz="1980">
                  <a:solidFill>
                    <a:schemeClr val="tx1"/>
                  </a:solidFill>
                </a:rPr>
                <a:t>Both: every pixel gets a class </a:t>
              </a:r>
              <a:r>
                <a:rPr sz="1980">
                  <a:solidFill>
                    <a:schemeClr val="accent2"/>
                  </a:solidFill>
                </a:rPr>
                <a:t>and</a:t>
              </a:r>
              <a:r>
                <a:rPr sz="1980">
                  <a:solidFill>
                    <a:schemeClr val="tx1"/>
                  </a:solidFill>
                </a:rPr>
                <a:t> an instance id</a:t>
              </a:r>
            </a:p>
          </p:txBody>
        </p:sp>
        <p:sp>
          <p:nvSpPr>
            <p:cNvPr id="11" name="Round Same Side Corner Rectangle 10"/>
            <p:cNvSpPr/>
            <p:nvPr/>
          </p:nvSpPr>
          <p:spPr>
            <a:xfrm>
              <a:off x="8188757" y="4750778"/>
              <a:ext cx="3454298" cy="483146"/>
            </a:xfrm>
            <a:prstGeom prst="round2SameRect">
              <a:avLst>
                <a:gd name="adj1" fmla="val 17033"/>
                <a:gd name="adj2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137160" rIns="137160" tIns="18288" bIns="18288"/>
            <a:lstStyle/>
            <a:p>
              <a:pPr algn="l"/>
              <a:r>
                <a:rPr sz="2079" b="1">
                  <a:solidFill>
                    <a:schemeClr val="bg1"/>
                  </a:solidFill>
                </a:rPr>
                <a:t>Panoptic</a:t>
              </a:r>
            </a:p>
          </p:txBody>
        </p:sp>
      </p:grp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Problem formulation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36427"/>
            <a:ext cx="11094415" cy="546608"/>
          </a:xfrm>
          <a:prstGeom prst="rect">
            <a:avLst/>
          </a:prstGeom>
          <a:noFill/>
        </p:spPr>
        <p:txBody>
          <a:bodyPr wrap="square" anchor="t" lIns="18288" rIns="18288" tIns="36576" bIns="36576">
            <a:spAutoFit/>
          </a:bodyPr>
          <a:lstStyle>
            <a:lvl1pPr marL="310896" indent="-310896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1"/>
              </a:buClr>
              <a:buSzPct val="60000"/>
              <a:buFont typeface="Arial" panose="020B0604020202020204"/>
              <a:buChar char="■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76656" indent="-27432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accent1"/>
              </a:buClr>
              <a:buSzPct val="100000"/>
              <a:buFont typeface="Arial" panose="020B0604020202020204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05840" indent="-256032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2588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60000"/>
              <a:buFont typeface="Arial" panose="020B0604020202020204"/>
              <a:buChar char="■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4592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–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96596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8600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60000"/>
              <a:buFont typeface="Arial" panose="020B0604020202020204"/>
              <a:buChar char="■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60604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–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2608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sz="2200"/>
              <a:t>Segmentation as dense, per-pixel classification: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/>
              <p:cNvSpPr txBox="1"/>
              <p:nvPr/>
            </p:nvSpPr>
            <p:spPr>
              <a:xfrm>
                <a:off x="548640" y="2311635"/>
                <a:ext cx="11094415" cy="64008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a:rPr lang="en-US" sz="2310" i="1">
                              <a:latin typeface="Cambria Math"/>
                            </a:rPr>
                            <m:t>f</m:t>
                          </m:r>
                        </m:e>
                        <m:sub>
                          <m:r>
                            <a:rPr lang="en-US" sz="2310" i="1">
                              <a:latin typeface="Cambria Math"/>
                            </a:rPr>
                            <m:t>θ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:</m:t>
                      </m:r>
                      <m:sSup>
                        <m:e>
                          <m:r>
                            <m:rPr>
                              <m:scr m:val="double-struck"/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R</m:t>
                          </m:r>
                        </m:e>
                        <m:sup>
                          <m:r>
                            <a:rPr lang="en-US" sz="2310" i="1">
                              <a:latin typeface="Cambria Math"/>
                            </a:rPr>
                            <m:t>H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×</m:t>
                          </m:r>
                          <m:r>
                            <a:rPr lang="en-US" sz="2310" i="1">
                              <a:latin typeface="Cambria Math"/>
                            </a:rPr>
                            <m:t>W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×</m:t>
                          </m:r>
                          <m:r>
                            <a:rPr lang="en-US" sz="2310" i="0">
                              <a:latin typeface="Cambria Math"/>
                            </a:rP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→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{</m:t>
                      </m:r>
                      <m:r>
                        <a:rPr lang="en-US" sz="2310" i="0">
                          <a:latin typeface="Cambria Math"/>
                        </a:rPr>
                        <m:t>1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…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,</m:t>
                      </m:r>
                      <m:r>
                        <a:rPr lang="en-US" sz="2310" i="1">
                          <a:latin typeface="Cambria Math"/>
                        </a:rPr>
                        <m:t>C</m:t>
                      </m:r>
                      <m:sSup>
                        <m:e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}</m:t>
                          </m:r>
                        </m:e>
                        <m:sup>
                          <m:r>
                            <a:rPr lang="en-US" sz="2310" i="1">
                              <a:latin typeface="Cambria Math"/>
                            </a:rPr>
                            <m:t>H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×</m:t>
                          </m:r>
                          <m:r>
                            <a:rPr lang="en-US" sz="2310" i="1">
                              <a:latin typeface="Cambria Math"/>
                            </a:rPr>
                            <m:t>W</m:t>
                          </m:r>
                        </m:sup>
                      </m:sSup>
                    </m:oMath>
                  </m:oMathPara>
                </a14:m>
              </a:p>
            </p:txBody>
          </p:sp>
        </mc:Choice>
        <mc:Fallback>
          <p:sp>
            <p:nvSpPr>
              <p:cNvPr id="4" name="TextBox 3"/>
              <p:cNvSpPr txBox="1"/>
              <p:nvPr/>
            </p:nvSpPr>
            <p:spPr>
              <a:xfrm>
                <a:off x="548640" y="2311635"/>
                <a:ext cx="11094415" cy="64008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:r>
                  <a:rPr sz="2310" i="1"/>
                  <a:t>f_θ : ℝ^(H × W × 3) → 1, …, C^(H × W)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/>
              <p:cNvSpPr txBox="1"/>
              <p:nvPr/>
            </p:nvSpPr>
            <p:spPr>
              <a:xfrm>
                <a:off x="548640" y="3180315"/>
                <a:ext cx="11094415" cy="64008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a:rPr lang="en-US" sz="2310" i="1">
                                  <a:latin typeface="Cambria Math"/>
                                </a:rPr>
                                <m:t>y</m:t>
                              </m:r>
                            </m:e>
                          </m:acc>
                        </m:e>
                        <m:sub>
                          <m:r>
                            <a:rPr lang="en-US" sz="2310" i="1">
                              <a:latin typeface="Cambria Math"/>
                            </a:rP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max</m:t>
                          </m:r>
                        </m:e>
                        <m:lim>
                          <m:r>
                            <a:rPr lang="en-US" sz="2310" i="1">
                              <a:latin typeface="Cambria Math"/>
                            </a:rPr>
                            <m:t>c</m:t>
                          </m:r>
                        </m:lim>
                      </m:limLow>
                      <m:r>
                        <a:rPr lang="en-US" sz="2310" i="0">
                          <a:latin typeface="Cambria Math"/>
                        </a:rPr>
                        <m:t> </m:t>
                      </m:r>
                      <m:sSub>
                        <m:e>
                          <m:r>
                            <a:rPr lang="en-US" sz="2310" i="1">
                              <a:latin typeface="Cambria Math"/>
                            </a:rPr>
                            <m:t>p</m:t>
                          </m:r>
                        </m:e>
                        <m:sub>
                          <m:r>
                            <a:rPr lang="en-US" sz="2310" i="1">
                              <a:latin typeface="Cambria Math"/>
                            </a:rPr>
                            <m:t>θ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(</m:t>
                      </m:r>
                      <m:r>
                        <a:rPr lang="en-US" sz="2310" i="1">
                          <a:latin typeface="Cambria Math"/>
                        </a:rPr>
                        <m:t>c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∣</m:t>
                      </m:r>
                      <m:r>
                        <a:rPr lang="en-US" sz="2310" i="1">
                          <a:latin typeface="Cambria Math"/>
                        </a:rPr>
                        <m:t>x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,</m:t>
                      </m:r>
                      <m:r>
                        <a:rPr lang="en-US" sz="2310" i="1">
                          <a:latin typeface="Cambria Math"/>
                        </a:rPr>
                        <m:t>i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)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,</m:t>
                      </m:r>
                      <m:r>
                        <a:rPr lang="en-US" sz="2310" i="0">
                          <a:latin typeface="Cambria Math"/>
                        </a:rPr>
                        <m:t>  </m:t>
                      </m:r>
                      <m:r>
                        <a:rPr lang="en-US" sz="2310" i="1">
                          <a:latin typeface="Cambria Math"/>
                        </a:rPr>
                        <m:t>i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=</m:t>
                      </m:r>
                      <m:r>
                        <a:rPr lang="en-US" sz="2310" i="0">
                          <a:latin typeface="Cambria Math"/>
                        </a:rPr>
                        <m:t>1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…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,</m:t>
                      </m:r>
                      <m:r>
                        <a:rPr lang="en-US" sz="2310" i="1">
                          <a:latin typeface="Cambria Math"/>
                        </a:rPr>
                        <m:t>H</m:t>
                      </m:r>
                      <m:r>
                        <a:rPr lang="en-US" sz="2310" i="1">
                          <a:latin typeface="Cambria Math"/>
                        </a:rPr>
                        <m:t>W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5" name="TextBox 4"/>
              <p:cNvSpPr txBox="1"/>
              <p:nvPr/>
            </p:nvSpPr>
            <p:spPr>
              <a:xfrm>
                <a:off x="548640" y="3180315"/>
                <a:ext cx="11094415" cy="64008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:r>
                  <a:rPr sz="2310" i="1"/>
                  <a:t>hatyᵢ = argmax_c p_θ(c | x, i), i = 1, …, HW</a:t>
                </a:r>
              </a:p>
            </p:txBody>
          </p:sp>
        </mc:Fallback>
      </mc:AlternateContent>
      <p:grpSp>
        <p:nvGrpSpPr>
          <p:cNvPr id="8" name="Alertblock: Why it is hard"/>
          <p:cNvGrpSpPr/>
          <p:nvPr/>
        </p:nvGrpSpPr>
        <p:grpSpPr>
          <a:xfrm>
            <a:off x="548640" y="4048995"/>
            <a:ext cx="11094415" cy="1912658"/>
            <a:chOff x="548640" y="4048995"/>
            <a:chExt cx="11094415" cy="1912658"/>
          </a:xfrm>
        </p:grpSpPr>
        <p:sp>
          <p:nvSpPr>
            <p:cNvPr id="6" name="Rounded Rectangle 5"/>
            <p:cNvSpPr/>
            <p:nvPr/>
          </p:nvSpPr>
          <p:spPr>
            <a:xfrm>
              <a:off x="548640" y="4048995"/>
              <a:ext cx="11094415" cy="1912658"/>
            </a:xfrm>
            <a:prstGeom prst="roundRect">
              <a:avLst>
                <a:gd name="adj" fmla="val 4302"/>
              </a:avLst>
            </a:prstGeom>
            <a:solidFill>
              <a:schemeClr val="accent2">
                <a:lumMod val="15000"/>
                <a:lumOff val="85000"/>
              </a:schemeClr>
            </a:solidFill>
            <a:ln>
              <a:noFill/>
            </a:ln>
          </p:spPr>
          <p:txBody>
            <a:bodyPr rtlCol="0" anchor="t" wrap="square" lIns="137160" rIns="137160" tIns="556298" bIns="73152">
              <a:noAutofit/>
            </a:bodyPr>
            <a:lstStyle>
              <a:lvl1pPr marL="310896" indent="-310896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1"/>
                </a:buClr>
                <a:buSzPct val="60000"/>
                <a:buFont typeface="Arial" panose="020B0604020202020204"/>
                <a:buChar char="■"/>
                <a:defRPr sz="2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76656" indent="-274320" algn="l" defTabSz="914400" rtl="0" eaLnBrk="1" latinLnBrk="0" hangingPunct="1">
                <a:lnSpc>
                  <a:spcPct val="100000"/>
                </a:lnSpc>
                <a:spcBef>
                  <a:spcPts val="4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05840" indent="-256032" algn="l" defTabSz="914400" rtl="0" eaLnBrk="1" latinLnBrk="0" hangingPunct="1">
                <a:lnSpc>
                  <a:spcPct val="100000"/>
                </a:lnSpc>
                <a:spcBef>
                  <a:spcPts val="3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25880" indent="-237744" algn="l" defTabSz="914400" rtl="0" eaLnBrk="1" latinLnBrk="0" hangingPunct="1">
                <a:lnSpc>
                  <a:spcPct val="100000"/>
                </a:lnSpc>
                <a:spcBef>
                  <a:spcPts val="200"/>
                </a:spcBef>
                <a:buClr>
                  <a:schemeClr val="accent1"/>
                </a:buClr>
                <a:buSzPct val="60000"/>
                <a:buFont typeface="Arial" panose="020B0604020202020204"/>
                <a:buChar char="■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645920" indent="-237744" algn="l" defTabSz="914400" rtl="0" eaLnBrk="1" latinLnBrk="0" hangingPunct="1">
                <a:lnSpc>
                  <a:spcPct val="100000"/>
                </a:lnSpc>
                <a:spcBef>
                  <a:spcPts val="2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–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965960" indent="-237744" algn="l" defTabSz="914400" rtl="0" eaLnBrk="1" latinLnBrk="0" hangingPunct="1">
                <a:lnSpc>
                  <a:spcPct val="100000"/>
                </a:lnSpc>
                <a:spcBef>
                  <a:spcPts val="2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286000" indent="-237744" algn="l" defTabSz="914400" rtl="0" eaLnBrk="1" latinLnBrk="0" hangingPunct="1">
                <a:lnSpc>
                  <a:spcPct val="100000"/>
                </a:lnSpc>
                <a:spcBef>
                  <a:spcPts val="200"/>
                </a:spcBef>
                <a:buClr>
                  <a:schemeClr val="accent1"/>
                </a:buClr>
                <a:buSzPct val="60000"/>
                <a:buFont typeface="Arial" panose="020B0604020202020204"/>
                <a:buChar char="■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606040" indent="-237744" algn="l" defTabSz="914400" rtl="0" eaLnBrk="1" latinLnBrk="0" hangingPunct="1">
                <a:lnSpc>
                  <a:spcPct val="100000"/>
                </a:lnSpc>
                <a:spcBef>
                  <a:spcPts val="2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–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926080" indent="-237744" algn="l" defTabSz="914400" rtl="0" eaLnBrk="1" latinLnBrk="0" hangingPunct="1">
                <a:lnSpc>
                  <a:spcPct val="100000"/>
                </a:lnSpc>
                <a:spcBef>
                  <a:spcPts val="2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sz="1980"/>
                <a:t>Needs global context (</a:t>
              </a:r>
              <a:r>
                <a:rPr sz="1980" i="1"/>
                <a:t>what</a:t>
              </a:r>
              <a:r>
                <a:rPr sz="1980"/>
                <a:t>) and fine localisation (</a:t>
              </a:r>
              <a:r>
                <a:rPr sz="1980" i="1"/>
                <a:t>where</a:t>
              </a:r>
              <a:r>
                <a:rPr sz="1980"/>
                <a:t>) at once</a:t>
              </a:r>
            </a:p>
            <a:p>
              <a:pPr algn="l"/>
              <a:r>
                <a:rPr sz="1980"/>
                <a:t>Class imbalance - road pixels vastly outnumber pedestrians</a:t>
              </a:r>
            </a:p>
            <a:p>
              <a:pPr algn="l"/>
              <a:r>
                <a:rPr sz="1980"/>
                <a:t>Dense labels are expensive to annotate</a:t>
              </a:r>
            </a:p>
          </p:txBody>
        </p:sp>
        <p:sp>
          <p:nvSpPr>
            <p:cNvPr id="7" name="Round Same Side Corner Rectangle 6"/>
            <p:cNvSpPr/>
            <p:nvPr/>
          </p:nvSpPr>
          <p:spPr>
            <a:xfrm>
              <a:off x="548640" y="4048995"/>
              <a:ext cx="11094415" cy="483146"/>
            </a:xfrm>
            <a:prstGeom prst="round2SameRect">
              <a:avLst>
                <a:gd name="adj1" fmla="val 17033"/>
                <a:gd name="adj2" fmla="val 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137160" rIns="137160" tIns="18288" bIns="18288"/>
            <a:lstStyle/>
            <a:p>
              <a:pPr algn="l"/>
              <a:r>
                <a:rPr sz="2079" b="1">
                  <a:solidFill>
                    <a:schemeClr val="bg1"/>
                  </a:solidFill>
                </a:rPr>
                <a:t>Why it is hard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Classical methods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/>
              <a:t>Intensity, regions, clusters and graphs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Thresholding and Otsu's method</a:t>
            </a:r>
          </a:p>
        </p:txBody>
      </p:sp>
      <p:pic>
        <p:nvPicPr>
          <p:cNvPr id="3" name="Plot: Count (x1000)" descr="line plot: Count (x1000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5900760" cy="3840480"/>
          </a:xfrm>
          <a:prstGeom prst="rect">
            <a:avLst/>
          </a:prstGeom>
        </p:spPr>
      </p:pic>
      <p:sp>
        <p:nvSpPr>
          <p:cNvPr id="4" name="Caption"/>
          <p:cNvSpPr txBox="1"/>
          <p:nvPr/>
        </p:nvSpPr>
        <p:spPr>
          <a:xfrm>
            <a:off x="548640" y="5532120"/>
            <a:ext cx="5900760" cy="365760"/>
          </a:xfrm>
          <a:prstGeom prst="rect">
            <a:avLst/>
          </a:prstGeom>
          <a:noFill/>
        </p:spPr>
        <p:txBody>
          <a:bodyPr wrap="square" anchor="t" lIns="18288" rIns="18288" tIns="36576" bIns="36576">
            <a:spAutoFit/>
          </a:bodyPr>
          <a:lstStyle/>
          <a:p>
            <a:pPr marL="0" indent="0" algn="ctr">
              <a:buNone/>
            </a:pPr>
            <a:r>
              <a:rPr sz="1450" i="1">
                <a:solidFill>
                  <a:schemeClr val="tx1">
                    <a:lumMod val="55000"/>
                    <a:lumOff val="45000"/>
                  </a:schemeClr>
                </a:solidFill>
              </a:rPr>
              <a:t>Sample bimodal histogram - Otsu picks t* near the valley (~120)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15160" y="1856232"/>
            <a:ext cx="4827895" cy="729488"/>
          </a:xfrm>
          <a:prstGeom prst="rect">
            <a:avLst/>
          </a:prstGeom>
          <a:noFill/>
        </p:spPr>
        <p:txBody>
          <a:bodyPr wrap="square" anchor="t" lIns="18288" rIns="18288" tIns="36576" bIns="36576">
            <a:spAutoFit/>
          </a:bodyPr>
          <a:lstStyle>
            <a:lvl1pPr marL="310896" indent="-310896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1"/>
              </a:buClr>
              <a:buSzPct val="60000"/>
              <a:buFont typeface="Arial" panose="020B0604020202020204"/>
              <a:buChar char="■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76656" indent="-27432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accent1"/>
              </a:buClr>
              <a:buSzPct val="100000"/>
              <a:buFont typeface="Arial" panose="020B0604020202020204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05840" indent="-256032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2588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60000"/>
              <a:buFont typeface="Arial" panose="020B0604020202020204"/>
              <a:buChar char="■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4592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–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96596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8600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60000"/>
              <a:buFont typeface="Arial" panose="020B0604020202020204"/>
              <a:buChar char="■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60604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–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2608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sz="1700"/>
              <a:t>Pick the threshold that best separates two classes: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6815160" y="2814320"/>
                <a:ext cx="4827895" cy="64008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a:rPr lang="en-US" sz="2310" i="1">
                              <a:latin typeface="Cambria Math"/>
                            </a:rPr>
                            <m:t>σ</m:t>
                          </m:r>
                        </m:e>
                        <m:sub>
                          <m:r>
                            <a:rPr lang="en-US" sz="2310" i="1">
                              <a:latin typeface="Cambria Math"/>
                            </a:rPr>
                            <m:t>B</m:t>
                          </m:r>
                        </m:sub>
                        <m:sup>
                          <m:r>
                            <a:rPr lang="en-US" sz="2310" i="0">
                              <a:latin typeface="Cambria Math"/>
                            </a:rP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(</m:t>
                      </m:r>
                      <m:r>
                        <a:rPr lang="en-US" sz="2310" i="1">
                          <a:latin typeface="Cambria Math"/>
                        </a:rPr>
                        <m:t>t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)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=</m:t>
                      </m:r>
                      <m:sSub>
                        <m:e>
                          <m:r>
                            <a:rPr lang="en-US" sz="2310" i="1">
                              <a:latin typeface="Cambria Math"/>
                            </a:rPr>
                            <m:t>ω</m:t>
                          </m:r>
                        </m:e>
                        <m:sub>
                          <m:r>
                            <a:rPr lang="en-US" sz="2310" i="0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(</m:t>
                      </m:r>
                      <m:r>
                        <a:rPr lang="en-US" sz="2310" i="1">
                          <a:latin typeface="Cambria Math"/>
                        </a:rPr>
                        <m:t>t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)</m:t>
                      </m:r>
                      <m:r>
                        <a:rPr lang="en-US" sz="2310" i="0">
                          <a:latin typeface="Cambria Math"/>
                        </a:rPr>
                        <m:t> </m:t>
                      </m:r>
                      <m:sSub>
                        <m:e>
                          <m:r>
                            <a:rPr lang="en-US" sz="2310" i="1">
                              <a:latin typeface="Cambria Math"/>
                            </a:rPr>
                            <m:t>ω</m:t>
                          </m:r>
                        </m:e>
                        <m:sub>
                          <m:r>
                            <a:rPr lang="en-US" sz="2310" i="0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(</m:t>
                      </m:r>
                      <m:r>
                        <a:rPr lang="en-US" sz="2310" i="1">
                          <a:latin typeface="Cambria Math"/>
                        </a:rPr>
                        <m:t>t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)</m:t>
                      </m:r>
                      <m:r>
                        <a:rPr lang="en-US" sz="2310" i="0">
                          <a:latin typeface="Cambria Math"/>
                        </a:rPr>
                        <m:t> 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[</m:t>
                      </m:r>
                      <m:sSub>
                        <m:e>
                          <m:r>
                            <a:rPr lang="en-US" sz="2310" i="1">
                              <a:latin typeface="Cambria Math"/>
                            </a:rPr>
                            <m:t>μ</m:t>
                          </m:r>
                        </m:e>
                        <m:sub>
                          <m:r>
                            <a:rPr lang="en-US" sz="2310" i="0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(</m:t>
                      </m:r>
                      <m:r>
                        <a:rPr lang="en-US" sz="2310" i="1">
                          <a:latin typeface="Cambria Math"/>
                        </a:rPr>
                        <m:t>t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)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−</m:t>
                      </m:r>
                      <m:sSub>
                        <m:e>
                          <m:r>
                            <a:rPr lang="en-US" sz="2310" i="1">
                              <a:latin typeface="Cambria Math"/>
                            </a:rPr>
                            <m:t>μ</m:t>
                          </m:r>
                        </m:e>
                        <m:sub>
                          <m:r>
                            <a:rPr lang="en-US" sz="2310" i="0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(</m:t>
                      </m:r>
                      <m:r>
                        <a:rPr lang="en-US" sz="2310" i="1">
                          <a:latin typeface="Cambria Math"/>
                        </a:rPr>
                        <m:t>t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)</m:t>
                      </m:r>
                      <m:sSup>
                        <m:e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]</m:t>
                          </m:r>
                        </m:e>
                        <m:sup>
                          <m:r>
                            <a:rPr lang="en-US" sz="2310" i="0">
                              <a:latin typeface="Cambria Math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6815160" y="2814320"/>
                <a:ext cx="4827895" cy="64008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:r>
                  <a:rPr sz="2310" i="1"/>
                  <a:t>σ_B²(t) = ω₀(t) ω₁(t) [μ₀(t) − μ₁(t)]²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6815160" y="3683000"/>
                <a:ext cx="4827895" cy="64008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a:rPr lang="en-US" sz="2310" i="1">
                              <a:latin typeface="Cambria Math"/>
                            </a:rPr>
                            <m:t>t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*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max</m:t>
                          </m:r>
                        </m:e>
                        <m:lim>
                          <m:r>
                            <a:rPr lang="en-US" sz="2310" i="1">
                              <a:latin typeface="Cambria Math"/>
                            </a:rPr>
                            <m:t>t</m:t>
                          </m:r>
                        </m:lim>
                      </m:limLow>
                      <m:r>
                        <a:rPr lang="en-US" sz="2310" i="0">
                          <a:latin typeface="Cambria Math"/>
                        </a:rPr>
                        <m:t> </m:t>
                      </m:r>
                      <m:sSubSup>
                        <m:e>
                          <m:r>
                            <a:rPr lang="en-US" sz="2310" i="1">
                              <a:latin typeface="Cambria Math"/>
                            </a:rPr>
                            <m:t>σ</m:t>
                          </m:r>
                        </m:e>
                        <m:sub>
                          <m:r>
                            <a:rPr lang="en-US" sz="2310" i="1">
                              <a:latin typeface="Cambria Math"/>
                            </a:rPr>
                            <m:t>B</m:t>
                          </m:r>
                        </m:sub>
                        <m:sup>
                          <m:r>
                            <a:rPr lang="en-US" sz="2310" i="0">
                              <a:latin typeface="Cambria Math"/>
                            </a:rP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(</m:t>
                      </m:r>
                      <m:r>
                        <a:rPr lang="en-US" sz="2310" i="1">
                          <a:latin typeface="Cambria Math"/>
                        </a:rPr>
                        <m:t>t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)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6815160" y="3683000"/>
                <a:ext cx="4827895" cy="64008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:r>
                  <a:rPr sz="2310" i="1"/>
                  <a:t>t^ast = argmax_t σ_B²(t)</a:t>
                </a:r>
              </a:p>
            </p:txBody>
          </p:sp>
        </mc:Fallback>
      </mc:AlternateContent>
      <p:sp>
        <p:nvSpPr>
          <p:cNvPr id="8" name="TextBox 7"/>
          <p:cNvSpPr txBox="1"/>
          <p:nvPr/>
        </p:nvSpPr>
        <p:spPr>
          <a:xfrm>
            <a:off x="6815160" y="4551680"/>
            <a:ext cx="4827895" cy="1090168"/>
          </a:xfrm>
          <a:prstGeom prst="rect">
            <a:avLst/>
          </a:prstGeom>
          <a:noFill/>
        </p:spPr>
        <p:txBody>
          <a:bodyPr wrap="square" anchor="t" lIns="18288" rIns="18288" tIns="36576" bIns="36576">
            <a:spAutoFit/>
          </a:bodyPr>
          <a:lstStyle>
            <a:lvl1pPr marL="310896" indent="-310896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1"/>
              </a:buClr>
              <a:buSzPct val="60000"/>
              <a:buFont typeface="Arial" panose="020B0604020202020204"/>
              <a:buChar char="■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76656" indent="-27432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accent1"/>
              </a:buClr>
              <a:buSzPct val="100000"/>
              <a:buFont typeface="Arial" panose="020B0604020202020204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05840" indent="-256032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2588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60000"/>
              <a:buFont typeface="Arial" panose="020B0604020202020204"/>
              <a:buChar char="■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4592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–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96596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8600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60000"/>
              <a:buFont typeface="Arial" panose="020B0604020202020204"/>
              <a:buChar char="■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60604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–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2608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/>
            <a:r>
              <a:rPr sz="1700"/>
              <a:t>Fast, parameter-free</a:t>
            </a:r>
          </a:p>
          <a:p>
            <a:pPr/>
            <a:r>
              <a:rPr sz="1700"/>
              <a:t>Fails on uneven lighting - use adaptive thresholds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Region-based methods</a:t>
            </a:r>
          </a:p>
        </p:txBody>
      </p:sp>
      <p:sp>
        <p:nvSpPr>
          <p:cNvPr id="3" name="Placeholder: Region growing" descr="Placeholder - Region growing"/>
          <p:cNvSpPr/>
          <p:nvPr/>
        </p:nvSpPr>
        <p:spPr>
          <a:xfrm>
            <a:off x="816856" y="1408735"/>
            <a:ext cx="4827895" cy="3620921"/>
          </a:xfrm>
          <a:prstGeom prst="rect">
            <a:avLst/>
          </a:prstGeom>
          <a:solidFill>
            <a:schemeClr val="tx1">
              <a:lumMod val="7000"/>
              <a:lumOff val="93000"/>
            </a:schemeClr>
          </a:solidFill>
          <a:ln w="15875">
            <a:solidFill>
              <a:schemeClr val="tx1">
                <a:lumMod val="45000"/>
                <a:lumOff val="55000"/>
              </a:schemeClr>
            </a:solidFill>
            <a:prstDash val="dash"/>
          </a:ln>
        </p:spPr>
        <p:txBody>
          <a:bodyPr rtlCol="0" anchor="ctr" wrap="square" lIns="137160" rIns="137160" tIns="137160" bIns="137160"/>
          <a:lstStyle/>
          <a:p>
            <a:pPr algn="ctr" marL="0" indent="0">
              <a:buNone/>
            </a:pPr>
            <a:r>
              <a:rPr sz="1760" b="1">
                <a:solidFill>
                  <a:schemeClr val="tx1">
                    <a:lumMod val="55000"/>
                    <a:lumOff val="45000"/>
                  </a:schemeClr>
                </a:solidFill>
              </a:rPr>
              <a:t>Region growing</a:t>
            </a:r>
          </a:p>
          <a:p>
            <a:pPr algn="ctr"/>
            <a:r>
              <a:rPr sz="1320">
                <a:solidFill>
                  <a:schemeClr val="tx1">
                    <a:lumMod val="55000"/>
                    <a:lumOff val="45000"/>
                  </a:schemeClr>
                </a:solidFill>
              </a:rPr>
              <a:t>seed pixel expands to similar neighbours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/>
              <p:cNvSpPr txBox="1"/>
              <p:nvPr/>
            </p:nvSpPr>
            <p:spPr>
              <a:xfrm>
                <a:off x="548640" y="5258257"/>
                <a:ext cx="5364327" cy="831088"/>
              </a:xfrm>
              <a:prstGeom prst="rect">
                <a:avLst/>
              </a:prstGeom>
              <a:noFill/>
            </p:spPr>
            <p:txBody>
              <a:bodyPr wrap="square" anchor="t" lIns="18288" rIns="18288" tIns="36576" bIns="36576">
                <a:spAutoFit/>
              </a:bodyPr>
              <a:lstStyle>
                <a:lvl1pPr marL="310896" indent="-310896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accent1"/>
                  </a:buClr>
                  <a:buSzPct val="60000"/>
                  <a:buFont typeface="Arial" panose="020B0604020202020204"/>
                  <a:buChar char="■"/>
                  <a:defRPr sz="2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76656" indent="-27432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05840" indent="-256032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258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60000"/>
                  <a:buFont typeface="Arial" panose="020B0604020202020204"/>
                  <a:buChar char="■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64592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96596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8600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60000"/>
                  <a:buFont typeface="Arial" panose="020B0604020202020204"/>
                  <a:buChar char="■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60604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260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/>
                <a:r>
                  <a:rPr sz="1700"/>
                  <a:t>Grow from seeds while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700" i="0">
                        <a:latin typeface="Cambria Math"/>
                      </a:rPr>
                      <m:t>|</m:t>
                    </m:r>
                    <m:r>
                      <a:rPr lang="en-US" sz="1700" i="1">
                        <a:latin typeface="Cambria Math"/>
                      </a:rPr>
                      <m:t>I</m:t>
                    </m:r>
                    <m:r>
                      <m:rPr>
                        <m:sty m:val="p"/>
                      </m:rPr>
                      <a:rPr lang="en-US" sz="1700" i="0">
                        <a:latin typeface="Cambria Math"/>
                      </a:rPr>
                      <m:t>(</m:t>
                    </m:r>
                    <m:r>
                      <a:rPr lang="en-US" sz="1700" i="1">
                        <a:latin typeface="Cambria Math"/>
                      </a:rPr>
                      <m:t>p</m:t>
                    </m:r>
                    <m:r>
                      <m:rPr>
                        <m:sty m:val="p"/>
                      </m:rPr>
                      <a:rPr lang="en-US" sz="1700" i="0">
                        <a:latin typeface="Cambria Math"/>
                      </a:rPr>
                      <m:t>)</m:t>
                    </m:r>
                    <m:r>
                      <m:rPr>
                        <m:sty m:val="p"/>
                      </m:rPr>
                      <a:rPr lang="en-US" sz="1700" i="0">
                        <a:latin typeface="Cambria Math"/>
                      </a:rPr>
                      <m:t>−</m:t>
                    </m:r>
                    <m:sSub>
                      <m:e>
                        <m:r>
                          <a:rPr lang="en-US" sz="1700" i="1">
                            <a:latin typeface="Cambria Math"/>
                          </a:rPr>
                          <m:t>μ</m:t>
                        </m:r>
                      </m:e>
                      <m:sub>
                        <m:r>
                          <a:rPr lang="en-US" sz="1700" i="1">
                            <a:latin typeface="Cambria Math"/>
                          </a:rPr>
                          <m:t>R</m:t>
                        </m:r>
                      </m:sub>
                    </m:sSub>
                    <m:r>
                      <m:rPr>
                        <m:sty m:val="p"/>
                      </m:rPr>
                      <a:rPr lang="en-US" sz="1700" i="0">
                        <a:latin typeface="Cambria Math"/>
                      </a:rPr>
                      <m:t>|</m:t>
                    </m:r>
                    <m:r>
                      <m:rPr>
                        <m:sty m:val="p"/>
                      </m:rPr>
                      <a:rPr lang="en-US" sz="1700" i="0">
                        <a:latin typeface="Cambria Math"/>
                      </a:rPr>
                      <m:t>&lt;</m:t>
                    </m:r>
                    <m:r>
                      <a:rPr lang="en-US" sz="1700" i="1">
                        <a:latin typeface="Cambria Math"/>
                      </a:rPr>
                      <m:t>τ</m:t>
                    </m:r>
                  </m:oMath>
                </a14:m>
              </a:p>
              <a:p>
                <a:pPr/>
                <a:r>
                  <a:rPr sz="1700"/>
                  <a:t>Split-and-merge on a quadtree</a:t>
                </a:r>
              </a:p>
            </p:txBody>
          </p:sp>
        </mc:Choice>
        <mc:Fallback>
          <p:sp>
            <p:nvSpPr>
              <p:cNvPr id="4" name="TextBox 3"/>
              <p:cNvSpPr txBox="1"/>
              <p:nvPr/>
            </p:nvSpPr>
            <p:spPr>
              <a:xfrm>
                <a:off x="548640" y="5258257"/>
                <a:ext cx="5364327" cy="831088"/>
              </a:xfrm>
              <a:prstGeom prst="rect">
                <a:avLst/>
              </a:prstGeom>
              <a:noFill/>
            </p:spPr>
            <p:txBody>
              <a:bodyPr wrap="square" anchor="t" lIns="18288" rIns="18288" tIns="36576" bIns="36576">
                <a:spAutoFit/>
              </a:bodyPr>
              <a:lstStyle>
                <a:lvl1pPr marL="310896" indent="-310896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accent1"/>
                  </a:buClr>
                  <a:buSzPct val="60000"/>
                  <a:buFont typeface="Arial" panose="020B0604020202020204"/>
                  <a:buChar char="■"/>
                  <a:defRPr sz="2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76656" indent="-27432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05840" indent="-256032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258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60000"/>
                  <a:buFont typeface="Arial" panose="020B0604020202020204"/>
                  <a:buChar char="■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64592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96596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8600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60000"/>
                  <a:buFont typeface="Arial" panose="020B0604020202020204"/>
                  <a:buChar char="■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60604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260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/>
                <a:r>
                  <a:rPr sz="1700"/>
                  <a:t>Grow from seeds while </a:t>
                </a:r>
                <a:r>
                  <a:rPr sz="1700" i="1"/>
                  <a:t>|I(p) − μ_R| &lt; τ</a:t>
                </a:r>
              </a:p>
              <a:p>
                <a:pPr/>
                <a:r>
                  <a:rPr sz="1700"/>
                  <a:t>Split-and-merge on a quadtree</a:t>
                </a:r>
              </a:p>
            </p:txBody>
          </p:sp>
        </mc:Fallback>
      </mc:AlternateContent>
      <p:sp>
        <p:nvSpPr>
          <p:cNvPr id="5" name="Placeholder: Watershed" descr="Placeholder - Watershed"/>
          <p:cNvSpPr/>
          <p:nvPr/>
        </p:nvSpPr>
        <p:spPr>
          <a:xfrm>
            <a:off x="6546944" y="1408735"/>
            <a:ext cx="4827895" cy="3620921"/>
          </a:xfrm>
          <a:prstGeom prst="rect">
            <a:avLst/>
          </a:prstGeom>
          <a:solidFill>
            <a:schemeClr val="tx1">
              <a:lumMod val="7000"/>
              <a:lumOff val="93000"/>
            </a:schemeClr>
          </a:solidFill>
          <a:ln w="15875">
            <a:solidFill>
              <a:schemeClr val="tx1">
                <a:lumMod val="45000"/>
                <a:lumOff val="55000"/>
              </a:schemeClr>
            </a:solidFill>
            <a:prstDash val="dash"/>
          </a:ln>
        </p:spPr>
        <p:txBody>
          <a:bodyPr rtlCol="0" anchor="ctr" wrap="square" lIns="137160" rIns="137160" tIns="137160" bIns="137160"/>
          <a:lstStyle/>
          <a:p>
            <a:pPr algn="ctr" marL="0" indent="0">
              <a:buNone/>
            </a:pPr>
            <a:r>
              <a:rPr sz="1760" b="1">
                <a:solidFill>
                  <a:schemeClr val="tx1">
                    <a:lumMod val="55000"/>
                    <a:lumOff val="45000"/>
                  </a:schemeClr>
                </a:solidFill>
              </a:rPr>
              <a:t>Watershed</a:t>
            </a:r>
          </a:p>
          <a:p>
            <a:pPr algn="ctr"/>
            <a:r>
              <a:rPr sz="1320">
                <a:solidFill>
                  <a:schemeClr val="tx1">
                    <a:lumMod val="55000"/>
                    <a:lumOff val="45000"/>
                  </a:schemeClr>
                </a:solidFill>
              </a:rPr>
              <a:t>gradient magnitude as terrain, flooding from minima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78727" y="5258257"/>
            <a:ext cx="5364327" cy="831088"/>
          </a:xfrm>
          <a:prstGeom prst="rect">
            <a:avLst/>
          </a:prstGeom>
          <a:noFill/>
        </p:spPr>
        <p:txBody>
          <a:bodyPr wrap="square" anchor="t" lIns="18288" rIns="18288" tIns="36576" bIns="36576">
            <a:spAutoFit/>
          </a:bodyPr>
          <a:lstStyle>
            <a:lvl1pPr marL="310896" indent="-310896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1"/>
              </a:buClr>
              <a:buSzPct val="60000"/>
              <a:buFont typeface="Arial" panose="020B0604020202020204"/>
              <a:buChar char="■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76656" indent="-27432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accent1"/>
              </a:buClr>
              <a:buSzPct val="100000"/>
              <a:buFont typeface="Arial" panose="020B0604020202020204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05840" indent="-256032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2588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60000"/>
              <a:buFont typeface="Arial" panose="020B0604020202020204"/>
              <a:buChar char="■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4592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–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96596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8600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60000"/>
              <a:buFont typeface="Arial" panose="020B0604020202020204"/>
              <a:buChar char="■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60604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–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2608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/>
            <a:r>
              <a:rPr sz="1700"/>
              <a:t>Flood the gradient image from markers</a:t>
            </a:r>
          </a:p>
          <a:p>
            <a:pPr/>
            <a:r>
              <a:rPr sz="1700"/>
              <a:t>Over-segments without marker control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Clustering in feature space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/>
              <p:cNvSpPr txBox="1"/>
              <p:nvPr/>
            </p:nvSpPr>
            <p:spPr>
              <a:xfrm>
                <a:off x="548640" y="1635538"/>
                <a:ext cx="11094415" cy="546608"/>
              </a:xfrm>
              <a:prstGeom prst="rect">
                <a:avLst/>
              </a:prstGeom>
              <a:noFill/>
            </p:spPr>
            <p:txBody>
              <a:bodyPr wrap="square" anchor="t" lIns="18288" rIns="18288" tIns="36576" bIns="36576">
                <a:spAutoFit/>
              </a:bodyPr>
              <a:lstStyle>
                <a:lvl1pPr marL="310896" indent="-310896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accent1"/>
                  </a:buClr>
                  <a:buSzPct val="60000"/>
                  <a:buFont typeface="Arial" panose="020B0604020202020204"/>
                  <a:buChar char="■"/>
                  <a:defRPr sz="2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76656" indent="-27432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05840" indent="-256032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258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60000"/>
                  <a:buFont typeface="Arial" panose="020B0604020202020204"/>
                  <a:buChar char="■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64592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96596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8600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60000"/>
                  <a:buFont typeface="Arial" panose="020B0604020202020204"/>
                  <a:buChar char="■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60604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260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sz="2200"/>
                  <a:t>Treat each pixel as a feature vector, e.g.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00" i="0">
                        <a:latin typeface="Cambria Math"/>
                      </a:rPr>
                      <m:t>(</m:t>
                    </m:r>
                    <m:r>
                      <a:rPr lang="en-US" sz="2200" i="1">
                        <a:latin typeface="Cambria Math"/>
                      </a:rPr>
                      <m:t>L</m:t>
                    </m:r>
                    <m:r>
                      <m:rPr>
                        <m:sty m:val="p"/>
                      </m:rPr>
                      <a:rPr lang="en-US" sz="2200" i="0">
                        <a:latin typeface="Cambria Math"/>
                      </a:rPr>
                      <m:t>,</m:t>
                    </m:r>
                    <m:r>
                      <a:rPr lang="en-US" sz="2200" i="1">
                        <a:latin typeface="Cambria Math"/>
                      </a:rPr>
                      <m:t>a</m:t>
                    </m:r>
                    <m:r>
                      <m:rPr>
                        <m:sty m:val="p"/>
                      </m:rPr>
                      <a:rPr lang="en-US" sz="2200" i="0">
                        <a:latin typeface="Cambria Math"/>
                      </a:rPr>
                      <m:t>,</m:t>
                    </m:r>
                    <m:r>
                      <a:rPr lang="en-US" sz="2200" i="1">
                        <a:latin typeface="Cambria Math"/>
                      </a:rPr>
                      <m:t>b</m:t>
                    </m:r>
                    <m:r>
                      <m:rPr>
                        <m:sty m:val="p"/>
                      </m:rPr>
                      <a:rPr lang="en-US" sz="2200" i="0">
                        <a:latin typeface="Cambria Math"/>
                      </a:rPr>
                      <m:t>,</m:t>
                    </m:r>
                    <m:r>
                      <a:rPr lang="en-US" sz="2200" i="1">
                        <a:latin typeface="Cambria Math"/>
                      </a:rPr>
                      <m:t>x</m:t>
                    </m:r>
                    <m:r>
                      <m:rPr>
                        <m:sty m:val="p"/>
                      </m:rPr>
                      <a:rPr lang="en-US" sz="2200" i="0">
                        <a:latin typeface="Cambria Math"/>
                      </a:rPr>
                      <m:t>,</m:t>
                    </m:r>
                    <m:r>
                      <a:rPr lang="en-US" sz="2200" i="1">
                        <a:latin typeface="Cambria Math"/>
                      </a:rPr>
                      <m:t>y</m:t>
                    </m:r>
                    <m:r>
                      <m:rPr>
                        <m:sty m:val="p"/>
                      </m:rPr>
                      <a:rPr lang="en-US" sz="2200" i="0">
                        <a:latin typeface="Cambria Math"/>
                      </a:rPr>
                      <m:t>)</m:t>
                    </m:r>
                  </m:oMath>
                </a14:m>
                <a:r>
                  <a:rPr sz="2200"/>
                  <a:t>, and cluster:</a:t>
                </a:r>
              </a:p>
            </p:txBody>
          </p:sp>
        </mc:Choice>
        <mc:Fallback>
          <p:sp>
            <p:nvSpPr>
              <p:cNvPr id="3" name="TextBox 2"/>
              <p:cNvSpPr txBox="1"/>
              <p:nvPr/>
            </p:nvSpPr>
            <p:spPr>
              <a:xfrm>
                <a:off x="548640" y="1635538"/>
                <a:ext cx="11094415" cy="546608"/>
              </a:xfrm>
              <a:prstGeom prst="rect">
                <a:avLst/>
              </a:prstGeom>
              <a:noFill/>
            </p:spPr>
            <p:txBody>
              <a:bodyPr wrap="square" anchor="t" lIns="18288" rIns="18288" tIns="36576" bIns="36576">
                <a:spAutoFit/>
              </a:bodyPr>
              <a:lstStyle>
                <a:lvl1pPr marL="310896" indent="-310896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accent1"/>
                  </a:buClr>
                  <a:buSzPct val="60000"/>
                  <a:buFont typeface="Arial" panose="020B0604020202020204"/>
                  <a:buChar char="■"/>
                  <a:defRPr sz="2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76656" indent="-27432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05840" indent="-256032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258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60000"/>
                  <a:buFont typeface="Arial" panose="020B0604020202020204"/>
                  <a:buChar char="■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64592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96596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8600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60000"/>
                  <a:buFont typeface="Arial" panose="020B0604020202020204"/>
                  <a:buChar char="■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60604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260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sz="2200"/>
                  <a:t>Treat each pixel as a feature vector, e.g. </a:t>
                </a:r>
                <a:r>
                  <a:rPr sz="2200" i="1"/>
                  <a:t>(L, a, b, x, y)</a:t>
                </a:r>
                <a:r>
                  <a:rPr sz="2200"/>
                  <a:t>, and cluster: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/>
              <p:cNvSpPr txBox="1"/>
              <p:nvPr/>
            </p:nvSpPr>
            <p:spPr>
              <a:xfrm>
                <a:off x="548640" y="2410746"/>
                <a:ext cx="11094415" cy="96012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limLow>
                        <m:e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min</m:t>
                          </m:r>
                        </m:e>
                        <m:lim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{</m:t>
                          </m:r>
                          <m:sSub>
                            <m:e>
                              <m:r>
                                <a:rPr lang="en-US" sz="2310" i="1">
                                  <a:latin typeface="Cambria Math"/>
                                </a:rPr>
                                <m:t>C</m:t>
                              </m:r>
                            </m:e>
                            <m:sub>
                              <m:r>
                                <a:rPr lang="en-US" sz="2310" i="1">
                                  <a:latin typeface="Cambria Math"/>
                                </a:rP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}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{</m:t>
                          </m:r>
                          <m:sSub>
                            <m:e>
                              <m:r>
                                <a:rPr lang="en-US" sz="2310" i="1">
                                  <a:latin typeface="Cambria Math"/>
                                </a:rPr>
                                <m:t>μ</m:t>
                              </m:r>
                            </m:e>
                            <m:sub>
                              <m:r>
                                <a:rPr lang="en-US" sz="2310" i="1">
                                  <a:latin typeface="Cambria Math"/>
                                </a:rP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}</m:t>
                          </m:r>
                        </m:lim>
                      </m:limLow>
                      <m:r>
                        <a:rPr lang="en-US" sz="2310" i="0">
                          <a:latin typeface="Cambria Math"/>
                        </a:rPr>
                        <m:t> 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a:rPr lang="en-US" sz="2310" i="1">
                              <a:latin typeface="Cambria Math"/>
                            </a:rPr>
                            <m:t>k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=</m:t>
                          </m:r>
                          <m:r>
                            <a:rPr lang="en-US" sz="2310" i="0">
                              <a:latin typeface="Cambria Math"/>
                            </a:rPr>
                            <m:t>1</m:t>
                          </m:r>
                        </m:sub>
                        <m:sup>
                          <m:r>
                            <a:rPr lang="en-US" sz="2310" i="1">
                              <a:latin typeface="Cambria Math"/>
                            </a:rPr>
                            <m:t>K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sSub>
                                <m:e>
                                  <m:r>
                                    <a:rPr lang="en-US" sz="2310" i="1">
                                      <a:latin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en-US" sz="2310" i="1">
                                      <a:latin typeface="Cambria Math"/>
                                    </a:rP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en-US" sz="2310" i="0">
                                  <a:latin typeface="Cambria Math"/>
                                </a:rPr>
                                <m:t>∈</m:t>
                              </m:r>
                              <m:sSub>
                                <m:e>
                                  <m:r>
                                    <a:rPr lang="en-US" sz="2310" i="1">
                                      <a:latin typeface="Cambria Math"/>
                                    </a:rPr>
                                    <m:t>C</m:t>
                                  </m:r>
                                </m:e>
                                <m:sub>
                                  <m:r>
                                    <a:rPr lang="en-US" sz="2310" i="1">
                                      <a:latin typeface="Cambria Math"/>
                                    </a:rPr>
                                    <m:t>k</m:t>
                                  </m:r>
                                </m:sub>
                              </m:sSub>
                            </m:sub>
                            <m:sup>
                              <m:r>
                                <a:rPr lang="en-US" sz="2310" i="0">
                                  <a:latin typeface="Cambria Math"/>
                                </a:rPr>
                                <m:t>​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‖"/>
                                      <m:sepChr m:val=""/>
                                      <m:endChr m:val="‖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a:rPr lang="en-US" sz="2310" i="1">
                                              <a:latin typeface="Cambria Math"/>
                                            </a:rP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a:rPr lang="en-US" sz="2310" i="1">
                                              <a:latin typeface="Cambria Math"/>
                                            </a:rP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a:rPr lang="en-US" sz="2310" i="0">
                                          <a:latin typeface="Cambria Math"/>
                                        </a:rPr>
                                        <m:t>−</m:t>
                                      </m:r>
                                      <m:sSub>
                                        <m:e>
                                          <m:r>
                                            <a:rPr lang="en-US" sz="2310" i="1">
                                              <a:latin typeface="Cambria Math"/>
                                            </a:rPr>
                                            <m:t>μ</m:t>
                                          </m:r>
                                        </m:e>
                                        <m:sub>
                                          <m:r>
                                            <a:rPr lang="en-US" sz="2310" i="1">
                                              <a:latin typeface="Cambria Math"/>
                                            </a:rPr>
                                            <m:t>k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US" sz="2310" i="0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nary>
                    </m:oMath>
                  </m:oMathPara>
                </a14:m>
              </a:p>
            </p:txBody>
          </p:sp>
        </mc:Choice>
        <mc:Fallback>
          <p:sp>
            <p:nvSpPr>
              <p:cNvPr id="4" name="TextBox 3"/>
              <p:cNvSpPr txBox="1"/>
              <p:nvPr/>
            </p:nvSpPr>
            <p:spPr>
              <a:xfrm>
                <a:off x="548640" y="2410746"/>
                <a:ext cx="11094415" cy="96012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:r>
                  <a:rPr sz="2310" i="1"/>
                  <a:t>min_Cₖ,μₖ ∑ₖ₌₁^K ∑_(xᵢ ∈ Cₖ) lVert xᵢ − μₖ rVert²</a:t>
                </a:r>
              </a:p>
            </p:txBody>
          </p:sp>
        </mc:Fallback>
      </mc:AlternateContent>
      <p:sp>
        <p:nvSpPr>
          <p:cNvPr id="5" name="Placeholder: K-means / SLIC superpixels" descr="Placeholder - K-means / SLIC superpixels"/>
          <p:cNvSpPr/>
          <p:nvPr/>
        </p:nvSpPr>
        <p:spPr>
          <a:xfrm>
            <a:off x="1219181" y="3599466"/>
            <a:ext cx="4023246" cy="2263076"/>
          </a:xfrm>
          <a:prstGeom prst="rect">
            <a:avLst/>
          </a:prstGeom>
          <a:solidFill>
            <a:schemeClr val="tx1">
              <a:lumMod val="7000"/>
              <a:lumOff val="93000"/>
            </a:schemeClr>
          </a:solidFill>
          <a:ln w="15875">
            <a:solidFill>
              <a:schemeClr val="tx1">
                <a:lumMod val="45000"/>
                <a:lumOff val="55000"/>
              </a:schemeClr>
            </a:solidFill>
            <a:prstDash val="dash"/>
          </a:ln>
        </p:spPr>
        <p:txBody>
          <a:bodyPr rtlCol="0" anchor="ctr" wrap="square" lIns="137160" rIns="137160" tIns="137160" bIns="137160"/>
          <a:lstStyle/>
          <a:p>
            <a:pPr algn="ctr" marL="0" indent="0">
              <a:buNone/>
            </a:pPr>
            <a:r>
              <a:rPr sz="1760" b="1">
                <a:solidFill>
                  <a:schemeClr val="tx1">
                    <a:lumMod val="55000"/>
                    <a:lumOff val="45000"/>
                  </a:schemeClr>
                </a:solidFill>
              </a:rPr>
              <a:t>K-means / SLIC superpixels</a:t>
            </a:r>
          </a:p>
          <a:p>
            <a:pPr algn="ctr"/>
            <a:r>
              <a:rPr sz="1320">
                <a:solidFill>
                  <a:schemeClr val="tx1">
                    <a:lumMod val="55000"/>
                    <a:lumOff val="45000"/>
                  </a:schemeClr>
                </a:solidFill>
              </a:rPr>
              <a:t>image overlaid with superpixel boundaries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6278727" y="4135120"/>
                <a:ext cx="5364327" cy="1191768"/>
              </a:xfrm>
              <a:prstGeom prst="rect">
                <a:avLst/>
              </a:prstGeom>
              <a:noFill/>
            </p:spPr>
            <p:txBody>
              <a:bodyPr wrap="square" anchor="t" lIns="18288" rIns="18288" tIns="36576" bIns="36576">
                <a:spAutoFit/>
              </a:bodyPr>
              <a:lstStyle>
                <a:lvl1pPr marL="310896" indent="-310896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accent1"/>
                  </a:buClr>
                  <a:buSzPct val="60000"/>
                  <a:buFont typeface="Arial" panose="020B0604020202020204"/>
                  <a:buChar char="■"/>
                  <a:defRPr sz="2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76656" indent="-27432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05840" indent="-256032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258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60000"/>
                  <a:buFont typeface="Arial" panose="020B0604020202020204"/>
                  <a:buChar char="■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64592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96596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8600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60000"/>
                  <a:buFont typeface="Arial" panose="020B0604020202020204"/>
                  <a:buChar char="■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60604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260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/>
                <a:r>
                  <a:rPr sz="1700" b="1"/>
                  <a:t>K-means</a:t>
                </a:r>
                <a:r>
                  <a:rPr sz="1700"/>
                  <a:t>: </a:t>
                </a:r>
                <a14:m>
                  <m:oMath xmlns:m="http://schemas.openxmlformats.org/officeDocument/2006/math">
                    <m:r>
                      <a:rPr lang="en-US" sz="1700" i="1">
                        <a:latin typeface="Cambria Math"/>
                      </a:rPr>
                      <m:t>K</m:t>
                    </m:r>
                  </m:oMath>
                </a14:m>
                <a:r>
                  <a:rPr sz="1700"/>
                  <a:t> fixed in advance</a:t>
                </a:r>
              </a:p>
              <a:p>
                <a:pPr/>
                <a:r>
                  <a:rPr sz="1700" b="1"/>
                  <a:t>Mean shift</a:t>
                </a:r>
                <a:r>
                  <a:rPr sz="1700"/>
                  <a:t>: finds modes, </a:t>
                </a:r>
                <a14:m>
                  <m:oMath xmlns:m="http://schemas.openxmlformats.org/officeDocument/2006/math">
                    <m:r>
                      <a:rPr lang="en-US" sz="1700" i="1">
                        <a:latin typeface="Cambria Math"/>
                      </a:rPr>
                      <m:t>K</m:t>
                    </m:r>
                  </m:oMath>
                </a14:m>
                <a:r>
                  <a:rPr sz="1700"/>
                  <a:t> is automatic</a:t>
                </a:r>
              </a:p>
              <a:p>
                <a:pPr/>
                <a:r>
                  <a:rPr sz="1700" b="1"/>
                  <a:t>SLIC</a:t>
                </a:r>
                <a:r>
                  <a:rPr sz="1700"/>
                  <a:t>: local k-means, compact superpixels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6278727" y="4135120"/>
                <a:ext cx="5364327" cy="1191768"/>
              </a:xfrm>
              <a:prstGeom prst="rect">
                <a:avLst/>
              </a:prstGeom>
              <a:noFill/>
            </p:spPr>
            <p:txBody>
              <a:bodyPr wrap="square" anchor="t" lIns="18288" rIns="18288" tIns="36576" bIns="36576">
                <a:spAutoFit/>
              </a:bodyPr>
              <a:lstStyle>
                <a:lvl1pPr marL="310896" indent="-310896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accent1"/>
                  </a:buClr>
                  <a:buSzPct val="60000"/>
                  <a:buFont typeface="Arial" panose="020B0604020202020204"/>
                  <a:buChar char="■"/>
                  <a:defRPr sz="2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76656" indent="-27432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05840" indent="-256032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258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60000"/>
                  <a:buFont typeface="Arial" panose="020B0604020202020204"/>
                  <a:buChar char="■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64592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96596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8600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60000"/>
                  <a:buFont typeface="Arial" panose="020B0604020202020204"/>
                  <a:buChar char="■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60604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260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/>
                <a:r>
                  <a:rPr sz="1700" b="1"/>
                  <a:t>K-means</a:t>
                </a:r>
                <a:r>
                  <a:rPr sz="1700"/>
                  <a:t>: </a:t>
                </a:r>
                <a:r>
                  <a:rPr sz="1700" i="1"/>
                  <a:t>K</a:t>
                </a:r>
                <a:r>
                  <a:rPr sz="1700"/>
                  <a:t> fixed in advance</a:t>
                </a:r>
              </a:p>
              <a:p>
                <a:pPr/>
                <a:r>
                  <a:rPr sz="1700" b="1"/>
                  <a:t>Mean shift</a:t>
                </a:r>
                <a:r>
                  <a:rPr sz="1700"/>
                  <a:t>: finds modes, </a:t>
                </a:r>
                <a:r>
                  <a:rPr sz="1700" i="1"/>
                  <a:t>K</a:t>
                </a:r>
                <a:r>
                  <a:rPr sz="1700"/>
                  <a:t> is automatic</a:t>
                </a:r>
              </a:p>
              <a:p>
                <a:pPr/>
                <a:r>
                  <a:rPr sz="1700" b="1"/>
                  <a:t>SLIC</a:t>
                </a:r>
                <a:r>
                  <a:rPr sz="1700"/>
                  <a:t>: local k-means, compact superpixels</a:t>
                </a:r>
              </a:p>
            </p:txBody>
          </p:sp>
        </mc:Fallback>
      </mc:AlternateContent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Graph-based segmentation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09231"/>
            <a:ext cx="11094415" cy="546608"/>
          </a:xfrm>
          <a:prstGeom prst="rect">
            <a:avLst/>
          </a:prstGeom>
          <a:noFill/>
        </p:spPr>
        <p:txBody>
          <a:bodyPr wrap="square" anchor="t" lIns="18288" rIns="18288" tIns="36576" bIns="36576">
            <a:spAutoFit/>
          </a:bodyPr>
          <a:lstStyle>
            <a:lvl1pPr marL="310896" indent="-310896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1"/>
              </a:buClr>
              <a:buSzPct val="60000"/>
              <a:buFont typeface="Arial" panose="020B0604020202020204"/>
              <a:buChar char="■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76656" indent="-27432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accent1"/>
              </a:buClr>
              <a:buSzPct val="100000"/>
              <a:buFont typeface="Arial" panose="020B0604020202020204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05840" indent="-256032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2588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60000"/>
              <a:buFont typeface="Arial" panose="020B0604020202020204"/>
              <a:buChar char="■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4592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–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96596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8600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60000"/>
              <a:buFont typeface="Arial" panose="020B0604020202020204"/>
              <a:buChar char="■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60604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–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2608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sz="2200"/>
              <a:t>Pixels are nodes; edges weight similarity between neighbours.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/>
              <p:cNvSpPr txBox="1"/>
              <p:nvPr/>
            </p:nvSpPr>
            <p:spPr>
              <a:xfrm>
                <a:off x="548640" y="2184439"/>
                <a:ext cx="11094415" cy="96012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sz="2310" i="1">
                          <a:latin typeface="Cambria Math"/>
                        </a:rPr>
                        <m:t>E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(</m:t>
                      </m:r>
                      <m:r>
                        <a:rPr lang="en-US" sz="2310" i="1">
                          <a:latin typeface="Cambria Math"/>
                        </a:rPr>
                        <m:t>L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)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a:rPr lang="en-US" sz="2310" i="1">
                              <a:latin typeface="Cambria Math"/>
                            </a:rPr>
                            <m:t>p</m:t>
                          </m:r>
                        </m:sub>
                        <m:sup>
                          <m:r>
                            <a:rPr lang="en-US" sz="2310" i="0">
                              <a:latin typeface="Cambria Math"/>
                            </a:rP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a:rPr lang="en-US" sz="2310" i="1">
                                  <a:latin typeface="Cambria Math"/>
                                </a:rPr>
                                <m:t>D</m:t>
                              </m:r>
                            </m:e>
                            <m:sub>
                              <m:r>
                                <a:rPr lang="en-US" sz="2310" i="1">
                                  <a:latin typeface="Cambria Math"/>
                                </a:rPr>
                                <m:t>p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(</m:t>
                      </m:r>
                      <m:sSub>
                        <m:e>
                          <m:r>
                            <a:rPr lang="en-US" sz="2310" i="1">
                              <a:latin typeface="Cambria Math"/>
                            </a:rPr>
                            <m:t>L</m:t>
                          </m:r>
                        </m:e>
                        <m:sub>
                          <m:r>
                            <a:rPr lang="en-US" sz="2310" i="1">
                              <a:latin typeface="Cambria Math"/>
                            </a:rP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)</m:t>
                      </m:r>
                      <m:r>
                        <a:rPr lang="en-US" sz="2310" i="0">
                          <a:latin typeface="Cambria Math"/>
                        </a:rPr>
                        <m:t> 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+</m:t>
                      </m:r>
                      <m:r>
                        <a:rPr lang="en-US" sz="2310" i="0">
                          <a:latin typeface="Cambria Math"/>
                        </a:rPr>
                        <m:t> </m:t>
                      </m:r>
                      <m:r>
                        <a:rPr lang="en-US" sz="2310" i="1">
                          <a:latin typeface="Cambria Math"/>
                        </a:rPr>
                        <m:t>λ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(</m:t>
                          </m:r>
                          <m:r>
                            <a:rPr lang="en-US" sz="2310" i="1">
                              <a:latin typeface="Cambria Math"/>
                            </a:rPr>
                            <m:t>p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,</m:t>
                          </m:r>
                          <m:r>
                            <a:rPr lang="en-US" sz="2310" i="1">
                              <a:latin typeface="Cambria Math"/>
                            </a:rPr>
                            <m:t>q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)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∈</m:t>
                          </m:r>
                          <m:r>
                            <m:rPr>
                              <m:scr m:val="script"/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N</m:t>
                          </m:r>
                        </m:sub>
                        <m:sup>
                          <m:r>
                            <a:rPr lang="en-US" sz="2310" i="0">
                              <a:latin typeface="Cambria Math"/>
                            </a:rP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a:rPr lang="en-US" sz="2310" i="1">
                                  <a:latin typeface="Cambria Math"/>
                                </a:rPr>
                                <m:t>V</m:t>
                              </m:r>
                            </m:e>
                            <m:sub>
                              <m:r>
                                <a:rPr lang="en-US" sz="2310" i="1">
                                  <a:latin typeface="Cambria Math"/>
                                </a:rPr>
                                <m:t>p</m:t>
                              </m:r>
                              <m:r>
                                <a:rPr lang="en-US" sz="2310" i="1">
                                  <a:latin typeface="Cambria Math"/>
                                </a:rPr>
                                <m:t>q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(</m:t>
                      </m:r>
                      <m:sSub>
                        <m:e>
                          <m:r>
                            <a:rPr lang="en-US" sz="2310" i="1">
                              <a:latin typeface="Cambria Math"/>
                            </a:rPr>
                            <m:t>L</m:t>
                          </m:r>
                        </m:e>
                        <m:sub>
                          <m:r>
                            <a:rPr lang="en-US" sz="2310" i="1">
                              <a:latin typeface="Cambria Math"/>
                            </a:rP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,</m:t>
                      </m:r>
                      <m:sSub>
                        <m:e>
                          <m:r>
                            <a:rPr lang="en-US" sz="2310" i="1">
                              <a:latin typeface="Cambria Math"/>
                            </a:rPr>
                            <m:t>L</m:t>
                          </m:r>
                        </m:e>
                        <m:sub>
                          <m:r>
                            <a:rPr lang="en-US" sz="2310" i="1">
                              <a:latin typeface="Cambria Math"/>
                            </a:rPr>
                            <m:t>q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)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4" name="TextBox 3"/>
              <p:cNvSpPr txBox="1"/>
              <p:nvPr/>
            </p:nvSpPr>
            <p:spPr>
              <a:xfrm>
                <a:off x="548640" y="2184439"/>
                <a:ext cx="11094415" cy="96012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:r>
                  <a:rPr sz="2310" i="1"/>
                  <a:t>E(L) = ∑_p D_p(L_p) + λ ∑_((p,q) ∈ N) V_(pq)(L_p, L_q)</a:t>
                </a:r>
              </a:p>
            </p:txBody>
          </p:sp>
        </mc:Fallback>
      </mc:AlternateContent>
      <p:sp>
        <p:nvSpPr>
          <p:cNvPr id="5" name="Placeholder: Graph cut" descr="Placeholder - Graph cut"/>
          <p:cNvSpPr/>
          <p:nvPr/>
        </p:nvSpPr>
        <p:spPr>
          <a:xfrm>
            <a:off x="1152127" y="3373159"/>
            <a:ext cx="3620921" cy="2715691"/>
          </a:xfrm>
          <a:prstGeom prst="rect">
            <a:avLst/>
          </a:prstGeom>
          <a:solidFill>
            <a:schemeClr val="tx1">
              <a:lumMod val="7000"/>
              <a:lumOff val="93000"/>
            </a:schemeClr>
          </a:solidFill>
          <a:ln w="15875">
            <a:solidFill>
              <a:schemeClr val="tx1">
                <a:lumMod val="45000"/>
                <a:lumOff val="55000"/>
              </a:schemeClr>
            </a:solidFill>
            <a:prstDash val="dash"/>
          </a:ln>
        </p:spPr>
        <p:txBody>
          <a:bodyPr rtlCol="0" anchor="ctr" wrap="square" lIns="137160" rIns="137160" tIns="137160" bIns="137160"/>
          <a:lstStyle/>
          <a:p>
            <a:pPr algn="ctr" marL="0" indent="0">
              <a:buNone/>
            </a:pPr>
            <a:r>
              <a:rPr sz="1760" b="1">
                <a:solidFill>
                  <a:schemeClr val="tx1">
                    <a:lumMod val="55000"/>
                    <a:lumOff val="45000"/>
                  </a:schemeClr>
                </a:solidFill>
              </a:rPr>
              <a:t>Graph cut</a:t>
            </a:r>
          </a:p>
          <a:p>
            <a:pPr algn="ctr"/>
            <a:r>
              <a:rPr sz="1320">
                <a:solidFill>
                  <a:schemeClr val="tx1">
                    <a:lumMod val="55000"/>
                    <a:lumOff val="45000"/>
                  </a:schemeClr>
                </a:solidFill>
              </a:rPr>
              <a:t>pixel grid with source / sink terminals and min cut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5742295" y="3540760"/>
                <a:ext cx="5900760" cy="96012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Ncut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(</m:t>
                      </m:r>
                      <m:r>
                        <a:rPr lang="en-US" sz="2310" i="1">
                          <a:latin typeface="Cambria Math"/>
                        </a:rPr>
                        <m:t>A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,</m:t>
                      </m:r>
                      <m:r>
                        <a:rPr lang="en-US" sz="2310" i="1">
                          <a:latin typeface="Cambria Math"/>
                        </a:rPr>
                        <m:t>B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)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cut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(</m:t>
                          </m:r>
                          <m:r>
                            <a:rPr lang="en-US" sz="2310" i="1">
                              <a:latin typeface="Cambria Math"/>
                            </a:rPr>
                            <m:t>A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,</m:t>
                          </m:r>
                          <m:r>
                            <a:rPr lang="en-US" sz="2310" i="1">
                              <a:latin typeface="Cambria Math"/>
                            </a:rPr>
                            <m:t>B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)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assoc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(</m:t>
                          </m:r>
                          <m:r>
                            <a:rPr lang="en-US" sz="2310" i="1">
                              <a:latin typeface="Cambria Math"/>
                            </a:rPr>
                            <m:t>A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,</m:t>
                          </m:r>
                          <m:r>
                            <a:rPr lang="en-US" sz="2310" i="1">
                              <a:latin typeface="Cambria Math"/>
                            </a:rPr>
                            <m:t>V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)</m:t>
                          </m:r>
                        </m:den>
                      </m:f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cut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(</m:t>
                          </m:r>
                          <m:r>
                            <a:rPr lang="en-US" sz="2310" i="1">
                              <a:latin typeface="Cambria Math"/>
                            </a:rPr>
                            <m:t>A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,</m:t>
                          </m:r>
                          <m:r>
                            <a:rPr lang="en-US" sz="2310" i="1">
                              <a:latin typeface="Cambria Math"/>
                            </a:rPr>
                            <m:t>B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)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assoc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(</m:t>
                          </m:r>
                          <m:r>
                            <a:rPr lang="en-US" sz="2310" i="1">
                              <a:latin typeface="Cambria Math"/>
                            </a:rPr>
                            <m:t>B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,</m:t>
                          </m:r>
                          <m:r>
                            <a:rPr lang="en-US" sz="2310" i="1">
                              <a:latin typeface="Cambria Math"/>
                            </a:rPr>
                            <m:t>V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5742295" y="3540760"/>
                <a:ext cx="5900760" cy="96012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:r>
                  <a:rPr sz="2310" i="1"/>
                  <a:t>Ncut(A, B) = (cut(A,B))/(assoc(A,V)) + (cut(A,B))/(assoc(B,V))</a:t>
                </a:r>
              </a:p>
            </p:txBody>
          </p:sp>
        </mc:Fallback>
      </mc:AlternateContent>
      <p:sp>
        <p:nvSpPr>
          <p:cNvPr id="7" name="TextBox 6"/>
          <p:cNvSpPr txBox="1"/>
          <p:nvPr/>
        </p:nvSpPr>
        <p:spPr>
          <a:xfrm>
            <a:off x="5742295" y="4729480"/>
            <a:ext cx="5900760" cy="1191768"/>
          </a:xfrm>
          <a:prstGeom prst="rect">
            <a:avLst/>
          </a:prstGeom>
          <a:noFill/>
        </p:spPr>
        <p:txBody>
          <a:bodyPr wrap="square" anchor="t" lIns="18288" rIns="18288" tIns="36576" bIns="36576">
            <a:spAutoFit/>
          </a:bodyPr>
          <a:lstStyle>
            <a:lvl1pPr marL="310896" indent="-310896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1"/>
              </a:buClr>
              <a:buSzPct val="60000"/>
              <a:buFont typeface="Arial" panose="020B0604020202020204"/>
              <a:buChar char="■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76656" indent="-27432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accent1"/>
              </a:buClr>
              <a:buSzPct val="100000"/>
              <a:buFont typeface="Arial" panose="020B0604020202020204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05840" indent="-256032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2588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60000"/>
              <a:buFont typeface="Arial" panose="020B0604020202020204"/>
              <a:buChar char="■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4592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–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96596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8600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60000"/>
              <a:buFont typeface="Arial" panose="020B0604020202020204"/>
              <a:buChar char="■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60604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–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2608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/>
            <a:r>
              <a:rPr sz="1700"/>
              <a:t>Binary graph cuts are solved exactly by max-flow</a:t>
            </a:r>
          </a:p>
          <a:p>
            <a:pPr/>
            <a:r>
              <a:rPr sz="1700"/>
              <a:t>Normalized cuts avoid tiny isolated segments</a:t>
            </a:r>
          </a:p>
          <a:p>
            <a:pPr/>
            <a:r>
              <a:rPr sz="1700"/>
              <a:t>GrabCut adds interactive box prompts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Active contours and level sets</a:t>
            </a:r>
          </a:p>
        </p:txBody>
      </p:sp>
      <p:sp>
        <p:nvSpPr>
          <p:cNvPr id="3" name="Placeholder: Evolving contour" descr="Placeholder - Evolving contour"/>
          <p:cNvSpPr/>
          <p:nvPr/>
        </p:nvSpPr>
        <p:spPr>
          <a:xfrm>
            <a:off x="773942" y="1721324"/>
            <a:ext cx="4055432" cy="4055432"/>
          </a:xfrm>
          <a:prstGeom prst="rect">
            <a:avLst/>
          </a:prstGeom>
          <a:solidFill>
            <a:schemeClr val="tx1">
              <a:lumMod val="7000"/>
              <a:lumOff val="93000"/>
            </a:schemeClr>
          </a:solidFill>
          <a:ln w="15875">
            <a:solidFill>
              <a:schemeClr val="tx1">
                <a:lumMod val="45000"/>
                <a:lumOff val="55000"/>
              </a:schemeClr>
            </a:solidFill>
            <a:prstDash val="dash"/>
          </a:ln>
        </p:spPr>
        <p:txBody>
          <a:bodyPr rtlCol="0" anchor="ctr" wrap="square" lIns="137160" rIns="137160" tIns="137160" bIns="137160"/>
          <a:lstStyle/>
          <a:p>
            <a:pPr algn="ctr" marL="0" indent="0">
              <a:buNone/>
            </a:pPr>
            <a:r>
              <a:rPr sz="1760" b="1">
                <a:solidFill>
                  <a:schemeClr val="tx1">
                    <a:lumMod val="55000"/>
                    <a:lumOff val="45000"/>
                  </a:schemeClr>
                </a:solidFill>
              </a:rPr>
              <a:t>Evolving contour</a:t>
            </a:r>
          </a:p>
          <a:p>
            <a:pPr algn="ctr"/>
            <a:r>
              <a:rPr sz="1320">
                <a:solidFill>
                  <a:schemeClr val="tx1">
                    <a:lumMod val="55000"/>
                    <a:lumOff val="45000"/>
                  </a:schemeClr>
                </a:solidFill>
              </a:rPr>
              <a:t>snake shrinking onto an object boundary over iterations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/>
              <p:cNvSpPr txBox="1"/>
              <p:nvPr/>
            </p:nvSpPr>
            <p:spPr>
              <a:xfrm>
                <a:off x="5420435" y="2209292"/>
                <a:ext cx="6222620" cy="470408"/>
              </a:xfrm>
              <a:prstGeom prst="rect">
                <a:avLst/>
              </a:prstGeom>
              <a:noFill/>
            </p:spPr>
            <p:txBody>
              <a:bodyPr wrap="square" anchor="t" lIns="18288" rIns="18288" tIns="36576" bIns="36576">
                <a:spAutoFit/>
              </a:bodyPr>
              <a:lstStyle>
                <a:lvl1pPr marL="310896" indent="-310896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accent1"/>
                  </a:buClr>
                  <a:buSzPct val="60000"/>
                  <a:buFont typeface="Arial" panose="020B0604020202020204"/>
                  <a:buChar char="■"/>
                  <a:defRPr sz="2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76656" indent="-27432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05840" indent="-256032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258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60000"/>
                  <a:buFont typeface="Arial" panose="020B0604020202020204"/>
                  <a:buChar char="■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64592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96596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8600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60000"/>
                  <a:buFont typeface="Arial" panose="020B0604020202020204"/>
                  <a:buChar char="■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60604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260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sz="1700"/>
                  <a:t>Snake energy of a curve </a:t>
                </a:r>
                <a14:m>
                  <m:oMath xmlns:m="http://schemas.openxmlformats.org/officeDocument/2006/math">
                    <m:r>
                      <a:rPr lang="en-US" sz="1700" i="1">
                        <a:latin typeface="Cambria Math"/>
                      </a:rPr>
                      <m:t>v</m:t>
                    </m:r>
                    <m:r>
                      <m:rPr>
                        <m:sty m:val="p"/>
                      </m:rPr>
                      <a:rPr lang="en-US" sz="1700" i="0">
                        <a:latin typeface="Cambria Math"/>
                      </a:rPr>
                      <m:t>(</m:t>
                    </m:r>
                    <m:r>
                      <a:rPr lang="en-US" sz="1700" i="1">
                        <a:latin typeface="Cambria Math"/>
                      </a:rPr>
                      <m:t>s</m:t>
                    </m:r>
                    <m:r>
                      <m:rPr>
                        <m:sty m:val="p"/>
                      </m:rPr>
                      <a:rPr lang="en-US" sz="1700" i="0">
                        <a:latin typeface="Cambria Math"/>
                      </a:rPr>
                      <m:t>)</m:t>
                    </m:r>
                  </m:oMath>
                </a14:m>
                <a:r>
                  <a:rPr sz="1700"/>
                  <a:t>:</a:t>
                </a:r>
              </a:p>
            </p:txBody>
          </p:sp>
        </mc:Choice>
        <mc:Fallback>
          <p:sp>
            <p:nvSpPr>
              <p:cNvPr id="4" name="TextBox 3"/>
              <p:cNvSpPr txBox="1"/>
              <p:nvPr/>
            </p:nvSpPr>
            <p:spPr>
              <a:xfrm>
                <a:off x="5420435" y="2209292"/>
                <a:ext cx="6222620" cy="470408"/>
              </a:xfrm>
              <a:prstGeom prst="rect">
                <a:avLst/>
              </a:prstGeom>
              <a:noFill/>
            </p:spPr>
            <p:txBody>
              <a:bodyPr wrap="square" anchor="t" lIns="18288" rIns="18288" tIns="36576" bIns="36576">
                <a:spAutoFit/>
              </a:bodyPr>
              <a:lstStyle>
                <a:lvl1pPr marL="310896" indent="-310896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accent1"/>
                  </a:buClr>
                  <a:buSzPct val="60000"/>
                  <a:buFont typeface="Arial" panose="020B0604020202020204"/>
                  <a:buChar char="■"/>
                  <a:defRPr sz="2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76656" indent="-27432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05840" indent="-256032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258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60000"/>
                  <a:buFont typeface="Arial" panose="020B0604020202020204"/>
                  <a:buChar char="■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64592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96596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8600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60000"/>
                  <a:buFont typeface="Arial" panose="020B0604020202020204"/>
                  <a:buChar char="■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60604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260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sz="1700"/>
                  <a:t>Snake energy of a curve </a:t>
                </a:r>
                <a:r>
                  <a:rPr sz="1700" i="1"/>
                  <a:t>v(s)</a:t>
                </a:r>
                <a:r>
                  <a:rPr sz="1700"/>
                  <a:t>: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/>
              <p:cNvSpPr txBox="1"/>
              <p:nvPr/>
            </p:nvSpPr>
            <p:spPr>
              <a:xfrm>
                <a:off x="5420435" y="2908300"/>
                <a:ext cx="6222620" cy="96012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sz="2310" i="1">
                          <a:latin typeface="Cambria Math"/>
                        </a:rPr>
                        <m:t>E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ff"/>
                        </m:naryPr>
                        <m:sub>
                          <m:r>
                            <a:rPr lang="en-US" sz="2310" i="0">
                              <a:latin typeface="Cambria Math"/>
                            </a:rPr>
                            <m:t>0</m:t>
                          </m:r>
                        </m:sub>
                        <m:sup>
                          <m:r>
                            <a:rPr lang="en-US" sz="2310" i="0">
                              <a:latin typeface="Cambria Math"/>
                            </a:rPr>
                            <m:t>1</m:t>
                          </m:r>
                        </m:sup>
                        <m:e>
                          <m:f>
                            <m:fPr>
                              <m:type m:val="lin"/>
                            </m:fPr>
                            <m:num>
                              <m:r>
                                <a:rPr lang="en-US" sz="2310" i="0">
                                  <a:latin typeface="Cambria Math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310" i="0">
                                  <a:latin typeface="Cambria Math"/>
                                </a:rPr>
                                <m:t>2</m:t>
                              </m:r>
                            </m:den>
                          </m:f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a:rPr lang="en-US" sz="2310" i="1">
                              <a:latin typeface="Cambria Math"/>
                            </a:rPr>
                            <m:t>α</m:t>
                          </m:r>
                          <m:sSup>
                            <m:e>
                              <m:d>
                                <m:dPr>
                                  <m:begChr m:val="‖"/>
                                  <m:sepChr m:val=""/>
                                  <m:endChr m:val="‖"/>
                                  <m:grow/>
                                </m:dPr>
                                <m:e>
                                  <m:sSup>
                                    <m:e>
                                      <m:r>
                                        <a:rPr lang="en-US" sz="2310" i="1">
                                          <a:latin typeface="Cambria Math"/>
                                        </a:rPr>
                                        <m:t>v</m:t>
                                      </m:r>
                                    </m:e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a:rPr lang="en-US" sz="2310" i="0">
                                          <a:latin typeface="Cambria Math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m:rPr>
                                      <m:sty m:val="p"/>
                                    </m:rPr>
                                    <a:rPr lang="en-US" sz="2310" i="0">
                                      <a:latin typeface="Cambria Math"/>
                                    </a:rPr>
                                    <m:t>(</m:t>
                                  </m:r>
                                  <m:r>
                                    <a:rPr lang="en-US" sz="2310" i="1">
                                      <a:latin typeface="Cambria Math"/>
                                    </a:rPr>
                                    <m:t>s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2310" i="0">
                                      <a:latin typeface="Cambria Math"/>
                                    </a:rPr>
                                    <m:t>)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2310" i="0">
                                  <a:latin typeface="Cambria Math"/>
                                </a:rP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+</m:t>
                          </m:r>
                          <m:r>
                            <a:rPr lang="en-US" sz="2310" i="1">
                              <a:latin typeface="Cambria Math"/>
                            </a:rPr>
                            <m:t>β</m:t>
                          </m:r>
                          <m:sSup>
                            <m:e>
                              <m:d>
                                <m:dPr>
                                  <m:begChr m:val="‖"/>
                                  <m:sepChr m:val=""/>
                                  <m:endChr m:val="‖"/>
                                  <m:grow/>
                                </m:dPr>
                                <m:e>
                                  <m:sSup>
                                    <m:e>
                                      <m:r>
                                        <a:rPr lang="en-US" sz="2310" i="1">
                                          <a:latin typeface="Cambria Math"/>
                                        </a:rPr>
                                        <m:t>v</m:t>
                                      </m:r>
                                    </m:e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a:rPr lang="en-US" sz="2310" i="0">
                                          <a:latin typeface="Cambria Math"/>
                                        </a:rPr>
                                        <m:t>′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sz="2310" i="0">
                                          <a:latin typeface="Cambria Math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m:rPr>
                                      <m:sty m:val="p"/>
                                    </m:rPr>
                                    <a:rPr lang="en-US" sz="2310" i="0">
                                      <a:latin typeface="Cambria Math"/>
                                    </a:rPr>
                                    <m:t>(</m:t>
                                  </m:r>
                                  <m:r>
                                    <a:rPr lang="en-US" sz="2310" i="1">
                                      <a:latin typeface="Cambria Math"/>
                                    </a:rPr>
                                    <m:t>s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2310" i="0">
                                      <a:latin typeface="Cambria Math"/>
                                    </a:rPr>
                                    <m:t>)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2310" i="0">
                                  <a:latin typeface="Cambria Math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+</m:t>
                      </m:r>
                      <m:sSub>
                        <m:e>
                          <m:r>
                            <a:rPr lang="en-US" sz="2310" i="1">
                              <a:latin typeface="Cambria Math"/>
                            </a:rPr>
                            <m:t>E</m:t>
                          </m:r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img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(</m:t>
                      </m:r>
                      <m:r>
                        <a:rPr lang="en-US" sz="2310" i="1">
                          <a:latin typeface="Cambria Math"/>
                        </a:rPr>
                        <m:t>v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(</m:t>
                      </m:r>
                      <m:r>
                        <a:rPr lang="en-US" sz="2310" i="1">
                          <a:latin typeface="Cambria Math"/>
                        </a:rPr>
                        <m:t>s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)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)</m:t>
                      </m:r>
                      <m:r>
                        <a:rPr lang="en-US" sz="2310" i="0">
                          <a:latin typeface="Cambria Math"/>
                        </a:rPr>
                        <m:t> </m:t>
                      </m:r>
                      <m:r>
                        <a:rPr lang="en-US" sz="2310" i="1">
                          <a:latin typeface="Cambria Math"/>
                        </a:rPr>
                        <m:t>d</m:t>
                      </m:r>
                      <m:r>
                        <a:rPr lang="en-US" sz="2310" i="1">
                          <a:latin typeface="Cambria Math"/>
                        </a:rPr>
                        <m:t>s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5" name="TextBox 4"/>
              <p:cNvSpPr txBox="1"/>
              <p:nvPr/>
            </p:nvSpPr>
            <p:spPr>
              <a:xfrm>
                <a:off x="5420435" y="2908300"/>
                <a:ext cx="6222620" cy="96012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:r>
                  <a:rPr sz="2310" i="1"/>
                  <a:t>E = ∫₀¹ (1)/(2)(α lVert v^prime(s) rVert² + β lVert v^(primeprime)(s) rVert²) + E_(img)(v(s)) ds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5420435" y="4097020"/>
            <a:ext cx="6222620" cy="1191768"/>
          </a:xfrm>
          <a:prstGeom prst="rect">
            <a:avLst/>
          </a:prstGeom>
          <a:noFill/>
        </p:spPr>
        <p:txBody>
          <a:bodyPr wrap="square" anchor="t" lIns="18288" rIns="18288" tIns="36576" bIns="36576">
            <a:spAutoFit/>
          </a:bodyPr>
          <a:lstStyle>
            <a:lvl1pPr marL="310896" indent="-310896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1"/>
              </a:buClr>
              <a:buSzPct val="60000"/>
              <a:buFont typeface="Arial" panose="020B0604020202020204"/>
              <a:buChar char="■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76656" indent="-27432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accent1"/>
              </a:buClr>
              <a:buSzPct val="100000"/>
              <a:buFont typeface="Arial" panose="020B0604020202020204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05840" indent="-256032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2588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60000"/>
              <a:buFont typeface="Arial" panose="020B0604020202020204"/>
              <a:buChar char="■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4592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–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96596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8600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60000"/>
              <a:buFont typeface="Arial" panose="020B0604020202020204"/>
              <a:buChar char="■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60604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–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2608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/>
            <a:r>
              <a:rPr sz="1700"/>
              <a:t>Internal terms keep the curve smooth</a:t>
            </a:r>
          </a:p>
          <a:p>
            <a:pPr/>
            <a:r>
              <a:rPr sz="1700"/>
              <a:t>Image term pulls it to edges</a:t>
            </a:r>
          </a:p>
          <a:p>
            <a:pPr/>
            <a:r>
              <a:rPr sz="1700"/>
              <a:t>Level sets handle topology changes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Deep learning methods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/>
              <a:t>End-to-end dense prediction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Fully convolutional networks (FCN)</a:t>
            </a:r>
          </a:p>
        </p:txBody>
      </p:sp>
      <p:sp>
        <p:nvSpPr>
          <p:cNvPr id="3" name="Placeholder: FCN architecture" descr="Placeholder - FCN architecture"/>
          <p:cNvSpPr/>
          <p:nvPr/>
        </p:nvSpPr>
        <p:spPr>
          <a:xfrm>
            <a:off x="888339" y="1188720"/>
            <a:ext cx="10415016" cy="3471672"/>
          </a:xfrm>
          <a:prstGeom prst="rect">
            <a:avLst/>
          </a:prstGeom>
          <a:solidFill>
            <a:schemeClr val="tx1">
              <a:lumMod val="7000"/>
              <a:lumOff val="93000"/>
            </a:schemeClr>
          </a:solidFill>
          <a:ln w="15875">
            <a:solidFill>
              <a:schemeClr val="tx1">
                <a:lumMod val="45000"/>
                <a:lumOff val="55000"/>
              </a:schemeClr>
            </a:solidFill>
            <a:prstDash val="dash"/>
          </a:ln>
        </p:spPr>
        <p:txBody>
          <a:bodyPr rtlCol="0" anchor="ctr" wrap="square" lIns="137160" rIns="137160" tIns="137160" bIns="137160"/>
          <a:lstStyle/>
          <a:p>
            <a:pPr algn="ctr" marL="0" indent="0">
              <a:buNone/>
            </a:pPr>
            <a:r>
              <a:rPr sz="1760" b="1">
                <a:solidFill>
                  <a:schemeClr val="tx1">
                    <a:lumMod val="55000"/>
                    <a:lumOff val="45000"/>
                  </a:schemeClr>
                </a:solidFill>
              </a:rPr>
              <a:t>FCN architecture</a:t>
            </a:r>
          </a:p>
          <a:p>
            <a:pPr algn="ctr"/>
            <a:r>
              <a:rPr sz="1320">
                <a:solidFill>
                  <a:schemeClr val="tx1">
                    <a:lumMod val="55000"/>
                    <a:lumOff val="45000"/>
                  </a:schemeClr>
                </a:solidFill>
              </a:rPr>
              <a:t>conv backbone, 1x1 classifier, upsampling with skip fusion (FCN-32s/16s/8s)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/>
              <p:cNvSpPr txBox="1"/>
              <p:nvPr/>
            </p:nvSpPr>
            <p:spPr>
              <a:xfrm>
                <a:off x="548640" y="4888992"/>
                <a:ext cx="11094415" cy="1420368"/>
              </a:xfrm>
              <a:prstGeom prst="rect">
                <a:avLst/>
              </a:prstGeom>
              <a:noFill/>
            </p:spPr>
            <p:txBody>
              <a:bodyPr wrap="square" anchor="t" lIns="18288" rIns="18288" tIns="36576" bIns="36576">
                <a:spAutoFit/>
              </a:bodyPr>
              <a:lstStyle>
                <a:lvl1pPr marL="310896" indent="-310896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accent1"/>
                  </a:buClr>
                  <a:buSzPct val="60000"/>
                  <a:buFont typeface="Arial" panose="020B0604020202020204"/>
                  <a:buChar char="■"/>
                  <a:defRPr sz="2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76656" indent="-27432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05840" indent="-256032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258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60000"/>
                  <a:buFont typeface="Arial" panose="020B0604020202020204"/>
                  <a:buChar char="■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64592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96596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8600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60000"/>
                  <a:buFont typeface="Arial" panose="020B0604020202020204"/>
                  <a:buChar char="■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60604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260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/>
                <a:r>
                  <a:rPr sz="2200"/>
                  <a:t>Replace fully connected layers with </a:t>
                </a:r>
                <a14:m>
                  <m:oMath xmlns:m="http://schemas.openxmlformats.org/officeDocument/2006/math">
                    <m:r>
                      <a:rPr lang="en-US" sz="2200" i="0">
                        <a:latin typeface="Cambria Math"/>
                      </a:rPr>
                      <m:t>1</m:t>
                    </m:r>
                    <m:r>
                      <m:rPr>
                        <m:sty m:val="p"/>
                      </m:rPr>
                      <a:rPr lang="en-US" sz="2200" i="0">
                        <a:latin typeface="Cambria Math"/>
                      </a:rPr>
                      <m:t>×</m:t>
                    </m:r>
                    <m:r>
                      <a:rPr lang="en-US" sz="2200" i="0">
                        <a:latin typeface="Cambria Math"/>
                      </a:rPr>
                      <m:t>1</m:t>
                    </m:r>
                  </m:oMath>
                </a14:m>
                <a:r>
                  <a:rPr sz="2200"/>
                  <a:t> convolutions</a:t>
                </a:r>
              </a:p>
              <a:p>
                <a:pPr/>
                <a:r>
                  <a:rPr sz="2200"/>
                  <a:t>Learned upsampling (transposed convolution) back to input size</a:t>
                </a:r>
              </a:p>
              <a:p>
                <a:pPr/>
                <a:r>
                  <a:rPr sz="2200"/>
                  <a:t>Skip connections fuse coarse semantics with fine detail</a:t>
                </a:r>
              </a:p>
            </p:txBody>
          </p:sp>
        </mc:Choice>
        <mc:Fallback>
          <p:sp>
            <p:nvSpPr>
              <p:cNvPr id="4" name="TextBox 3"/>
              <p:cNvSpPr txBox="1"/>
              <p:nvPr/>
            </p:nvSpPr>
            <p:spPr>
              <a:xfrm>
                <a:off x="548640" y="4888992"/>
                <a:ext cx="11094415" cy="1420368"/>
              </a:xfrm>
              <a:prstGeom prst="rect">
                <a:avLst/>
              </a:prstGeom>
              <a:noFill/>
            </p:spPr>
            <p:txBody>
              <a:bodyPr wrap="square" anchor="t" lIns="18288" rIns="18288" tIns="36576" bIns="36576">
                <a:spAutoFit/>
              </a:bodyPr>
              <a:lstStyle>
                <a:lvl1pPr marL="310896" indent="-310896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accent1"/>
                  </a:buClr>
                  <a:buSzPct val="60000"/>
                  <a:buFont typeface="Arial" panose="020B0604020202020204"/>
                  <a:buChar char="■"/>
                  <a:defRPr sz="2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76656" indent="-27432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05840" indent="-256032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258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60000"/>
                  <a:buFont typeface="Arial" panose="020B0604020202020204"/>
                  <a:buChar char="■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64592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96596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8600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60000"/>
                  <a:buFont typeface="Arial" panose="020B0604020202020204"/>
                  <a:buChar char="■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60604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260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/>
                <a:r>
                  <a:rPr sz="2200"/>
                  <a:t>Replace fully connected layers with </a:t>
                </a:r>
                <a:r>
                  <a:rPr sz="2200" i="1"/>
                  <a:t>1 × 1</a:t>
                </a:r>
                <a:r>
                  <a:rPr sz="2200"/>
                  <a:t> convolutions</a:t>
                </a:r>
              </a:p>
              <a:p>
                <a:pPr/>
                <a:r>
                  <a:rPr sz="2200"/>
                  <a:t>Learned upsampling (transposed convolution) back to input size</a:t>
                </a:r>
              </a:p>
              <a:p>
                <a:pPr/>
                <a:r>
                  <a:rPr sz="2200"/>
                  <a:t>Skip connections fuse coarse semantics with fine detail</a:t>
                </a:r>
              </a:p>
            </p:txBody>
          </p:sp>
        </mc:Fallback>
      </mc:AlternateContent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U-Net - encoder-decoder with skips</a:t>
            </a:r>
          </a:p>
        </p:txBody>
      </p:sp>
      <p:sp>
        <p:nvSpPr>
          <p:cNvPr id="3" name="Placeholder: U-Net" descr="Placeholder - U-Net"/>
          <p:cNvSpPr/>
          <p:nvPr/>
        </p:nvSpPr>
        <p:spPr>
          <a:xfrm>
            <a:off x="1219181" y="2240323"/>
            <a:ext cx="4023246" cy="3017434"/>
          </a:xfrm>
          <a:prstGeom prst="rect">
            <a:avLst/>
          </a:prstGeom>
          <a:solidFill>
            <a:schemeClr val="tx1">
              <a:lumMod val="7000"/>
              <a:lumOff val="93000"/>
            </a:schemeClr>
          </a:solidFill>
          <a:ln w="15875">
            <a:solidFill>
              <a:schemeClr val="tx1">
                <a:lumMod val="45000"/>
                <a:lumOff val="55000"/>
              </a:schemeClr>
            </a:solidFill>
            <a:prstDash val="dash"/>
          </a:ln>
        </p:spPr>
        <p:txBody>
          <a:bodyPr rtlCol="0" anchor="ctr" wrap="square" lIns="137160" rIns="137160" tIns="137160" bIns="137160"/>
          <a:lstStyle/>
          <a:p>
            <a:pPr algn="ctr" marL="0" indent="0">
              <a:buNone/>
            </a:pPr>
            <a:r>
              <a:rPr sz="1760" b="1">
                <a:solidFill>
                  <a:schemeClr val="tx1">
                    <a:lumMod val="55000"/>
                    <a:lumOff val="45000"/>
                  </a:schemeClr>
                </a:solidFill>
              </a:rPr>
              <a:t>U-Net</a:t>
            </a:r>
          </a:p>
          <a:p>
            <a:pPr algn="ctr"/>
            <a:r>
              <a:rPr sz="1320">
                <a:solidFill>
                  <a:schemeClr val="tx1">
                    <a:lumMod val="55000"/>
                    <a:lumOff val="45000"/>
                  </a:schemeClr>
                </a:solidFill>
              </a:rPr>
              <a:t>contracting path, expanding path, copy-and-crop skips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78727" y="2307336"/>
            <a:ext cx="5364327" cy="2883408"/>
          </a:xfrm>
          <a:prstGeom prst="rect">
            <a:avLst/>
          </a:prstGeom>
          <a:noFill/>
        </p:spPr>
        <p:txBody>
          <a:bodyPr wrap="square" anchor="t" lIns="18288" rIns="18288" tIns="36576" bIns="36576">
            <a:spAutoFit/>
          </a:bodyPr>
          <a:lstStyle>
            <a:lvl1pPr marL="310896" indent="-310896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1"/>
              </a:buClr>
              <a:buSzPct val="60000"/>
              <a:buFont typeface="Arial" panose="020B0604020202020204"/>
              <a:buChar char="■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76656" indent="-27432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accent1"/>
              </a:buClr>
              <a:buSzPct val="100000"/>
              <a:buFont typeface="Arial" panose="020B0604020202020204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05840" indent="-256032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2588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60000"/>
              <a:buFont typeface="Arial" panose="020B0604020202020204"/>
              <a:buChar char="■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4592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–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96596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8600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60000"/>
              <a:buFont typeface="Arial" panose="020B0604020202020204"/>
              <a:buChar char="■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60604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–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2608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/>
            <a:r>
              <a:rPr sz="2200"/>
              <a:t>Symmetric encoder / decoder</a:t>
            </a:r>
          </a:p>
          <a:p>
            <a:pPr/>
            <a:r>
              <a:rPr sz="2200"/>
              <a:t>Skip connections concatenate encoder features at each scale</a:t>
            </a:r>
          </a:p>
          <a:p>
            <a:pPr/>
            <a:r>
              <a:rPr sz="2200"/>
              <a:t>Works with very few labelled images</a:t>
            </a:r>
          </a:p>
          <a:p>
            <a:pPr lvl="1"/>
            <a:r>
              <a:rPr sz="2000"/>
              <a:t>Standard in </a:t>
            </a:r>
            <a:r>
              <a:rPr sz="2000">
                <a:solidFill>
                  <a:schemeClr val="accent2"/>
                </a:solidFill>
              </a:rPr>
              <a:t>medical imaging</a:t>
            </a:r>
          </a:p>
          <a:p>
            <a:pPr/>
            <a:r>
              <a:rPr sz="2200"/>
              <a:t>Variants - U-Net++, Attention U-Net, nnU-Net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DeepLab - atrous convolution and ASPP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22384"/>
            <a:ext cx="11094415" cy="546608"/>
          </a:xfrm>
          <a:prstGeom prst="rect">
            <a:avLst/>
          </a:prstGeom>
          <a:noFill/>
        </p:spPr>
        <p:txBody>
          <a:bodyPr wrap="square" anchor="t" lIns="18288" rIns="18288" tIns="36576" bIns="36576">
            <a:spAutoFit/>
          </a:bodyPr>
          <a:lstStyle>
            <a:lvl1pPr marL="310896" indent="-310896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1"/>
              </a:buClr>
              <a:buSzPct val="60000"/>
              <a:buFont typeface="Arial" panose="020B0604020202020204"/>
              <a:buChar char="■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76656" indent="-27432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accent1"/>
              </a:buClr>
              <a:buSzPct val="100000"/>
              <a:buFont typeface="Arial" panose="020B0604020202020204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05840" indent="-256032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2588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60000"/>
              <a:buFont typeface="Arial" panose="020B0604020202020204"/>
              <a:buChar char="■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4592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–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96596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8600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60000"/>
              <a:buFont typeface="Arial" panose="020B0604020202020204"/>
              <a:buChar char="■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60604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–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2608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sz="2200"/>
              <a:t>Dilated convolution enlarges the receptive field without losing resolution: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/>
              <p:cNvSpPr txBox="1"/>
              <p:nvPr/>
            </p:nvSpPr>
            <p:spPr>
              <a:xfrm>
                <a:off x="548640" y="2297592"/>
                <a:ext cx="11094415" cy="96012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sz="2310" i="1">
                          <a:latin typeface="Cambria Math"/>
                        </a:rPr>
                        <m:t>y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[</m:t>
                      </m:r>
                      <m:r>
                        <a:rPr lang="en-US" sz="2310" i="1">
                          <a:latin typeface="Cambria Math"/>
                        </a:rPr>
                        <m:t>i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]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a:rPr lang="en-US" sz="2310" i="1">
                              <a:latin typeface="Cambria Math"/>
                            </a:rPr>
                            <m:t>k</m:t>
                          </m:r>
                        </m:sub>
                        <m:sup>
                          <m:r>
                            <a:rPr lang="en-US" sz="2310" i="0">
                              <a:latin typeface="Cambria Math"/>
                            </a:rPr>
                            <m:t>​</m:t>
                          </m:r>
                        </m:sup>
                        <m:e>
                          <m:r>
                            <a:rPr lang="en-US" sz="2310" i="1">
                              <a:latin typeface="Cambria Math"/>
                            </a:rPr>
                            <m:t>x</m:t>
                          </m:r>
                        </m:e>
                      </m:nary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[</m:t>
                      </m:r>
                      <m:r>
                        <a:rPr lang="en-US" sz="2310" i="1">
                          <a:latin typeface="Cambria Math"/>
                        </a:rPr>
                        <m:t>i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+</m:t>
                      </m:r>
                      <m:r>
                        <a:rPr lang="en-US" sz="2310" i="1">
                          <a:latin typeface="Cambria Math"/>
                        </a:rPr>
                        <m:t>r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⋅</m:t>
                      </m:r>
                      <m:r>
                        <a:rPr lang="en-US" sz="2310" i="1">
                          <a:latin typeface="Cambria Math"/>
                        </a:rPr>
                        <m:t>k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]</m:t>
                      </m:r>
                      <m:r>
                        <a:rPr lang="en-US" sz="2310" i="0">
                          <a:latin typeface="Cambria Math"/>
                        </a:rPr>
                        <m:t> </m:t>
                      </m:r>
                      <m:r>
                        <a:rPr lang="en-US" sz="2310" i="1">
                          <a:latin typeface="Cambria Math"/>
                        </a:rPr>
                        <m:t>w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[</m:t>
                      </m:r>
                      <m:r>
                        <a:rPr lang="en-US" sz="2310" i="1">
                          <a:latin typeface="Cambria Math"/>
                        </a:rPr>
                        <m:t>k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]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,</m:t>
                      </m:r>
                      <m:r>
                        <a:rPr lang="en-US" sz="2310" i="0">
                          <a:latin typeface="Cambria Math"/>
                        </a:rPr>
                        <m:t>  </m:t>
                      </m:r>
                      <m:r>
                        <a:rPr lang="en-US" sz="2310" i="1">
                          <a:latin typeface="Cambria Math"/>
                        </a:rPr>
                        <m:t>r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=</m:t>
                      </m:r>
                      <m:r>
                        <m:rPr>
                          <m:nor/>
                          <m:sty m:val="p"/>
                        </m:rPr>
                        <a:rPr lang="en-US" sz="2310" i="0">
                          <a:latin typeface="Cambria Math"/>
                        </a:rPr>
                        <m:t>dilation rate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4" name="TextBox 3"/>
              <p:cNvSpPr txBox="1"/>
              <p:nvPr/>
            </p:nvSpPr>
            <p:spPr>
              <a:xfrm>
                <a:off x="548640" y="2297592"/>
                <a:ext cx="11094415" cy="96012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:r>
                  <a:rPr sz="2310" i="1"/>
                  <a:t>y[i] = ∑ₖ x[i + r · k] w[k], r = dilation rate</a:t>
                </a:r>
              </a:p>
            </p:txBody>
          </p:sp>
        </mc:Fallback>
      </mc:AlternateContent>
      <p:sp>
        <p:nvSpPr>
          <p:cNvPr id="5" name="Placeholder: ASPP module" descr="Placeholder - ASPP module"/>
          <p:cNvSpPr/>
          <p:nvPr/>
        </p:nvSpPr>
        <p:spPr>
          <a:xfrm>
            <a:off x="1286235" y="3486312"/>
            <a:ext cx="4425570" cy="2489383"/>
          </a:xfrm>
          <a:prstGeom prst="rect">
            <a:avLst/>
          </a:prstGeom>
          <a:solidFill>
            <a:schemeClr val="tx1">
              <a:lumMod val="7000"/>
              <a:lumOff val="93000"/>
            </a:schemeClr>
          </a:solidFill>
          <a:ln w="15875">
            <a:solidFill>
              <a:schemeClr val="tx1">
                <a:lumMod val="45000"/>
                <a:lumOff val="55000"/>
              </a:schemeClr>
            </a:solidFill>
            <a:prstDash val="dash"/>
          </a:ln>
        </p:spPr>
        <p:txBody>
          <a:bodyPr rtlCol="0" anchor="ctr" wrap="square" lIns="137160" rIns="137160" tIns="137160" bIns="137160"/>
          <a:lstStyle/>
          <a:p>
            <a:pPr algn="ctr" marL="0" indent="0">
              <a:buNone/>
            </a:pPr>
            <a:r>
              <a:rPr sz="1760" b="1">
                <a:solidFill>
                  <a:schemeClr val="tx1">
                    <a:lumMod val="55000"/>
                    <a:lumOff val="45000"/>
                  </a:schemeClr>
                </a:solidFill>
              </a:rPr>
              <a:t>ASPP module</a:t>
            </a:r>
          </a:p>
          <a:p>
            <a:pPr algn="ctr"/>
            <a:r>
              <a:rPr sz="1320">
                <a:solidFill>
                  <a:schemeClr val="tx1">
                    <a:lumMod val="55000"/>
                    <a:lumOff val="45000"/>
                  </a:schemeClr>
                </a:solidFill>
              </a:rPr>
              <a:t>parallel atrous convs at rates 6, 12, 18 + image pooling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15160" y="4185920"/>
            <a:ext cx="4827895" cy="1090168"/>
          </a:xfrm>
          <a:prstGeom prst="rect">
            <a:avLst/>
          </a:prstGeom>
          <a:noFill/>
        </p:spPr>
        <p:txBody>
          <a:bodyPr wrap="square" anchor="t" lIns="18288" rIns="18288" tIns="36576" bIns="36576">
            <a:spAutoFit/>
          </a:bodyPr>
          <a:lstStyle>
            <a:lvl1pPr marL="310896" indent="-310896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1"/>
              </a:buClr>
              <a:buSzPct val="60000"/>
              <a:buFont typeface="Arial" panose="020B0604020202020204"/>
              <a:buChar char="■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76656" indent="-27432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accent1"/>
              </a:buClr>
              <a:buSzPct val="100000"/>
              <a:buFont typeface="Arial" panose="020B0604020202020204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05840" indent="-256032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2588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60000"/>
              <a:buFont typeface="Arial" panose="020B0604020202020204"/>
              <a:buChar char="■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4592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–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96596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8600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60000"/>
              <a:buFont typeface="Arial" panose="020B0604020202020204"/>
              <a:buChar char="■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60604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–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2608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/>
            <a:r>
              <a:rPr sz="1700"/>
              <a:t>Multi-scale context in parallel branches</a:t>
            </a:r>
          </a:p>
          <a:p>
            <a:pPr/>
            <a:r>
              <a:rPr sz="1700"/>
              <a:t>DeepLabv3+ adds a light decoder for sharp boundaries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Instance segmentation - Mask R-CNN</a:t>
            </a:r>
          </a:p>
        </p:txBody>
      </p:sp>
      <p:sp>
        <p:nvSpPr>
          <p:cNvPr id="3" name="Placeholder: Mask R-CNN pipeline" descr="Placeholder - Mask R-CNN pipeline"/>
          <p:cNvSpPr/>
          <p:nvPr/>
        </p:nvSpPr>
        <p:spPr>
          <a:xfrm>
            <a:off x="869347" y="1188720"/>
            <a:ext cx="10453002" cy="3484334"/>
          </a:xfrm>
          <a:prstGeom prst="rect">
            <a:avLst/>
          </a:prstGeom>
          <a:solidFill>
            <a:schemeClr val="tx1">
              <a:lumMod val="7000"/>
              <a:lumOff val="93000"/>
            </a:schemeClr>
          </a:solidFill>
          <a:ln w="15875">
            <a:solidFill>
              <a:schemeClr val="tx1">
                <a:lumMod val="45000"/>
                <a:lumOff val="55000"/>
              </a:schemeClr>
            </a:solidFill>
            <a:prstDash val="dash"/>
          </a:ln>
        </p:spPr>
        <p:txBody>
          <a:bodyPr rtlCol="0" anchor="ctr" wrap="square" lIns="137160" rIns="137160" tIns="137160" bIns="137160"/>
          <a:lstStyle/>
          <a:p>
            <a:pPr algn="ctr" marL="0" indent="0">
              <a:buNone/>
            </a:pPr>
            <a:r>
              <a:rPr sz="1760" b="1">
                <a:solidFill>
                  <a:schemeClr val="tx1">
                    <a:lumMod val="55000"/>
                    <a:lumOff val="45000"/>
                  </a:schemeClr>
                </a:solidFill>
              </a:rPr>
              <a:t>Mask R-CNN pipeline</a:t>
            </a:r>
          </a:p>
          <a:p>
            <a:pPr algn="ctr"/>
            <a:r>
              <a:rPr sz="1320">
                <a:solidFill>
                  <a:schemeClr val="tx1">
                    <a:lumMod val="55000"/>
                    <a:lumOff val="45000"/>
                  </a:schemeClr>
                </a:solidFill>
              </a:rPr>
              <a:t>backbone + FPN, RPN proposals, RoIAlign, box / class / mask heads</a:t>
            </a:r>
          </a:p>
        </p:txBody>
      </p:sp>
      <p:grpSp>
        <p:nvGrpSpPr>
          <p:cNvPr id="6" name="Exampleblock: Detect then segment"/>
          <p:cNvGrpSpPr/>
          <p:nvPr/>
        </p:nvGrpSpPr>
        <p:grpSpPr>
          <a:xfrm>
            <a:off x="548640" y="4901654"/>
            <a:ext cx="5364327" cy="1407706"/>
            <a:chOff x="548640" y="4901654"/>
            <a:chExt cx="5364327" cy="1407706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" name="Rounded Rectangle 3"/>
                <p:cNvSpPr/>
                <p:nvPr/>
              </p:nvSpPr>
              <p:spPr>
                <a:xfrm>
                  <a:off x="548640" y="4901654"/>
                  <a:ext cx="5364327" cy="1407706"/>
                </a:xfrm>
                <a:prstGeom prst="roundRect">
                  <a:avLst>
                    <a:gd name="adj" fmla="val 5846"/>
                  </a:avLst>
                </a:prstGeom>
                <a:solidFill>
                  <a:schemeClr val="accent3">
                    <a:lumMod val="15000"/>
                    <a:lumOff val="85000"/>
                  </a:schemeClr>
                </a:solidFill>
                <a:ln>
                  <a:noFill/>
                </a:ln>
              </p:spPr>
              <p:txBody>
                <a:bodyPr rtlCol="0" anchor="t" wrap="square" lIns="137160" rIns="137160" tIns="556298" bIns="73152">
                  <a:noAutofit/>
                </a:bodyPr>
                <a:lstStyle>
                  <a:lvl1pPr marL="310896" indent="-310896" algn="l" defTabSz="914400" rtl="0" eaLnBrk="1" latinLnBrk="0" hangingPunct="1">
                    <a:lnSpc>
                      <a:spcPct val="100000"/>
                    </a:lnSpc>
                    <a:spcBef>
                      <a:spcPts val="1000"/>
                    </a:spcBef>
                    <a:buClr>
                      <a:schemeClr val="accent1"/>
                    </a:buClr>
                    <a:buSzPct val="60000"/>
                    <a:buFont typeface="Arial" panose="020B0604020202020204"/>
                    <a:buChar char="■"/>
                    <a:defRPr sz="2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76656" indent="-274320" algn="l" defTabSz="914400" rtl="0" eaLnBrk="1" latinLnBrk="0" hangingPunct="1">
                    <a:lnSpc>
                      <a:spcPct val="100000"/>
                    </a:lnSpc>
                    <a:spcBef>
                      <a:spcPts val="4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–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005840" indent="-256032" algn="l" defTabSz="914400" rtl="0" eaLnBrk="1" latinLnBrk="0" hangingPunct="1">
                    <a:lnSpc>
                      <a:spcPct val="100000"/>
                    </a:lnSpc>
                    <a:spcBef>
                      <a:spcPts val="3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2588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60000"/>
                    <a:buFont typeface="Arial" panose="020B0604020202020204"/>
                    <a:buChar char="■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64592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–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196596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28600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60000"/>
                    <a:buFont typeface="Arial" panose="020B0604020202020204"/>
                    <a:buChar char="■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260604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–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292608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l" marL="0" indent="0">
                    <a:buNone/>
                  </a:pPr>
                  <a:r>
                    <a:rPr sz="1980">
                      <a:solidFill>
                        <a:schemeClr val="tx1"/>
                      </a:solidFill>
                    </a:rPr>
                    <a:t>A small FCN predicts a </a:t>
                  </a:r>
                  <a14:m>
                    <m:oMath xmlns:m="http://schemas.openxmlformats.org/officeDocument/2006/math">
                      <m:r>
                        <a:rPr lang="en-US" sz="1980" i="0">
                          <a:solidFill>
                            <a:schemeClr val="tx1"/>
                          </a:solidFill>
                          <a:latin typeface="Cambria Math"/>
                        </a:rPr>
                        <m:t>28</m:t>
                      </m:r>
                      <m:r>
                        <m:rPr>
                          <m:sty m:val="p"/>
                        </m:rPr>
                        <a:rPr lang="en-US" sz="1980" i="0">
                          <a:solidFill>
                            <a:schemeClr val="tx1"/>
                          </a:solidFill>
                          <a:latin typeface="Cambria Math"/>
                        </a:rPr>
                        <m:t>×</m:t>
                      </m:r>
                      <m:r>
                        <a:rPr lang="en-US" sz="1980" i="0">
                          <a:solidFill>
                            <a:schemeClr val="tx1"/>
                          </a:solidFill>
                          <a:latin typeface="Cambria Math"/>
                        </a:rPr>
                        <m:t>28</m:t>
                      </m:r>
                    </m:oMath>
                  </a14:m>
                  <a:r>
                    <a:rPr sz="1980">
                      <a:solidFill>
                        <a:schemeClr val="tx1"/>
                      </a:solidFill>
                    </a:rPr>
                    <a:t> mask per detected box</a:t>
                  </a:r>
                </a:p>
              </p:txBody>
            </p:sp>
          </mc:Choice>
          <mc:Fallback>
            <p:sp>
              <p:nvSpPr>
                <p:cNvPr id="4" name="Rounded Rectangle 3"/>
                <p:cNvSpPr/>
                <p:nvPr/>
              </p:nvSpPr>
              <p:spPr>
                <a:xfrm>
                  <a:off x="548640" y="4901654"/>
                  <a:ext cx="5364327" cy="1407706"/>
                </a:xfrm>
                <a:prstGeom prst="roundRect">
                  <a:avLst>
                    <a:gd name="adj" fmla="val 5846"/>
                  </a:avLst>
                </a:prstGeom>
                <a:solidFill>
                  <a:schemeClr val="accent3">
                    <a:lumMod val="15000"/>
                    <a:lumOff val="85000"/>
                  </a:schemeClr>
                </a:solidFill>
                <a:ln>
                  <a:noFill/>
                </a:ln>
              </p:spPr>
              <p:txBody>
                <a:bodyPr rtlCol="0" anchor="t" wrap="square" lIns="137160" rIns="137160" tIns="556298" bIns="73152">
                  <a:noAutofit/>
                </a:bodyPr>
                <a:lstStyle>
                  <a:lvl1pPr marL="310896" indent="-310896" algn="l" defTabSz="914400" rtl="0" eaLnBrk="1" latinLnBrk="0" hangingPunct="1">
                    <a:lnSpc>
                      <a:spcPct val="100000"/>
                    </a:lnSpc>
                    <a:spcBef>
                      <a:spcPts val="1000"/>
                    </a:spcBef>
                    <a:buClr>
                      <a:schemeClr val="accent1"/>
                    </a:buClr>
                    <a:buSzPct val="60000"/>
                    <a:buFont typeface="Arial" panose="020B0604020202020204"/>
                    <a:buChar char="■"/>
                    <a:defRPr sz="2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76656" indent="-274320" algn="l" defTabSz="914400" rtl="0" eaLnBrk="1" latinLnBrk="0" hangingPunct="1">
                    <a:lnSpc>
                      <a:spcPct val="100000"/>
                    </a:lnSpc>
                    <a:spcBef>
                      <a:spcPts val="4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–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005840" indent="-256032" algn="l" defTabSz="914400" rtl="0" eaLnBrk="1" latinLnBrk="0" hangingPunct="1">
                    <a:lnSpc>
                      <a:spcPct val="100000"/>
                    </a:lnSpc>
                    <a:spcBef>
                      <a:spcPts val="3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2588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60000"/>
                    <a:buFont typeface="Arial" panose="020B0604020202020204"/>
                    <a:buChar char="■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64592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–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196596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28600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60000"/>
                    <a:buFont typeface="Arial" panose="020B0604020202020204"/>
                    <a:buChar char="■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260604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–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292608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l" marL="0" indent="0">
                    <a:buNone/>
                  </a:pPr>
                  <a:r>
                    <a:rPr sz="1980">
                      <a:solidFill>
                        <a:schemeClr val="tx1"/>
                      </a:solidFill>
                    </a:rPr>
                    <a:t>A small FCN predicts a </a:t>
                  </a:r>
                  <a:r>
                    <a:rPr sz="1980" i="1">
                      <a:solidFill>
                        <a:schemeClr val="tx1"/>
                      </a:solidFill>
                    </a:rPr>
                    <a:t>28 × 28</a:t>
                  </a:r>
                  <a:r>
                    <a:rPr sz="1980">
                      <a:solidFill>
                        <a:schemeClr val="tx1"/>
                      </a:solidFill>
                    </a:rPr>
                    <a:t> mask per detected box</a:t>
                  </a:r>
                </a:p>
              </p:txBody>
            </p:sp>
          </mc:Fallback>
        </mc:AlternateContent>
        <p:sp>
          <p:nvSpPr>
            <p:cNvPr id="5" name="Round Same Side Corner Rectangle 4"/>
            <p:cNvSpPr/>
            <p:nvPr/>
          </p:nvSpPr>
          <p:spPr>
            <a:xfrm>
              <a:off x="548640" y="4901654"/>
              <a:ext cx="5364327" cy="483146"/>
            </a:xfrm>
            <a:prstGeom prst="round2SameRect">
              <a:avLst>
                <a:gd name="adj1" fmla="val 17033"/>
                <a:gd name="adj2" fmla="val 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rtlCol="0" anchor="ctr" wrap="square" lIns="137160" rIns="137160" tIns="18288" bIns="18288"/>
            <a:lstStyle/>
            <a:p>
              <a:pPr algn="l"/>
              <a:r>
                <a:rPr sz="2079" b="1">
                  <a:solidFill>
                    <a:schemeClr val="bg1"/>
                  </a:solidFill>
                </a:rPr>
                <a:t>Detect then segment</a:t>
              </a:r>
            </a:p>
          </p:txBody>
        </p:sp>
      </p:grpSp>
      <p:grpSp>
        <p:nvGrpSpPr>
          <p:cNvPr id="9" name="Block: RoIAlign"/>
          <p:cNvGrpSpPr/>
          <p:nvPr/>
        </p:nvGrpSpPr>
        <p:grpSpPr>
          <a:xfrm>
            <a:off x="6278727" y="4901654"/>
            <a:ext cx="5364327" cy="1407706"/>
            <a:chOff x="6278727" y="4901654"/>
            <a:chExt cx="5364327" cy="1407706"/>
          </a:xfrm>
        </p:grpSpPr>
        <p:sp>
          <p:nvSpPr>
            <p:cNvPr id="7" name="Rounded Rectangle 6"/>
            <p:cNvSpPr/>
            <p:nvPr/>
          </p:nvSpPr>
          <p:spPr>
            <a:xfrm>
              <a:off x="6278727" y="4901654"/>
              <a:ext cx="5364327" cy="1407706"/>
            </a:xfrm>
            <a:prstGeom prst="roundRect">
              <a:avLst>
                <a:gd name="adj" fmla="val 5846"/>
              </a:avLst>
            </a:prstGeom>
            <a:solidFill>
              <a:schemeClr val="accent1">
                <a:lumMod val="15000"/>
                <a:lumOff val="85000"/>
              </a:schemeClr>
            </a:solidFill>
            <a:ln>
              <a:noFill/>
            </a:ln>
          </p:spPr>
          <p:txBody>
            <a:bodyPr rtlCol="0" anchor="t" wrap="square" lIns="137160" rIns="137160" tIns="556298" bIns="73152">
              <a:noAutofit/>
            </a:bodyPr>
            <a:lstStyle>
              <a:lvl1pPr marL="310896" indent="-310896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1"/>
                </a:buClr>
                <a:buSzPct val="60000"/>
                <a:buFont typeface="Arial" panose="020B0604020202020204"/>
                <a:buChar char="■"/>
                <a:defRPr sz="2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76656" indent="-274320" algn="l" defTabSz="914400" rtl="0" eaLnBrk="1" latinLnBrk="0" hangingPunct="1">
                <a:lnSpc>
                  <a:spcPct val="100000"/>
                </a:lnSpc>
                <a:spcBef>
                  <a:spcPts val="4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05840" indent="-256032" algn="l" defTabSz="914400" rtl="0" eaLnBrk="1" latinLnBrk="0" hangingPunct="1">
                <a:lnSpc>
                  <a:spcPct val="100000"/>
                </a:lnSpc>
                <a:spcBef>
                  <a:spcPts val="3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25880" indent="-237744" algn="l" defTabSz="914400" rtl="0" eaLnBrk="1" latinLnBrk="0" hangingPunct="1">
                <a:lnSpc>
                  <a:spcPct val="100000"/>
                </a:lnSpc>
                <a:spcBef>
                  <a:spcPts val="200"/>
                </a:spcBef>
                <a:buClr>
                  <a:schemeClr val="accent1"/>
                </a:buClr>
                <a:buSzPct val="60000"/>
                <a:buFont typeface="Arial" panose="020B0604020202020204"/>
                <a:buChar char="■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645920" indent="-237744" algn="l" defTabSz="914400" rtl="0" eaLnBrk="1" latinLnBrk="0" hangingPunct="1">
                <a:lnSpc>
                  <a:spcPct val="100000"/>
                </a:lnSpc>
                <a:spcBef>
                  <a:spcPts val="2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–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965960" indent="-237744" algn="l" defTabSz="914400" rtl="0" eaLnBrk="1" latinLnBrk="0" hangingPunct="1">
                <a:lnSpc>
                  <a:spcPct val="100000"/>
                </a:lnSpc>
                <a:spcBef>
                  <a:spcPts val="2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286000" indent="-237744" algn="l" defTabSz="914400" rtl="0" eaLnBrk="1" latinLnBrk="0" hangingPunct="1">
                <a:lnSpc>
                  <a:spcPct val="100000"/>
                </a:lnSpc>
                <a:spcBef>
                  <a:spcPts val="200"/>
                </a:spcBef>
                <a:buClr>
                  <a:schemeClr val="accent1"/>
                </a:buClr>
                <a:buSzPct val="60000"/>
                <a:buFont typeface="Arial" panose="020B0604020202020204"/>
                <a:buChar char="■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606040" indent="-237744" algn="l" defTabSz="914400" rtl="0" eaLnBrk="1" latinLnBrk="0" hangingPunct="1">
                <a:lnSpc>
                  <a:spcPct val="100000"/>
                </a:lnSpc>
                <a:spcBef>
                  <a:spcPts val="2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–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926080" indent="-237744" algn="l" defTabSz="914400" rtl="0" eaLnBrk="1" latinLnBrk="0" hangingPunct="1">
                <a:lnSpc>
                  <a:spcPct val="100000"/>
                </a:lnSpc>
                <a:spcBef>
                  <a:spcPts val="2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 marL="0" indent="0">
                <a:buNone/>
              </a:pPr>
              <a:r>
                <a:rPr sz="1980">
                  <a:solidFill>
                    <a:schemeClr val="tx1"/>
                  </a:solidFill>
                </a:rPr>
                <a:t>Bilinear sampling without quantisation keeps masks aligned</a:t>
              </a:r>
            </a:p>
          </p:txBody>
        </p:sp>
        <p:sp>
          <p:nvSpPr>
            <p:cNvPr id="8" name="Round Same Side Corner Rectangle 7"/>
            <p:cNvSpPr/>
            <p:nvPr/>
          </p:nvSpPr>
          <p:spPr>
            <a:xfrm>
              <a:off x="6278727" y="4901654"/>
              <a:ext cx="5364327" cy="483146"/>
            </a:xfrm>
            <a:prstGeom prst="round2SameRect">
              <a:avLst>
                <a:gd name="adj1" fmla="val 17033"/>
                <a:gd name="adj2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137160" rIns="137160" tIns="18288" bIns="18288"/>
            <a:lstStyle/>
            <a:p>
              <a:pPr algn="l"/>
              <a:r>
                <a:rPr sz="2079" b="1">
                  <a:solidFill>
                    <a:schemeClr val="bg1"/>
                  </a:solidFill>
                </a:rPr>
                <a:t>RoIAlign</a:t>
              </a:r>
            </a:p>
          </p:txBody>
        </p:sp>
      </p:grp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Transformer-based segmentation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548640" y="1408397"/>
          <a:ext cx="11094415" cy="2233805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3336738"/>
                <a:gridCol w="1209343"/>
                <a:gridCol w="5088710"/>
                <a:gridCol w="1459624"/>
              </a:tblGrid>
              <a:tr h="446761">
                <a:tc>
                  <a:txBody>
                    <a:bodyPr/>
                    <a:lstStyle/>
                    <a:p>
                      <a:pPr algn="l"/>
                      <a:r>
                        <a:rPr sz="1720" b="1">
                          <a:solidFill>
                            <a:schemeClr val="tx1"/>
                          </a:solidFill>
                        </a:rPr>
                        <a:t>Model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22225" cap="flat" cmpd="sng">
                      <a:solidFill>
                        <a:schemeClr val="tx1"/>
                      </a:solidFill>
                      <a:prstDash val="solid"/>
                    </a:lnT>
                    <a:lnB w="11430" cap="flat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0" b="1">
                          <a:solidFill>
                            <a:schemeClr val="tx1"/>
                          </a:solidFill>
                        </a:rPr>
                        <a:t>Year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22225" cap="flat" cmpd="sng">
                      <a:solidFill>
                        <a:schemeClr val="tx1"/>
                      </a:solidFill>
                      <a:prstDash val="solid"/>
                    </a:lnT>
                    <a:lnB w="11430" cap="flat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0" b="1">
                          <a:solidFill>
                            <a:schemeClr val="tx1"/>
                          </a:solidFill>
                        </a:rPr>
                        <a:t>Key idea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22225" cap="flat" cmpd="sng">
                      <a:solidFill>
                        <a:schemeClr val="tx1"/>
                      </a:solidFill>
                      <a:prstDash val="solid"/>
                    </a:lnT>
                    <a:lnB w="11430" cap="flat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0" b="1">
                          <a:solidFill>
                            <a:schemeClr val="tx1"/>
                          </a:solidFill>
                        </a:rPr>
                        <a:t>Task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22225" cap="flat" cmpd="sng">
                      <a:solidFill>
                        <a:schemeClr val="tx1"/>
                      </a:solidFill>
                      <a:prstDash val="solid"/>
                    </a:lnT>
                    <a:lnB w="11430" cap="flat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446761">
                <a:tc>
                  <a:txBody>
                    <a:bodyPr/>
                    <a:lstStyle/>
                    <a:p>
                      <a:pPr algn="l"/>
                      <a:r>
                        <a:rPr sz="1720">
                          <a:solidFill>
                            <a:schemeClr val="tx1"/>
                          </a:solidFill>
                        </a:rPr>
                        <a:t>SETR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0">
                          <a:solidFill>
                            <a:schemeClr val="tx1"/>
                          </a:solidFill>
                        </a:rPr>
                        <a:t>2021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0">
                          <a:solidFill>
                            <a:schemeClr val="tx1"/>
                          </a:solidFill>
                        </a:rPr>
                        <a:t>ViT encoder + simple decoder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0">
                          <a:solidFill>
                            <a:schemeClr val="tx1"/>
                          </a:solidFill>
                        </a:rPr>
                        <a:t>Semantic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446761">
                <a:tc>
                  <a:txBody>
                    <a:bodyPr/>
                    <a:lstStyle/>
                    <a:p>
                      <a:pPr algn="l"/>
                      <a:r>
                        <a:rPr sz="1720">
                          <a:solidFill>
                            <a:schemeClr val="tx1"/>
                          </a:solidFill>
                        </a:rPr>
                        <a:t>SegFormer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0">
                          <a:solidFill>
                            <a:schemeClr val="tx1"/>
                          </a:solidFill>
                        </a:rPr>
                        <a:t>2021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0">
                          <a:solidFill>
                            <a:schemeClr val="tx1"/>
                          </a:solidFill>
                        </a:rPr>
                        <a:t>Hierarchical encoder + all-MLP decoder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0">
                          <a:solidFill>
                            <a:schemeClr val="tx1"/>
                          </a:solidFill>
                        </a:rPr>
                        <a:t>Semantic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446761">
                <a:tc>
                  <a:txBody>
                    <a:bodyPr/>
                    <a:lstStyle/>
                    <a:p>
                      <a:pPr algn="l"/>
                      <a:r>
                        <a:rPr sz="1720">
                          <a:solidFill>
                            <a:schemeClr val="tx1"/>
                          </a:solidFill>
                        </a:rPr>
                        <a:t>MaskFormer / Mask2Former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0">
                          <a:solidFill>
                            <a:schemeClr val="tx1"/>
                          </a:solidFill>
                        </a:rPr>
                        <a:t>2021-22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0">
                          <a:solidFill>
                            <a:schemeClr val="tx1"/>
                          </a:solidFill>
                        </a:rPr>
                        <a:t>Mask classification with queries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0">
                          <a:solidFill>
                            <a:schemeClr val="accent2"/>
                          </a:solidFill>
                        </a:rPr>
                        <a:t>Universal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446761">
                <a:tc>
                  <a:txBody>
                    <a:bodyPr/>
                    <a:lstStyle/>
                    <a:p>
                      <a:pPr algn="l"/>
                      <a:r>
                        <a:rPr sz="1720" b="1">
                          <a:solidFill>
                            <a:schemeClr val="tx1"/>
                          </a:solidFill>
                        </a:rPr>
                        <a:t>SAM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22225" cap="flat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0">
                          <a:solidFill>
                            <a:schemeClr val="tx1"/>
                          </a:solidFill>
                        </a:rPr>
                        <a:t>2023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22225" cap="flat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0">
                          <a:solidFill>
                            <a:schemeClr val="tx1"/>
                          </a:solidFill>
                        </a:rPr>
                        <a:t>Promptable foundation model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22225" cap="flat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0">
                          <a:solidFill>
                            <a:schemeClr val="tx1"/>
                          </a:solidFill>
                        </a:rPr>
                        <a:t>Any mask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22225" cap="flat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Placeholder: Query-based mask decoding" descr="Placeholder - Query-based mask decoding"/>
          <p:cNvSpPr/>
          <p:nvPr/>
        </p:nvSpPr>
        <p:spPr>
          <a:xfrm>
            <a:off x="1658081" y="3870800"/>
            <a:ext cx="8875532" cy="2218883"/>
          </a:xfrm>
          <a:prstGeom prst="rect">
            <a:avLst/>
          </a:prstGeom>
          <a:solidFill>
            <a:schemeClr val="tx1">
              <a:lumMod val="7000"/>
              <a:lumOff val="93000"/>
            </a:schemeClr>
          </a:solidFill>
          <a:ln w="15875">
            <a:solidFill>
              <a:schemeClr val="tx1">
                <a:lumMod val="45000"/>
                <a:lumOff val="55000"/>
              </a:schemeClr>
            </a:solidFill>
            <a:prstDash val="dash"/>
          </a:ln>
        </p:spPr>
        <p:txBody>
          <a:bodyPr rtlCol="0" anchor="ctr" wrap="square" lIns="137160" rIns="137160" tIns="137160" bIns="137160"/>
          <a:lstStyle/>
          <a:p>
            <a:pPr algn="ctr" marL="0" indent="0">
              <a:buNone/>
            </a:pPr>
            <a:r>
              <a:rPr sz="1760" b="1">
                <a:solidFill>
                  <a:schemeClr val="tx1">
                    <a:lumMod val="55000"/>
                    <a:lumOff val="45000"/>
                  </a:schemeClr>
                </a:solidFill>
              </a:rPr>
              <a:t>Query-based mask decoding</a:t>
            </a:r>
          </a:p>
          <a:p>
            <a:pPr algn="ctr"/>
            <a:r>
              <a:rPr sz="1320">
                <a:solidFill>
                  <a:schemeClr val="tx1">
                    <a:lumMod val="55000"/>
                    <a:lumOff val="45000"/>
                  </a:schemeClr>
                </a:solidFill>
              </a:rPr>
              <a:t>N learned queries -&gt; N (class, mask) pairs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Segment Anything (SAM)</a:t>
            </a:r>
          </a:p>
        </p:txBody>
      </p:sp>
      <p:sp>
        <p:nvSpPr>
          <p:cNvPr id="3" name="Placeholder: SAM architecture" descr="Placeholder - SAM architecture"/>
          <p:cNvSpPr/>
          <p:nvPr/>
        </p:nvSpPr>
        <p:spPr>
          <a:xfrm>
            <a:off x="1286235" y="2089451"/>
            <a:ext cx="4425570" cy="3319178"/>
          </a:xfrm>
          <a:prstGeom prst="rect">
            <a:avLst/>
          </a:prstGeom>
          <a:solidFill>
            <a:schemeClr val="tx1">
              <a:lumMod val="7000"/>
              <a:lumOff val="93000"/>
            </a:schemeClr>
          </a:solidFill>
          <a:ln w="15875">
            <a:solidFill>
              <a:schemeClr val="tx1">
                <a:lumMod val="45000"/>
                <a:lumOff val="55000"/>
              </a:schemeClr>
            </a:solidFill>
            <a:prstDash val="dash"/>
          </a:ln>
        </p:spPr>
        <p:txBody>
          <a:bodyPr rtlCol="0" anchor="ctr" wrap="square" lIns="137160" rIns="137160" tIns="137160" bIns="137160"/>
          <a:lstStyle/>
          <a:p>
            <a:pPr algn="ctr" marL="0" indent="0">
              <a:buNone/>
            </a:pPr>
            <a:r>
              <a:rPr sz="1760" b="1">
                <a:solidFill>
                  <a:schemeClr val="tx1">
                    <a:lumMod val="55000"/>
                    <a:lumOff val="45000"/>
                  </a:schemeClr>
                </a:solidFill>
              </a:rPr>
              <a:t>SAM architecture</a:t>
            </a:r>
          </a:p>
          <a:p>
            <a:pPr algn="ctr"/>
            <a:r>
              <a:rPr sz="1320">
                <a:solidFill>
                  <a:schemeClr val="tx1">
                    <a:lumMod val="55000"/>
                    <a:lumOff val="45000"/>
                  </a:schemeClr>
                </a:solidFill>
              </a:rPr>
              <a:t>image encoder, prompt encoder (points / box / mask), mask decoder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15160" y="2149856"/>
            <a:ext cx="4827895" cy="3198368"/>
          </a:xfrm>
          <a:prstGeom prst="rect">
            <a:avLst/>
          </a:prstGeom>
          <a:noFill/>
        </p:spPr>
        <p:txBody>
          <a:bodyPr wrap="square" anchor="t" lIns="18288" rIns="18288" tIns="36576" bIns="36576">
            <a:spAutoFit/>
          </a:bodyPr>
          <a:lstStyle>
            <a:lvl1pPr marL="310896" indent="-310896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1"/>
              </a:buClr>
              <a:buSzPct val="60000"/>
              <a:buFont typeface="Arial" panose="020B0604020202020204"/>
              <a:buChar char="■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76656" indent="-27432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accent1"/>
              </a:buClr>
              <a:buSzPct val="100000"/>
              <a:buFont typeface="Arial" panose="020B0604020202020204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05840" indent="-256032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2588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60000"/>
              <a:buFont typeface="Arial" panose="020B0604020202020204"/>
              <a:buChar char="■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4592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–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96596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8600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60000"/>
              <a:buFont typeface="Arial" panose="020B0604020202020204"/>
              <a:buChar char="■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60604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–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2608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/>
            <a:r>
              <a:rPr sz="2200"/>
              <a:t>Trained on SA-1B - over 1 billion masks</a:t>
            </a:r>
          </a:p>
          <a:p>
            <a:pPr/>
            <a:r>
              <a:rPr sz="2200"/>
              <a:t>Prompts - points, boxes, coarse masks</a:t>
            </a:r>
          </a:p>
          <a:p>
            <a:pPr/>
            <a:r>
              <a:rPr sz="2200"/>
              <a:t>Zero-shot transfer to new domains</a:t>
            </a:r>
          </a:p>
          <a:p>
            <a:pPr/>
            <a:r>
              <a:rPr sz="2200"/>
              <a:t>Outputs several candidate masks per prompt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Training and evaluation</a:t>
            </a:r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Loss functions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/>
              <p:cNvSpPr txBox="1"/>
              <p:nvPr/>
            </p:nvSpPr>
            <p:spPr>
              <a:xfrm>
                <a:off x="548640" y="1422127"/>
                <a:ext cx="11094415" cy="96012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scr m:val="script"/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L</m:t>
                          </m:r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CE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a:rPr lang="en-US" sz="2310" i="0">
                              <a:latin typeface="Cambria Math"/>
                            </a:rPr>
                            <m:t>1</m:t>
                          </m:r>
                        </m:num>
                        <m:den>
                          <m:r>
                            <a:rPr lang="en-US" sz="2310" i="1">
                              <a:latin typeface="Cambria Math"/>
                            </a:rP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a:rPr lang="en-US" sz="2310" i="1">
                              <a:latin typeface="Cambria Math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=</m:t>
                          </m:r>
                          <m:r>
                            <a:rPr lang="en-US" sz="2310" i="0">
                              <a:latin typeface="Cambria Math"/>
                            </a:rPr>
                            <m:t>1</m:t>
                          </m:r>
                        </m:sub>
                        <m:sup>
                          <m:r>
                            <a:rPr lang="en-US" sz="2310" i="1">
                              <a:latin typeface="Cambria Math"/>
                            </a:rPr>
                            <m:t>N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a:rPr lang="en-US" sz="2310" i="1">
                                  <a:latin typeface="Cambria Math"/>
                                </a:rPr>
                                <m:t>c</m:t>
                              </m:r>
                              <m:r>
                                <m:rPr>
                                  <m:sty m:val="p"/>
                                </m:rPr>
                                <a:rPr lang="en-US" sz="2310" i="0">
                                  <a:latin typeface="Cambria Math"/>
                                </a:rPr>
                                <m:t>=</m:t>
                              </m:r>
                              <m:r>
                                <a:rPr lang="en-US" sz="2310" i="0">
                                  <a:latin typeface="Cambria Math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2310" i="1">
                                  <a:latin typeface="Cambria Math"/>
                                </a:rPr>
                                <m:t>C</m:t>
                              </m:r>
                            </m:sup>
                            <m:e>
                              <m:sSub>
                                <m:e>
                                  <m:r>
                                    <a:rPr lang="en-US" sz="2310" i="1">
                                      <a:latin typeface="Cambria Math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en-US" sz="2310" i="1">
                                      <a:latin typeface="Cambria Math"/>
                                    </a:rPr>
                                    <m:t>i</m:t>
                                  </m:r>
                                  <m:r>
                                    <a:rPr lang="en-US" sz="2310" i="1">
                                      <a:latin typeface="Cambria Math"/>
                                    </a:rPr>
                                    <m:t>c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log</m:t>
                      </m:r>
                      <m:sSub>
                        <m:e>
                          <m:r>
                            <a:rPr lang="en-US" sz="2310" i="1">
                              <a:latin typeface="Cambria Math"/>
                            </a:rPr>
                            <m:t>p</m:t>
                          </m:r>
                        </m:e>
                        <m:sub>
                          <m:r>
                            <a:rPr lang="en-US" sz="2310" i="1">
                              <a:latin typeface="Cambria Math"/>
                            </a:rPr>
                            <m:t>i</m:t>
                          </m:r>
                          <m:r>
                            <a:rPr lang="en-US" sz="2310" i="1">
                              <a:latin typeface="Cambria Math"/>
                            </a:rPr>
                            <m:t>c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  <mc:Fallback>
          <p:sp>
            <p:nvSpPr>
              <p:cNvPr id="3" name="TextBox 2"/>
              <p:cNvSpPr txBox="1"/>
              <p:nvPr/>
            </p:nvSpPr>
            <p:spPr>
              <a:xfrm>
                <a:off x="548640" y="1422127"/>
                <a:ext cx="11094415" cy="96012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:r>
                  <a:rPr sz="2310" i="1"/>
                  <a:t>L_(CE) = −(1)/(N) ∑ᵢ₌₁^N ∑_(c=1)^C y_(ic) log p_(ic)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/>
              <p:cNvSpPr txBox="1"/>
              <p:nvPr/>
            </p:nvSpPr>
            <p:spPr>
              <a:xfrm>
                <a:off x="548640" y="2610847"/>
                <a:ext cx="11094415" cy="96012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scr m:val="script"/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L</m:t>
                          </m:r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Dice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=</m:t>
                      </m:r>
                      <m:r>
                        <a:rPr lang="en-US" sz="2310" i="0">
                          <a:latin typeface="Cambria Math"/>
                        </a:rPr>
                        <m:t>1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a:rPr lang="en-US" sz="2310" i="0">
                              <a:latin typeface="Cambria Math"/>
                            </a:rPr>
                            <m:t>2</m:t>
                          </m:r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a:rPr lang="en-US" sz="2310" i="1">
                                  <a:latin typeface="Cambria Math"/>
                                </a:rPr>
                                <m:t>i</m:t>
                              </m:r>
                            </m:sub>
                            <m:sup>
                              <m:r>
                                <a:rPr lang="en-US" sz="2310" i="0">
                                  <a:latin typeface="Cambria Math"/>
                                </a:rPr>
                                <m:t>​</m:t>
                              </m:r>
                            </m:sup>
                            <m:e>
                              <m:sSub>
                                <m:e>
                                  <m:r>
                                    <a:rPr lang="en-US" sz="2310" i="1">
                                      <a:latin typeface="Cambria Math"/>
                                    </a:rPr>
                                    <m:t>p</m:t>
                                  </m:r>
                                </m:e>
                                <m:sub>
                                  <m:r>
                                    <a:rPr lang="en-US" sz="2310" i="1">
                                      <a:latin typeface="Cambria Math"/>
                                    </a:rPr>
                                    <m:t>i</m:t>
                                  </m:r>
                                </m:sub>
                              </m:sSub>
                            </m:e>
                          </m:nary>
                          <m:sSub>
                            <m:e>
                              <m:r>
                                <a:rPr lang="en-US" sz="2310" i="1">
                                  <a:latin typeface="Cambria Math"/>
                                </a:rPr>
                                <m:t>g</m:t>
                              </m:r>
                            </m:e>
                            <m:sub>
                              <m:r>
                                <a:rPr lang="en-US" sz="2310" i="1">
                                  <a:latin typeface="Cambria Math"/>
                                </a:rPr>
                                <m:t>i</m:t>
                              </m:r>
                            </m:sub>
                          </m:sSub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a:rPr lang="en-US" sz="2310" i="1">
                                  <a:latin typeface="Cambria Math"/>
                                </a:rPr>
                                <m:t>i</m:t>
                              </m:r>
                            </m:sub>
                            <m:sup>
                              <m:r>
                                <a:rPr lang="en-US" sz="2310" i="0">
                                  <a:latin typeface="Cambria Math"/>
                                </a:rPr>
                                <m:t>​</m:t>
                              </m:r>
                            </m:sup>
                            <m:e>
                              <m:sSub>
                                <m:e>
                                  <m:r>
                                    <a:rPr lang="en-US" sz="2310" i="1">
                                      <a:latin typeface="Cambria Math"/>
                                    </a:rPr>
                                    <m:t>p</m:t>
                                  </m:r>
                                </m:e>
                                <m:sub>
                                  <m:r>
                                    <a:rPr lang="en-US" sz="2310" i="1">
                                      <a:latin typeface="Cambria Math"/>
                                    </a:rPr>
                                    <m:t>i</m:t>
                                  </m:r>
                                </m:sub>
                              </m:sSub>
                            </m:e>
                          </m:nary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+</m:t>
                          </m:r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a:rPr lang="en-US" sz="2310" i="1">
                                  <a:latin typeface="Cambria Math"/>
                                </a:rPr>
                                <m:t>i</m:t>
                              </m:r>
                            </m:sub>
                            <m:sup>
                              <m:r>
                                <a:rPr lang="en-US" sz="2310" i="0">
                                  <a:latin typeface="Cambria Math"/>
                                </a:rPr>
                                <m:t>​</m:t>
                              </m:r>
                            </m:sup>
                            <m:e>
                              <m:sSub>
                                <m:e>
                                  <m:r>
                                    <a:rPr lang="en-US" sz="2310" i="1">
                                      <a:latin typeface="Cambria Math"/>
                                    </a:rPr>
                                    <m:t>g</m:t>
                                  </m:r>
                                </m:e>
                                <m:sub>
                                  <m:r>
                                    <a:rPr lang="en-US" sz="2310" i="1">
                                      <a:latin typeface="Cambria Math"/>
                                    </a:rPr>
                                    <m:t>i</m:t>
                                  </m:r>
                                </m:sub>
                              </m:sSub>
                            </m:e>
                          </m:nary>
                        </m:den>
                      </m:f>
                    </m:oMath>
                  </m:oMathPara>
                </a14:m>
              </a:p>
            </p:txBody>
          </p:sp>
        </mc:Choice>
        <mc:Fallback>
          <p:sp>
            <p:nvSpPr>
              <p:cNvPr id="4" name="TextBox 3"/>
              <p:cNvSpPr txBox="1"/>
              <p:nvPr/>
            </p:nvSpPr>
            <p:spPr>
              <a:xfrm>
                <a:off x="548640" y="2610847"/>
                <a:ext cx="11094415" cy="96012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:r>
                  <a:rPr sz="2310" i="1"/>
                  <a:t>L_(Dice) = 1 − (2 ∑ᵢ pᵢ gᵢ)/(∑ᵢ pᵢ + ∑ᵢ gᵢ)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/>
              <p:cNvSpPr txBox="1"/>
              <p:nvPr/>
            </p:nvSpPr>
            <p:spPr>
              <a:xfrm>
                <a:off x="548640" y="3799567"/>
                <a:ext cx="11094415" cy="64008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scr m:val="script"/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L</m:t>
                          </m:r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Focal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−</m:t>
                      </m:r>
                      <m:r>
                        <a:rPr lang="en-US" sz="2310" i="1">
                          <a:latin typeface="Cambria Math"/>
                        </a:rPr>
                        <m:t>α</m:t>
                      </m:r>
                      <m:r>
                        <a:rPr lang="en-US" sz="2310" i="0">
                          <a:latin typeface="Cambria Math"/>
                        </a:rPr>
                        <m:t> 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(</m:t>
                      </m:r>
                      <m:r>
                        <a:rPr lang="en-US" sz="2310" i="0">
                          <a:latin typeface="Cambria Math"/>
                        </a:rPr>
                        <m:t>1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−</m:t>
                      </m:r>
                      <m:sSub>
                        <m:e>
                          <m:r>
                            <a:rPr lang="en-US" sz="2310" i="1">
                              <a:latin typeface="Cambria Math"/>
                            </a:rPr>
                            <m:t>p</m:t>
                          </m:r>
                        </m:e>
                        <m:sub>
                          <m:r>
                            <a:rPr lang="en-US" sz="2310" i="1">
                              <a:latin typeface="Cambria Math"/>
                            </a:rPr>
                            <m:t>t</m:t>
                          </m:r>
                        </m:sub>
                      </m:sSub>
                      <m:sSup>
                        <m:e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)</m:t>
                          </m:r>
                        </m:e>
                        <m:sup>
                          <m:r>
                            <a:rPr lang="en-US" sz="2310" i="1">
                              <a:latin typeface="Cambria Math"/>
                            </a:rPr>
                            <m:t>γ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log</m:t>
                      </m:r>
                      <m:sSub>
                        <m:e>
                          <m:r>
                            <a:rPr lang="en-US" sz="2310" i="1">
                              <a:latin typeface="Cambria Math"/>
                            </a:rPr>
                            <m:t>p</m:t>
                          </m:r>
                        </m:e>
                        <m:sub>
                          <m:r>
                            <a:rPr lang="en-US" sz="2310" i="1">
                              <a:latin typeface="Cambria Math"/>
                            </a:rPr>
                            <m:t>t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  <mc:Fallback>
          <p:sp>
            <p:nvSpPr>
              <p:cNvPr id="5" name="TextBox 4"/>
              <p:cNvSpPr txBox="1"/>
              <p:nvPr/>
            </p:nvSpPr>
            <p:spPr>
              <a:xfrm>
                <a:off x="548640" y="3799567"/>
                <a:ext cx="11094415" cy="64008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:r>
                  <a:rPr sz="2310" i="1"/>
                  <a:t>L_(Focal) = −α (1 − p_t)^γ log p_t</a:t>
                </a:r>
              </a:p>
            </p:txBody>
          </p:sp>
        </mc:Fallback>
      </mc:AlternateContent>
      <p:grpSp>
        <p:nvGrpSpPr>
          <p:cNvPr id="8" name="Block: In practice"/>
          <p:cNvGrpSpPr/>
          <p:nvPr/>
        </p:nvGrpSpPr>
        <p:grpSpPr>
          <a:xfrm>
            <a:off x="548640" y="4668247"/>
            <a:ext cx="11094415" cy="1407706"/>
            <a:chOff x="548640" y="4668247"/>
            <a:chExt cx="11094415" cy="1407706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Rounded Rectangle 5"/>
                <p:cNvSpPr/>
                <p:nvPr/>
              </p:nvSpPr>
              <p:spPr>
                <a:xfrm>
                  <a:off x="548640" y="4668247"/>
                  <a:ext cx="11094415" cy="1407706"/>
                </a:xfrm>
                <a:prstGeom prst="roundRect">
                  <a:avLst>
                    <a:gd name="adj" fmla="val 5846"/>
                  </a:avLst>
                </a:prstGeom>
                <a:solidFill>
                  <a:schemeClr val="accent1">
                    <a:lumMod val="15000"/>
                    <a:lumOff val="85000"/>
                  </a:schemeClr>
                </a:solidFill>
                <a:ln>
                  <a:noFill/>
                </a:ln>
              </p:spPr>
              <p:txBody>
                <a:bodyPr rtlCol="0" anchor="t" wrap="square" lIns="137160" rIns="137160" tIns="556298" bIns="73152">
                  <a:noAutofit/>
                </a:bodyPr>
                <a:lstStyle>
                  <a:lvl1pPr marL="310896" indent="-310896" algn="l" defTabSz="914400" rtl="0" eaLnBrk="1" latinLnBrk="0" hangingPunct="1">
                    <a:lnSpc>
                      <a:spcPct val="100000"/>
                    </a:lnSpc>
                    <a:spcBef>
                      <a:spcPts val="1000"/>
                    </a:spcBef>
                    <a:buClr>
                      <a:schemeClr val="accent1"/>
                    </a:buClr>
                    <a:buSzPct val="60000"/>
                    <a:buFont typeface="Arial" panose="020B0604020202020204"/>
                    <a:buChar char="■"/>
                    <a:defRPr sz="2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76656" indent="-274320" algn="l" defTabSz="914400" rtl="0" eaLnBrk="1" latinLnBrk="0" hangingPunct="1">
                    <a:lnSpc>
                      <a:spcPct val="100000"/>
                    </a:lnSpc>
                    <a:spcBef>
                      <a:spcPts val="4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–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005840" indent="-256032" algn="l" defTabSz="914400" rtl="0" eaLnBrk="1" latinLnBrk="0" hangingPunct="1">
                    <a:lnSpc>
                      <a:spcPct val="100000"/>
                    </a:lnSpc>
                    <a:spcBef>
                      <a:spcPts val="3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2588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60000"/>
                    <a:buFont typeface="Arial" panose="020B0604020202020204"/>
                    <a:buChar char="■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64592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–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196596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28600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60000"/>
                    <a:buFont typeface="Arial" panose="020B0604020202020204"/>
                    <a:buChar char="■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260604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–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292608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l" marL="0" indent="0">
                    <a:buNone/>
                  </a:pPr>
                  <a:r>
                    <a:rPr sz="1980">
                      <a:solidFill>
                        <a:schemeClr val="tx1"/>
                      </a:solidFill>
                    </a:rPr>
                    <a:t>Combine them, e.g. </a:t>
                  </a:r>
                  <a14:m>
                    <m:oMath xmlns:m="http://schemas.openxmlformats.org/officeDocument/2006/math">
                      <m:r>
                        <m:rPr>
                          <m:scr m:val="script"/>
                          <m:sty m:val="p"/>
                        </m:rPr>
                        <a:rPr lang="en-US" sz="1980" i="0">
                          <a:solidFill>
                            <a:schemeClr val="tx1"/>
                          </a:solidFill>
                          <a:latin typeface="Cambria Math"/>
                        </a:rPr>
                        <m:t>L</m:t>
                      </m:r>
                      <m:r>
                        <m:rPr>
                          <m:sty m:val="p"/>
                        </m:rPr>
                        <a:rPr lang="en-US" sz="1980" i="0">
                          <a:solidFill>
                            <a:schemeClr val="tx1"/>
                          </a:solidFill>
                          <a:latin typeface="Cambria Math"/>
                        </a:rPr>
                        <m:t>=</m:t>
                      </m:r>
                      <m:sSub>
                        <m:e>
                          <m:r>
                            <m:rPr>
                              <m:scr m:val="script"/>
                              <m:sty m:val="p"/>
                            </m:rPr>
                            <a:rPr lang="en-US" sz="1980" i="0">
                              <a:solidFill>
                                <a:schemeClr val="tx1"/>
                              </a:solidFill>
                              <a:latin typeface="Cambria Math"/>
                            </a:rPr>
                            <m:t>L</m:t>
                          </m:r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a:rPr lang="en-US" sz="1980" i="0">
                              <a:solidFill>
                                <a:schemeClr val="tx1"/>
                              </a:solidFill>
                              <a:latin typeface="Cambria Math"/>
                            </a:rPr>
                            <m:t>CE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1980" i="0">
                          <a:solidFill>
                            <a:schemeClr val="tx1"/>
                          </a:solidFill>
                          <a:latin typeface="Cambria Math"/>
                        </a:rPr>
                        <m:t>+</m:t>
                      </m:r>
                      <m:sSub>
                        <m:e>
                          <m:r>
                            <m:rPr>
                              <m:scr m:val="script"/>
                              <m:sty m:val="p"/>
                            </m:rPr>
                            <a:rPr lang="en-US" sz="1980" i="0">
                              <a:solidFill>
                                <a:schemeClr val="tx1"/>
                              </a:solidFill>
                              <a:latin typeface="Cambria Math"/>
                            </a:rPr>
                            <m:t>L</m:t>
                          </m:r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a:rPr lang="en-US" sz="1980" i="0">
                              <a:solidFill>
                                <a:schemeClr val="tx1"/>
                              </a:solidFill>
                              <a:latin typeface="Cambria Math"/>
                            </a:rPr>
                            <m:t>Dice</m:t>
                          </m:r>
                        </m:sub>
                      </m:sSub>
                    </m:oMath>
                  </a14:m>
                  <a:r>
                    <a:rPr sz="1980">
                      <a:solidFill>
                        <a:schemeClr val="tx1"/>
                      </a:solidFill>
                    </a:rPr>
                    <a:t>: CE for stable gradients, Dice for </a:t>
                  </a:r>
                  <a:r>
                    <a:rPr sz="1980">
                      <a:solidFill>
                        <a:schemeClr val="accent2"/>
                      </a:solidFill>
                    </a:rPr>
                    <a:t>class imbalance</a:t>
                  </a:r>
                  <a:r>
                    <a:rPr sz="1980">
                      <a:solidFill>
                        <a:schemeClr val="tx1"/>
                      </a:solidFill>
                    </a:rPr>
                    <a:t>.</a:t>
                  </a:r>
                </a:p>
              </p:txBody>
            </p:sp>
          </mc:Choice>
          <mc:Fallback>
            <p:sp>
              <p:nvSpPr>
                <p:cNvPr id="6" name="Rounded Rectangle 5"/>
                <p:cNvSpPr/>
                <p:nvPr/>
              </p:nvSpPr>
              <p:spPr>
                <a:xfrm>
                  <a:off x="548640" y="4668247"/>
                  <a:ext cx="11094415" cy="1407706"/>
                </a:xfrm>
                <a:prstGeom prst="roundRect">
                  <a:avLst>
                    <a:gd name="adj" fmla="val 5846"/>
                  </a:avLst>
                </a:prstGeom>
                <a:solidFill>
                  <a:schemeClr val="accent1">
                    <a:lumMod val="15000"/>
                    <a:lumOff val="85000"/>
                  </a:schemeClr>
                </a:solidFill>
                <a:ln>
                  <a:noFill/>
                </a:ln>
              </p:spPr>
              <p:txBody>
                <a:bodyPr rtlCol="0" anchor="t" wrap="square" lIns="137160" rIns="137160" tIns="556298" bIns="73152">
                  <a:noAutofit/>
                </a:bodyPr>
                <a:lstStyle>
                  <a:lvl1pPr marL="310896" indent="-310896" algn="l" defTabSz="914400" rtl="0" eaLnBrk="1" latinLnBrk="0" hangingPunct="1">
                    <a:lnSpc>
                      <a:spcPct val="100000"/>
                    </a:lnSpc>
                    <a:spcBef>
                      <a:spcPts val="1000"/>
                    </a:spcBef>
                    <a:buClr>
                      <a:schemeClr val="accent1"/>
                    </a:buClr>
                    <a:buSzPct val="60000"/>
                    <a:buFont typeface="Arial" panose="020B0604020202020204"/>
                    <a:buChar char="■"/>
                    <a:defRPr sz="2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76656" indent="-274320" algn="l" defTabSz="914400" rtl="0" eaLnBrk="1" latinLnBrk="0" hangingPunct="1">
                    <a:lnSpc>
                      <a:spcPct val="100000"/>
                    </a:lnSpc>
                    <a:spcBef>
                      <a:spcPts val="4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–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005840" indent="-256032" algn="l" defTabSz="914400" rtl="0" eaLnBrk="1" latinLnBrk="0" hangingPunct="1">
                    <a:lnSpc>
                      <a:spcPct val="100000"/>
                    </a:lnSpc>
                    <a:spcBef>
                      <a:spcPts val="3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2588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60000"/>
                    <a:buFont typeface="Arial" panose="020B0604020202020204"/>
                    <a:buChar char="■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64592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–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196596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28600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60000"/>
                    <a:buFont typeface="Arial" panose="020B0604020202020204"/>
                    <a:buChar char="■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260604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–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292608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l" marL="0" indent="0">
                    <a:buNone/>
                  </a:pPr>
                  <a:r>
                    <a:rPr sz="1980">
                      <a:solidFill>
                        <a:schemeClr val="tx1"/>
                      </a:solidFill>
                    </a:rPr>
                    <a:t>Combine them, e.g. </a:t>
                  </a:r>
                  <a:r>
                    <a:rPr sz="1980" i="1">
                      <a:solidFill>
                        <a:schemeClr val="tx1"/>
                      </a:solidFill>
                    </a:rPr>
                    <a:t>L = L_(CE) + L_(Dice)</a:t>
                  </a:r>
                  <a:r>
                    <a:rPr sz="1980">
                      <a:solidFill>
                        <a:schemeClr val="tx1"/>
                      </a:solidFill>
                    </a:rPr>
                    <a:t>: CE for stable gradients, Dice for </a:t>
                  </a:r>
                  <a:r>
                    <a:rPr sz="1980">
                      <a:solidFill>
                        <a:schemeClr val="accent2"/>
                      </a:solidFill>
                    </a:rPr>
                    <a:t>class imbalance</a:t>
                  </a:r>
                  <a:r>
                    <a:rPr sz="1980">
                      <a:solidFill>
                        <a:schemeClr val="tx1"/>
                      </a:solidFill>
                    </a:rPr>
                    <a:t>.</a:t>
                  </a:r>
                </a:p>
              </p:txBody>
            </p:sp>
          </mc:Fallback>
        </mc:AlternateContent>
        <p:sp>
          <p:nvSpPr>
            <p:cNvPr id="7" name="Round Same Side Corner Rectangle 6"/>
            <p:cNvSpPr/>
            <p:nvPr/>
          </p:nvSpPr>
          <p:spPr>
            <a:xfrm>
              <a:off x="548640" y="4668247"/>
              <a:ext cx="11094415" cy="483146"/>
            </a:xfrm>
            <a:prstGeom prst="round2SameRect">
              <a:avLst>
                <a:gd name="adj1" fmla="val 17033"/>
                <a:gd name="adj2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137160" rIns="137160" tIns="18288" bIns="18288"/>
            <a:lstStyle/>
            <a:p>
              <a:pPr algn="l"/>
              <a:r>
                <a:rPr sz="2079" b="1">
                  <a:solidFill>
                    <a:schemeClr val="bg1"/>
                  </a:solidFill>
                </a:rPr>
                <a:t>In practice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Loss choice matters (sample curves)</a:t>
            </a:r>
          </a:p>
        </p:txBody>
      </p:sp>
      <p:pic>
        <p:nvPicPr>
          <p:cNvPr id="3" name="Plot: Validation mIoU" descr="line plot: Validation mIoU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11094415" cy="3840480"/>
          </a:xfrm>
          <a:prstGeom prst="rect">
            <a:avLst/>
          </a:prstGeom>
        </p:spPr>
      </p:pic>
      <p:sp>
        <p:nvSpPr>
          <p:cNvPr id="4" name="Caption"/>
          <p:cNvSpPr txBox="1"/>
          <p:nvPr/>
        </p:nvSpPr>
        <p:spPr>
          <a:xfrm>
            <a:off x="548640" y="5532120"/>
            <a:ext cx="11094415" cy="365760"/>
          </a:xfrm>
          <a:prstGeom prst="rect">
            <a:avLst/>
          </a:prstGeom>
          <a:noFill/>
        </p:spPr>
        <p:txBody>
          <a:bodyPr wrap="square" anchor="t" lIns="18288" rIns="18288" tIns="36576" bIns="36576">
            <a:spAutoFit/>
          </a:bodyPr>
          <a:lstStyle/>
          <a:p>
            <a:pPr marL="0" indent="0" algn="ctr">
              <a:buNone/>
            </a:pPr>
            <a:r>
              <a:rPr sz="1450" i="1">
                <a:solidFill>
                  <a:schemeClr val="tx1">
                    <a:lumMod val="55000"/>
                    <a:lumOff val="45000"/>
                  </a:schemeClr>
                </a:solidFill>
              </a:rPr>
              <a:t>Sample data - U-Net on an imbalanced dataset, mean +/- std over 3 seeds</a:t>
            </a:r>
          </a:p>
        </p:txBody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Evaluation metrics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/>
              <p:cNvSpPr txBox="1"/>
              <p:nvPr/>
            </p:nvSpPr>
            <p:spPr>
              <a:xfrm>
                <a:off x="548640" y="1964436"/>
                <a:ext cx="5364327" cy="96012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IoU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|</m:t>
                          </m:r>
                          <m:r>
                            <a:rPr lang="en-US" sz="2310" i="1">
                              <a:latin typeface="Cambria Math"/>
                            </a:rPr>
                            <m:t>A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∩</m:t>
                          </m:r>
                          <m:r>
                            <a:rPr lang="en-US" sz="2310" i="1">
                              <a:latin typeface="Cambria Math"/>
                            </a:rPr>
                            <m:t>B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|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|</m:t>
                          </m:r>
                          <m:r>
                            <a:rPr lang="en-US" sz="2310" i="1">
                              <a:latin typeface="Cambria Math"/>
                            </a:rPr>
                            <m:t>A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∪</m:t>
                          </m:r>
                          <m:r>
                            <a:rPr lang="en-US" sz="2310" i="1">
                              <a:latin typeface="Cambria Math"/>
                            </a:rPr>
                            <m:t>B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|</m:t>
                          </m:r>
                        </m:den>
                      </m:f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a:rPr lang="en-US" sz="2310" i="1">
                              <a:latin typeface="Cambria Math"/>
                            </a:rPr>
                            <m:t>T</m:t>
                          </m:r>
                          <m:r>
                            <a:rPr lang="en-US" sz="2310" i="1">
                              <a:latin typeface="Cambria Math"/>
                            </a:rPr>
                            <m:t>P</m:t>
                          </m:r>
                        </m:num>
                        <m:den>
                          <m:r>
                            <a:rPr lang="en-US" sz="2310" i="1">
                              <a:latin typeface="Cambria Math"/>
                            </a:rPr>
                            <m:t>T</m:t>
                          </m:r>
                          <m:r>
                            <a:rPr lang="en-US" sz="2310" i="1">
                              <a:latin typeface="Cambria Math"/>
                            </a:rPr>
                            <m:t>P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+</m:t>
                          </m:r>
                          <m:r>
                            <a:rPr lang="en-US" sz="2310" i="1">
                              <a:latin typeface="Cambria Math"/>
                            </a:rPr>
                            <m:t>F</m:t>
                          </m:r>
                          <m:r>
                            <a:rPr lang="en-US" sz="2310" i="1">
                              <a:latin typeface="Cambria Math"/>
                            </a:rPr>
                            <m:t>P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+</m:t>
                          </m:r>
                          <m:r>
                            <a:rPr lang="en-US" sz="2310" i="1">
                              <a:latin typeface="Cambria Math"/>
                            </a:rPr>
                            <m:t>F</m:t>
                          </m:r>
                          <m:r>
                            <a:rPr lang="en-US" sz="2310" i="1">
                              <a:latin typeface="Cambria Math"/>
                            </a:rPr>
                            <m:t>N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  <mc:Fallback>
          <p:sp>
            <p:nvSpPr>
              <p:cNvPr id="3" name="TextBox 2"/>
              <p:cNvSpPr txBox="1"/>
              <p:nvPr/>
            </p:nvSpPr>
            <p:spPr>
              <a:xfrm>
                <a:off x="548640" y="1964436"/>
                <a:ext cx="5364327" cy="96012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:r>
                  <a:rPr sz="2310" i="1"/>
                  <a:t>IoU = (|A ∩ B|)/(|A ∪ B|) = (TP)/(TP + FP + FN)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/>
              <p:cNvSpPr txBox="1"/>
              <p:nvPr/>
            </p:nvSpPr>
            <p:spPr>
              <a:xfrm>
                <a:off x="548640" y="3153156"/>
                <a:ext cx="5364327" cy="96012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mIoU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a:rPr lang="en-US" sz="2310" i="0">
                              <a:latin typeface="Cambria Math"/>
                            </a:rPr>
                            <m:t>1</m:t>
                          </m:r>
                        </m:num>
                        <m:den>
                          <m:r>
                            <a:rPr lang="en-US" sz="2310" i="1">
                              <a:latin typeface="Cambria Math"/>
                            </a:rPr>
                            <m:t>C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a:rPr lang="en-US" sz="2310" i="1">
                              <a:latin typeface="Cambria Math"/>
                            </a:rPr>
                            <m:t>c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=</m:t>
                          </m:r>
                          <m:r>
                            <a:rPr lang="en-US" sz="2310" i="0">
                              <a:latin typeface="Cambria Math"/>
                            </a:rPr>
                            <m:t>1</m:t>
                          </m:r>
                        </m:sub>
                        <m:sup>
                          <m:r>
                            <a:rPr lang="en-US" sz="2310" i="1">
                              <a:latin typeface="Cambria Math"/>
                            </a:rPr>
                            <m:t>C</m:t>
                          </m:r>
                        </m:sup>
                        <m:e>
                          <m:sSub>
                            <m:e>
                              <m:r>
                                <m:rPr>
                                  <m:sty m:val="p"/>
                                </m:rPr>
                                <a:rPr lang="en-US" sz="2310" i="0">
                                  <a:latin typeface="Cambria Math"/>
                                </a:rPr>
                                <m:t>IoU</m:t>
                              </m:r>
                            </m:e>
                            <m:sub>
                              <m:r>
                                <a:rPr lang="en-US" sz="2310" i="1">
                                  <a:latin typeface="Cambria Math"/>
                                </a:rPr>
                                <m:t>c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</p:txBody>
          </p:sp>
        </mc:Choice>
        <mc:Fallback>
          <p:sp>
            <p:nvSpPr>
              <p:cNvPr id="4" name="TextBox 3"/>
              <p:cNvSpPr txBox="1"/>
              <p:nvPr/>
            </p:nvSpPr>
            <p:spPr>
              <a:xfrm>
                <a:off x="548640" y="3153156"/>
                <a:ext cx="5364327" cy="96012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:r>
                  <a:rPr sz="2310" i="1"/>
                  <a:t>mIoU = (1)/(C) ∑_(c=1)^C IoU_c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/>
              <p:cNvSpPr txBox="1"/>
              <p:nvPr/>
            </p:nvSpPr>
            <p:spPr>
              <a:xfrm>
                <a:off x="6278727" y="1964436"/>
                <a:ext cx="5364327" cy="96012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Dice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a:rPr lang="en-US" sz="2310" i="0">
                              <a:latin typeface="Cambria Math"/>
                            </a:rPr>
                            <m:t>2</m:t>
                          </m:r>
                          <m:r>
                            <a:rPr lang="en-US" sz="2310" i="0">
                              <a:latin typeface="Cambria Math"/>
                            </a:rPr>
                            <m:t> </m:t>
                          </m:r>
                          <m:r>
                            <a:rPr lang="en-US" sz="2310" i="1">
                              <a:latin typeface="Cambria Math"/>
                            </a:rPr>
                            <m:t>T</m:t>
                          </m:r>
                          <m:r>
                            <a:rPr lang="en-US" sz="2310" i="1">
                              <a:latin typeface="Cambria Math"/>
                            </a:rPr>
                            <m:t>P</m:t>
                          </m:r>
                        </m:num>
                        <m:den>
                          <m:r>
                            <a:rPr lang="en-US" sz="2310" i="0">
                              <a:latin typeface="Cambria Math"/>
                            </a:rPr>
                            <m:t>2</m:t>
                          </m:r>
                          <m:r>
                            <a:rPr lang="en-US" sz="2310" i="0">
                              <a:latin typeface="Cambria Math"/>
                            </a:rPr>
                            <m:t> </m:t>
                          </m:r>
                          <m:r>
                            <a:rPr lang="en-US" sz="2310" i="1">
                              <a:latin typeface="Cambria Math"/>
                            </a:rPr>
                            <m:t>T</m:t>
                          </m:r>
                          <m:r>
                            <a:rPr lang="en-US" sz="2310" i="1">
                              <a:latin typeface="Cambria Math"/>
                            </a:rPr>
                            <m:t>P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+</m:t>
                          </m:r>
                          <m:r>
                            <a:rPr lang="en-US" sz="2310" i="1">
                              <a:latin typeface="Cambria Math"/>
                            </a:rPr>
                            <m:t>F</m:t>
                          </m:r>
                          <m:r>
                            <a:rPr lang="en-US" sz="2310" i="1">
                              <a:latin typeface="Cambria Math"/>
                            </a:rPr>
                            <m:t>P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+</m:t>
                          </m:r>
                          <m:r>
                            <a:rPr lang="en-US" sz="2310" i="1">
                              <a:latin typeface="Cambria Math"/>
                            </a:rPr>
                            <m:t>F</m:t>
                          </m:r>
                          <m:r>
                            <a:rPr lang="en-US" sz="2310" i="1">
                              <a:latin typeface="Cambria Math"/>
                            </a:rPr>
                            <m:t>N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  <mc:Fallback>
          <p:sp>
            <p:nvSpPr>
              <p:cNvPr id="5" name="TextBox 4"/>
              <p:cNvSpPr txBox="1"/>
              <p:nvPr/>
            </p:nvSpPr>
            <p:spPr>
              <a:xfrm>
                <a:off x="6278727" y="1964436"/>
                <a:ext cx="5364327" cy="96012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:r>
                  <a:rPr sz="2310" i="1"/>
                  <a:t>Dice = (2 TP)/(2 TP + FP + FN)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6278727" y="3153156"/>
                <a:ext cx="5364327" cy="96012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PQ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a:rPr lang="en-US" sz="2310" i="0">
                                  <a:latin typeface="Cambria Math"/>
                                </a:rPr>
                                <m:t>(</m:t>
                              </m:r>
                              <m:r>
                                <a:rPr lang="en-US" sz="2310" i="1">
                                  <a:latin typeface="Cambria Math"/>
                                </a:rPr>
                                <m:t>p</m:t>
                              </m:r>
                              <m:r>
                                <m:rPr>
                                  <m:sty m:val="p"/>
                                </m:rPr>
                                <a:rPr lang="en-US" sz="2310" i="0">
                                  <a:latin typeface="Cambria Math"/>
                                </a:rPr>
                                <m:t>,</m:t>
                              </m:r>
                              <m:r>
                                <a:rPr lang="en-US" sz="2310" i="1">
                                  <a:latin typeface="Cambria Math"/>
                                </a:rPr>
                                <m:t>g</m:t>
                              </m:r>
                              <m:r>
                                <m:rPr>
                                  <m:sty m:val="p"/>
                                </m:rPr>
                                <a:rPr lang="en-US" sz="2310" i="0">
                                  <a:latin typeface="Cambria Math"/>
                                </a:rPr>
                                <m:t>)</m:t>
                              </m:r>
                              <m:r>
                                <m:rPr>
                                  <m:sty m:val="p"/>
                                </m:rPr>
                                <a:rPr lang="en-US" sz="2310" i="0">
                                  <a:latin typeface="Cambria Math"/>
                                </a:rPr>
                                <m:t>∈</m:t>
                              </m:r>
                              <m:r>
                                <a:rPr lang="en-US" sz="2310" i="1">
                                  <a:latin typeface="Cambria Math"/>
                                </a:rPr>
                                <m:t>T</m:t>
                              </m:r>
                              <m:r>
                                <a:rPr lang="en-US" sz="2310" i="1">
                                  <a:latin typeface="Cambria Math"/>
                                </a:rPr>
                                <m:t>P</m:t>
                              </m:r>
                            </m:sub>
                            <m:sup>
                              <m:r>
                                <a:rPr lang="en-US" sz="2310" i="0">
                                  <a:latin typeface="Cambria Math"/>
                                </a:rP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a:rPr lang="en-US" sz="2310" i="0">
                                  <a:latin typeface="Cambria Math"/>
                                </a:rPr>
                                <m:t>IoU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(</m:t>
                          </m:r>
                          <m:r>
                            <a:rPr lang="en-US" sz="2310" i="1">
                              <a:latin typeface="Cambria Math"/>
                            </a:rPr>
                            <m:t>p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,</m:t>
                          </m:r>
                          <m:r>
                            <a:rPr lang="en-US" sz="2310" i="1">
                              <a:latin typeface="Cambria Math"/>
                            </a:rPr>
                            <m:t>g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)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|</m:t>
                          </m:r>
                          <m:r>
                            <a:rPr lang="en-US" sz="2310" i="1">
                              <a:latin typeface="Cambria Math"/>
                            </a:rPr>
                            <m:t>T</m:t>
                          </m:r>
                          <m:r>
                            <a:rPr lang="en-US" sz="2310" i="1">
                              <a:latin typeface="Cambria Math"/>
                            </a:rPr>
                            <m:t>P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|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+</m:t>
                          </m:r>
                          <m:f>
                            <m:fPr>
                              <m:type m:val="lin"/>
                            </m:fPr>
                            <m:num>
                              <m:r>
                                <a:rPr lang="en-US" sz="2310" i="0">
                                  <a:latin typeface="Cambria Math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310" i="0">
                                  <a:latin typeface="Cambria Math"/>
                                </a:rPr>
                                <m:t>2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|</m:t>
                          </m:r>
                          <m:r>
                            <a:rPr lang="en-US" sz="2310" i="1">
                              <a:latin typeface="Cambria Math"/>
                            </a:rPr>
                            <m:t>F</m:t>
                          </m:r>
                          <m:r>
                            <a:rPr lang="en-US" sz="2310" i="1">
                              <a:latin typeface="Cambria Math"/>
                            </a:rPr>
                            <m:t>P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|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+</m:t>
                          </m:r>
                          <m:f>
                            <m:fPr>
                              <m:type m:val="lin"/>
                            </m:fPr>
                            <m:num>
                              <m:r>
                                <a:rPr lang="en-US" sz="2310" i="0">
                                  <a:latin typeface="Cambria Math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310" i="0">
                                  <a:latin typeface="Cambria Math"/>
                                </a:rPr>
                                <m:t>2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|</m:t>
                          </m:r>
                          <m:r>
                            <a:rPr lang="en-US" sz="2310" i="1">
                              <a:latin typeface="Cambria Math"/>
                            </a:rPr>
                            <m:t>F</m:t>
                          </m:r>
                          <m:r>
                            <a:rPr lang="en-US" sz="2310" i="1">
                              <a:latin typeface="Cambria Math"/>
                            </a:rPr>
                            <m:t>N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|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6278727" y="3153156"/>
                <a:ext cx="5364327" cy="96012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:r>
                  <a:rPr sz="2310" i="1"/>
                  <a:t>PQ = (∑_((p,g) ∈ TP) IoU(p,g))/(|TP| + (1)/(2)|FP| + (1)/(2)|FN|)</a:t>
                </a:r>
              </a:p>
            </p:txBody>
          </p:sp>
        </mc:Fallback>
      </mc:AlternateContent>
      <p:sp>
        <p:nvSpPr>
          <p:cNvPr id="7" name="TextBox 6"/>
          <p:cNvSpPr txBox="1"/>
          <p:nvPr/>
        </p:nvSpPr>
        <p:spPr>
          <a:xfrm>
            <a:off x="548640" y="4341876"/>
            <a:ext cx="11094415" cy="1191768"/>
          </a:xfrm>
          <a:prstGeom prst="rect">
            <a:avLst/>
          </a:prstGeom>
          <a:noFill/>
        </p:spPr>
        <p:txBody>
          <a:bodyPr wrap="square" anchor="t" lIns="18288" rIns="18288" tIns="36576" bIns="36576">
            <a:spAutoFit/>
          </a:bodyPr>
          <a:lstStyle>
            <a:lvl1pPr marL="310896" indent="-310896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1"/>
              </a:buClr>
              <a:buSzPct val="60000"/>
              <a:buFont typeface="Arial" panose="020B0604020202020204"/>
              <a:buChar char="■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76656" indent="-27432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accent1"/>
              </a:buClr>
              <a:buSzPct val="100000"/>
              <a:buFont typeface="Arial" panose="020B0604020202020204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05840" indent="-256032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2588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60000"/>
              <a:buFont typeface="Arial" panose="020B0604020202020204"/>
              <a:buChar char="■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4592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–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96596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8600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60000"/>
              <a:buFont typeface="Arial" panose="020B0604020202020204"/>
              <a:buChar char="■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60604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–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2608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/>
            <a:r>
              <a:rPr sz="1700" b="1"/>
              <a:t>mIoU</a:t>
            </a:r>
            <a:r>
              <a:rPr sz="1700"/>
              <a:t> - standard for semantic segmentation</a:t>
            </a:r>
          </a:p>
          <a:p>
            <a:pPr/>
            <a:r>
              <a:rPr sz="1700" b="1"/>
              <a:t>Dice</a:t>
            </a:r>
            <a:r>
              <a:rPr sz="1700"/>
              <a:t> - common in medical imaging</a:t>
            </a:r>
          </a:p>
          <a:p>
            <a:pPr/>
            <a:r>
              <a:rPr sz="1700" b="1"/>
              <a:t>PQ</a:t>
            </a:r>
            <a:r>
              <a:rPr sz="1700"/>
              <a:t> - panoptic quality, combines recognition and segmentation</a:t>
            </a:r>
          </a:p>
        </p:txBody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Per-class errors (sample confusion matrix)</a:t>
            </a:r>
          </a:p>
        </p:txBody>
      </p:sp>
      <p:pic>
        <p:nvPicPr>
          <p:cNvPr id="3" name="Plot: confusion" descr="confusion plot: confus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8700" y="1188720"/>
            <a:ext cx="512064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15160" y="2516632"/>
            <a:ext cx="4827895" cy="1811528"/>
          </a:xfrm>
          <a:prstGeom prst="rect">
            <a:avLst/>
          </a:prstGeom>
          <a:noFill/>
        </p:spPr>
        <p:txBody>
          <a:bodyPr wrap="square" anchor="t" lIns="18288" rIns="18288" tIns="36576" bIns="36576">
            <a:spAutoFit/>
          </a:bodyPr>
          <a:lstStyle>
            <a:lvl1pPr marL="310896" indent="-310896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1"/>
              </a:buClr>
              <a:buSzPct val="60000"/>
              <a:buFont typeface="Arial" panose="020B0604020202020204"/>
              <a:buChar char="■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76656" indent="-27432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accent1"/>
              </a:buClr>
              <a:buSzPct val="100000"/>
              <a:buFont typeface="Arial" panose="020B0604020202020204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05840" indent="-256032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2588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60000"/>
              <a:buFont typeface="Arial" panose="020B0604020202020204"/>
              <a:buChar char="■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4592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–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96596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8600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60000"/>
              <a:buFont typeface="Arial" panose="020B0604020202020204"/>
              <a:buChar char="■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60604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–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2608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/>
            <a:r>
              <a:rPr sz="1700"/>
              <a:t>Rows = ground truth, normalised to recall</a:t>
            </a:r>
          </a:p>
          <a:p>
            <a:pPr/>
            <a:r>
              <a:rPr sz="1700"/>
              <a:t>Sidewalk is often confused with road</a:t>
            </a:r>
          </a:p>
          <a:p>
            <a:pPr/>
            <a:r>
              <a:rPr sz="1700"/>
              <a:t>Thin / small classes (person) suffer most</a:t>
            </a:r>
          </a:p>
          <a:p>
            <a:pPr/>
            <a:r>
              <a:rPr sz="1700"/>
              <a:t>Boundary pixels account for much of the error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15160" y="4556760"/>
            <a:ext cx="4827895" cy="424688"/>
          </a:xfrm>
          <a:prstGeom prst="rect">
            <a:avLst/>
          </a:prstGeom>
          <a:noFill/>
        </p:spPr>
        <p:txBody>
          <a:bodyPr wrap="square" anchor="t" lIns="18288" rIns="18288" tIns="36576" bIns="36576">
            <a:spAutoFit/>
          </a:bodyPr>
          <a:lstStyle>
            <a:lvl1pPr marL="310896" indent="-310896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1"/>
              </a:buClr>
              <a:buSzPct val="60000"/>
              <a:buFont typeface="Arial" panose="020B0604020202020204"/>
              <a:buChar char="■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76656" indent="-27432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accent1"/>
              </a:buClr>
              <a:buSzPct val="100000"/>
              <a:buFont typeface="Arial" panose="020B0604020202020204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05840" indent="-256032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2588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60000"/>
              <a:buFont typeface="Arial" panose="020B0604020202020204"/>
              <a:buChar char="■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4592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–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96596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8600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60000"/>
              <a:buFont typeface="Arial" panose="020B0604020202020204"/>
              <a:buChar char="■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60604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–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2608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sz="1400">
                <a:solidFill>
                  <a:schemeClr val="tx1">
                    <a:lumMod val="55000"/>
                    <a:lumOff val="45000"/>
                  </a:schemeClr>
                </a:solidFill>
              </a:rPr>
              <a:t>Sample data for illustration</a:t>
            </a:r>
          </a:p>
        </p:txBody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Benchmark comparison (sample)</a:t>
            </a:r>
          </a:p>
        </p:txBody>
      </p:sp>
      <p:pic>
        <p:nvPicPr>
          <p:cNvPr id="3" name="Plot: mIoU (%)" descr="bar plot: mIoU (%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11094415" cy="3840480"/>
          </a:xfrm>
          <a:prstGeom prst="rect">
            <a:avLst/>
          </a:prstGeom>
        </p:spPr>
      </p:pic>
      <p:sp>
        <p:nvSpPr>
          <p:cNvPr id="4" name="Caption"/>
          <p:cNvSpPr txBox="1"/>
          <p:nvPr/>
        </p:nvSpPr>
        <p:spPr>
          <a:xfrm>
            <a:off x="548640" y="5532120"/>
            <a:ext cx="11094415" cy="365760"/>
          </a:xfrm>
          <a:prstGeom prst="rect">
            <a:avLst/>
          </a:prstGeom>
          <a:noFill/>
        </p:spPr>
        <p:txBody>
          <a:bodyPr wrap="square" anchor="t" lIns="18288" rIns="18288" tIns="36576" bIns="36576">
            <a:spAutoFit/>
          </a:bodyPr>
          <a:lstStyle/>
          <a:p>
            <a:pPr marL="0" indent="0" algn="ctr">
              <a:buNone/>
            </a:pPr>
            <a:r>
              <a:rPr sz="1450" i="1">
                <a:solidFill>
                  <a:schemeClr val="tx1">
                    <a:lumMod val="55000"/>
                    <a:lumOff val="45000"/>
                  </a:schemeClr>
                </a:solidFill>
              </a:rPr>
              <a:t>Illustrative values only - replace with numbers from your own experiments or cited papers</a:t>
            </a:r>
          </a:p>
        </p:txBody>
      </p:sp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Accuracy vs speed (sample)</a:t>
            </a:r>
          </a:p>
        </p:txBody>
      </p:sp>
      <p:pic>
        <p:nvPicPr>
          <p:cNvPr id="3" name="Plot: Cityscapes mIoU (%)" descr="scatter plot: Cityscapes mIoU (%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11094415" cy="3840480"/>
          </a:xfrm>
          <a:prstGeom prst="rect">
            <a:avLst/>
          </a:prstGeom>
        </p:spPr>
      </p:pic>
      <p:sp>
        <p:nvSpPr>
          <p:cNvPr id="4" name="Caption"/>
          <p:cNvSpPr txBox="1"/>
          <p:nvPr/>
        </p:nvSpPr>
        <p:spPr>
          <a:xfrm>
            <a:off x="548640" y="5532120"/>
            <a:ext cx="11094415" cy="365760"/>
          </a:xfrm>
          <a:prstGeom prst="rect">
            <a:avLst/>
          </a:prstGeom>
          <a:noFill/>
        </p:spPr>
        <p:txBody>
          <a:bodyPr wrap="square" anchor="t" lIns="18288" rIns="18288" tIns="36576" bIns="36576">
            <a:spAutoFit/>
          </a:bodyPr>
          <a:lstStyle/>
          <a:p>
            <a:pPr marL="0" indent="0" algn="ctr">
              <a:buNone/>
            </a:pPr>
            <a:r>
              <a:rPr sz="1450" i="1">
                <a:solidFill>
                  <a:schemeClr val="tx1">
                    <a:lumMod val="55000"/>
                    <a:lumOff val="45000"/>
                  </a:schemeClr>
                </a:solidFill>
              </a:rPr>
              <a:t>Sample data - the accuracy / latency trade-off</a:t>
            </a:r>
          </a:p>
        </p:txBody>
      </p:sp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Summary</a:t>
            </a:r>
          </a:p>
        </p:txBody>
      </p:sp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Classical vs deep methods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548640" y="2408758"/>
          <a:ext cx="11094415" cy="2680566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1935335"/>
                <a:gridCol w="5149859"/>
                <a:gridCol w="4009221"/>
              </a:tblGrid>
              <a:tr h="446761">
                <a:tc>
                  <a:txBody>
                    <a:bodyPr/>
                    <a:lstStyle/>
                    <a:p>
                      <a:pPr algn="l"/>
                      <a:r>
                        <a:rPr sz="1720" b="1">
                          <a:solidFill>
                            <a:schemeClr val="bg1"/>
                          </a:solidFill>
                        </a:rPr>
                        <a:t>Aspect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0" b="1">
                          <a:solidFill>
                            <a:schemeClr val="bg1"/>
                          </a:solidFill>
                        </a:rPr>
                        <a:t>Classical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0" b="1">
                          <a:solidFill>
                            <a:schemeClr val="bg1"/>
                          </a:solidFill>
                        </a:rPr>
                        <a:t>Deep learning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446761">
                <a:tc>
                  <a:txBody>
                    <a:bodyPr/>
                    <a:lstStyle/>
                    <a:p>
                      <a:pPr algn="l"/>
                      <a:r>
                        <a:rPr sz="1720">
                          <a:solidFill>
                            <a:schemeClr val="tx1"/>
                          </a:solidFill>
                        </a:rPr>
                        <a:t>Labelled data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0">
                          <a:solidFill>
                            <a:schemeClr val="tx1"/>
                          </a:solidFill>
                        </a:rPr>
                        <a:t>None or little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0">
                          <a:solidFill>
                            <a:schemeClr val="tx1"/>
                          </a:solidFill>
                        </a:rPr>
                        <a:t>Large dense annotations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446761">
                <a:tc>
                  <a:txBody>
                    <a:bodyPr/>
                    <a:lstStyle/>
                    <a:p>
                      <a:pPr algn="l"/>
                      <a:r>
                        <a:rPr sz="1720">
                          <a:solidFill>
                            <a:schemeClr val="tx1"/>
                          </a:solidFill>
                        </a:rPr>
                        <a:t>Semantics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chemeClr val="accent1">
                        <a:lumMod val="9999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0">
                          <a:solidFill>
                            <a:schemeClr val="tx1"/>
                          </a:solidFill>
                        </a:rPr>
                        <a:t>Low-level cues only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chemeClr val="accent1">
                        <a:lumMod val="9999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0">
                          <a:solidFill>
                            <a:schemeClr val="accent2"/>
                          </a:solidFill>
                        </a:rPr>
                        <a:t>Learned object categories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chemeClr val="accent1">
                        <a:lumMod val="9999"/>
                        <a:lumOff val="90000"/>
                      </a:schemeClr>
                    </a:solidFill>
                  </a:tcPr>
                </a:tc>
              </a:tr>
              <a:tr h="446761">
                <a:tc>
                  <a:txBody>
                    <a:bodyPr/>
                    <a:lstStyle/>
                    <a:p>
                      <a:pPr algn="l"/>
                      <a:r>
                        <a:rPr sz="1720">
                          <a:solidFill>
                            <a:schemeClr val="tx1"/>
                          </a:solidFill>
                        </a:rPr>
                        <a:t>Compute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0">
                          <a:solidFill>
                            <a:schemeClr val="tx1"/>
                          </a:solidFill>
                        </a:rPr>
                        <a:t>CPU friendly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0">
                          <a:solidFill>
                            <a:schemeClr val="tx1"/>
                          </a:solidFill>
                        </a:rPr>
                        <a:t>GPU for training and often inference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446761">
                <a:tc>
                  <a:txBody>
                    <a:bodyPr/>
                    <a:lstStyle/>
                    <a:p>
                      <a:pPr algn="l"/>
                      <a:r>
                        <a:rPr sz="1720">
                          <a:solidFill>
                            <a:schemeClr val="tx1"/>
                          </a:solidFill>
                        </a:rPr>
                        <a:t>Interpretability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chemeClr val="accent1">
                        <a:lumMod val="9999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0">
                          <a:solidFill>
                            <a:schemeClr val="tx1"/>
                          </a:solidFill>
                        </a:rPr>
                        <a:t>High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chemeClr val="accent1">
                        <a:lumMod val="9999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0">
                          <a:solidFill>
                            <a:schemeClr val="tx1"/>
                          </a:solidFill>
                        </a:rPr>
                        <a:t>Low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chemeClr val="accent1">
                        <a:lumMod val="9999"/>
                        <a:lumOff val="90000"/>
                      </a:schemeClr>
                    </a:solidFill>
                  </a:tcPr>
                </a:tc>
              </a:tr>
              <a:tr h="446761">
                <a:tc>
                  <a:txBody>
                    <a:bodyPr/>
                    <a:lstStyle/>
                    <a:p>
                      <a:pPr algn="l"/>
                      <a:r>
                        <a:rPr sz="1720">
                          <a:solidFill>
                            <a:schemeClr val="tx1"/>
                          </a:solidFill>
                        </a:rPr>
                        <a:t>Best use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0">
                          <a:solidFill>
                            <a:schemeClr val="tx1"/>
                          </a:solidFill>
                        </a:rPr>
                        <a:t>Preprocessing, simple scenes, interactive tools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0">
                          <a:solidFill>
                            <a:schemeClr val="tx1"/>
                          </a:solidFill>
                        </a:rPr>
                        <a:t>Complex scenes, production systems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Summary</a:t>
            </a:r>
          </a:p>
        </p:txBody>
      </p:sp>
      <p:sp>
        <p:nvSpPr>
          <p:cNvPr id="3" name="Placeholder: Timeline of segmentation methods" descr="Placeholder - Timeline of segmentation methods"/>
          <p:cNvSpPr/>
          <p:nvPr/>
        </p:nvSpPr>
        <p:spPr>
          <a:xfrm>
            <a:off x="826000" y="1316867"/>
            <a:ext cx="10539694" cy="2107939"/>
          </a:xfrm>
          <a:prstGeom prst="rect">
            <a:avLst/>
          </a:prstGeom>
          <a:solidFill>
            <a:schemeClr val="tx1">
              <a:lumMod val="7000"/>
              <a:lumOff val="93000"/>
            </a:schemeClr>
          </a:solidFill>
          <a:ln w="15875">
            <a:solidFill>
              <a:schemeClr val="tx1">
                <a:lumMod val="45000"/>
                <a:lumOff val="55000"/>
              </a:schemeClr>
            </a:solidFill>
            <a:prstDash val="dash"/>
          </a:ln>
        </p:spPr>
        <p:txBody>
          <a:bodyPr rtlCol="0" anchor="ctr" wrap="square" lIns="137160" rIns="137160" tIns="137160" bIns="137160"/>
          <a:lstStyle/>
          <a:p>
            <a:pPr algn="ctr" marL="0" indent="0">
              <a:buNone/>
            </a:pPr>
            <a:r>
              <a:rPr sz="1760" b="1">
                <a:solidFill>
                  <a:schemeClr val="tx1">
                    <a:lumMod val="55000"/>
                    <a:lumOff val="45000"/>
                  </a:schemeClr>
                </a:solidFill>
              </a:rPr>
              <a:t>Timeline of segmentation methods</a:t>
            </a:r>
          </a:p>
          <a:p>
            <a:pPr algn="ctr"/>
            <a:r>
              <a:rPr sz="1320">
                <a:solidFill>
                  <a:schemeClr val="tx1">
                    <a:lumMod val="55000"/>
                    <a:lumOff val="45000"/>
                  </a:schemeClr>
                </a:solidFill>
              </a:rPr>
              <a:t>Otsu 1979 -&gt; watershed -&gt; normalized cuts -&gt; FCN 2015 -&gt; U-Net -&gt; DeepLab -&gt; Mask2Former -&gt; SAM 2023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653405"/>
            <a:ext cx="11094415" cy="2527808"/>
          </a:xfrm>
          <a:prstGeom prst="rect">
            <a:avLst/>
          </a:prstGeom>
          <a:noFill/>
        </p:spPr>
        <p:txBody>
          <a:bodyPr wrap="square" anchor="t" lIns="18288" rIns="18288" tIns="36576" bIns="36576">
            <a:spAutoFit/>
          </a:bodyPr>
          <a:lstStyle>
            <a:lvl1pPr marL="310896" indent="-310896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1"/>
              </a:buClr>
              <a:buSzPct val="60000"/>
              <a:buFont typeface="Arial" panose="020B0604020202020204"/>
              <a:buChar char="■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76656" indent="-27432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accent1"/>
              </a:buClr>
              <a:buSzPct val="100000"/>
              <a:buFont typeface="Arial" panose="020B0604020202020204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05840" indent="-256032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2588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60000"/>
              <a:buFont typeface="Arial" panose="020B0604020202020204"/>
              <a:buChar char="■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4592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–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96596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8600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60000"/>
              <a:buFont typeface="Arial" panose="020B0604020202020204"/>
              <a:buChar char="■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60604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–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2608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/>
            <a:r>
              <a:rPr sz="2200"/>
              <a:t>Classical methods group pixels by intensity, regions, clusters or graph energies</a:t>
            </a:r>
          </a:p>
          <a:p>
            <a:pPr/>
            <a:r>
              <a:rPr sz="2200"/>
              <a:t>FCN made segmentation end-to-end; U-Net and DeepLab refined resolution and context</a:t>
            </a:r>
          </a:p>
          <a:p>
            <a:pPr/>
            <a:r>
              <a:rPr sz="2200"/>
              <a:t>Transformers unify semantic, instance and panoptic tasks</a:t>
            </a:r>
          </a:p>
          <a:p>
            <a:pPr/>
            <a:r>
              <a:rPr sz="2200"/>
              <a:t>Foundation models (SAM) segment </a:t>
            </a:r>
            <a:r>
              <a:rPr sz="2200">
                <a:solidFill>
                  <a:schemeClr val="accent2"/>
                </a:solidFill>
              </a:rPr>
              <a:t>anything</a:t>
            </a:r>
            <a:r>
              <a:rPr sz="2200"/>
              <a:t> from prompts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600452"/>
            <a:ext cx="11094415" cy="881888"/>
          </a:xfrm>
          <a:prstGeom prst="rect">
            <a:avLst/>
          </a:prstGeom>
          <a:noFill/>
        </p:spPr>
        <p:txBody>
          <a:bodyPr wrap="square" anchor="t" lIns="18288" rIns="18288" tIns="36576" bIns="36576">
            <a:spAutoFit/>
          </a:bodyPr>
          <a:lstStyle>
            <a:lvl1pPr marL="310896" indent="-310896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1"/>
              </a:buClr>
              <a:buSzPct val="60000"/>
              <a:buFont typeface="Arial" panose="020B0604020202020204"/>
              <a:buChar char="■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76656" indent="-27432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accent1"/>
              </a:buClr>
              <a:buSzPct val="100000"/>
              <a:buFont typeface="Arial" panose="020B0604020202020204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05840" indent="-256032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2588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60000"/>
              <a:buFont typeface="Arial" panose="020B0604020202020204"/>
              <a:buChar char="■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4592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–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96596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8600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60000"/>
              <a:buFont typeface="Arial" panose="020B0604020202020204"/>
              <a:buChar char="■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60604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–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2608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sz="4400">
                <a:solidFill>
                  <a:schemeClr val="accent1"/>
                </a:solidFill>
              </a:rPr>
              <a:t>Thank you!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710940"/>
            <a:ext cx="11094415" cy="546608"/>
          </a:xfrm>
          <a:prstGeom prst="rect">
            <a:avLst/>
          </a:prstGeom>
          <a:noFill/>
        </p:spPr>
        <p:txBody>
          <a:bodyPr wrap="square" anchor="t" lIns="18288" rIns="18288" tIns="36576" bIns="36576">
            <a:spAutoFit/>
          </a:bodyPr>
          <a:lstStyle>
            <a:lvl1pPr marL="310896" indent="-310896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1"/>
              </a:buClr>
              <a:buSzPct val="60000"/>
              <a:buFont typeface="Arial" panose="020B0604020202020204"/>
              <a:buChar char="■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76656" indent="-27432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accent1"/>
              </a:buClr>
              <a:buSzPct val="100000"/>
              <a:buFont typeface="Arial" panose="020B0604020202020204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05840" indent="-256032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2588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60000"/>
              <a:buFont typeface="Arial" panose="020B0604020202020204"/>
              <a:buChar char="■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4592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–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96596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8600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60000"/>
              <a:buFont typeface="Arial" panose="020B0604020202020204"/>
              <a:buChar char="■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60604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–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2608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sz="2200">
                <a:solidFill>
                  <a:schemeClr val="tx1">
                    <a:lumMod val="55000"/>
                    <a:lumOff val="45000"/>
                  </a:schemeClr>
                </a:solidFill>
              </a:rPr>
              <a:t>Questions?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Beamer Oxford (university navy and gold)">
  <a:themeElements>
    <a:clrScheme name="Beamer Oxford (university navy and gold)">
      <a:dk1>
        <a:srgbClr val="1C1C1C"/>
      </a:dk1>
      <a:lt1>
        <a:srgbClr val="FFFFFF"/>
      </a:lt1>
      <a:dk2>
        <a:srgbClr val="002147"/>
      </a:dk2>
      <a:lt2>
        <a:srgbClr val="F0EEE8"/>
      </a:lt2>
      <a:accent1>
        <a:srgbClr val="002147"/>
      </a:accent1>
      <a:accent2>
        <a:srgbClr val="A6192E"/>
      </a:accent2>
      <a:accent3>
        <a:srgbClr val="3D6B4F"/>
      </a:accent3>
      <a:accent4>
        <a:srgbClr val="B8923A"/>
      </a:accent4>
      <a:accent5>
        <a:srgbClr val="4F7CAC"/>
      </a:accent5>
      <a:accent6>
        <a:srgbClr val="8C8C8C"/>
      </a:accent6>
      <a:hlink>
        <a:srgbClr val="002147"/>
      </a:hlink>
      <a:folHlink>
        <a:srgbClr val="5B2C6F"/>
      </a:folHlink>
    </a:clrScheme>
    <a:fontScheme name="Beamer Oxford (university navy and gold)">
      <a:majorFont>
        <a:latin typeface="Constant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Image Segmentation Methods</dc:title>
  <dc:subject/>
  <dc:creator>Your Name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