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4" name="Footline Stripe"/>
          <p:cNvSpPr/>
          <p:nvPr userDrawn="1"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Your Name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Segmentation Methods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4" name="Footline Stripe"/>
          <p:cNvSpPr/>
          <p:nvPr userDrawn="1"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Your Name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Segmentation Methods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6" name="Frame Title Stripe"/>
          <p:cNvSpPr/>
          <p:nvPr userDrawn="1"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5" name="Footline Stripe"/>
          <p:cNvSpPr/>
          <p:nvPr userDrawn="1"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Your Name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Segmentation Methods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October 22, 2026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60000"/>
        <a:buFont typeface="Arial" panose="020B0604020202020204"/>
        <a:buChar char="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60000"/>
        <a:buFont typeface="Arial" panose="020B0604020202020204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60000"/>
        <a:buFont typeface="Arial" panose="020B0604020202020204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Image Segmentation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From thresholding to transformers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Your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Computer Vision Seminar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October 22,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/>
              <a:t>Introduction</a:t>
            </a:r>
          </a:p>
          <a:p>
            <a:pPr>
              <a:buAutoNum type="arabicPeriod"/>
            </a:pPr>
            <a:r>
              <a:rPr/>
              <a:t>Classical methods</a:t>
            </a:r>
          </a:p>
          <a:p>
            <a:pPr>
              <a:buAutoNum type="arabicPeriod"/>
            </a:pPr>
            <a:r>
              <a:rPr/>
              <a:t>Deep learning methods</a:t>
            </a:r>
          </a:p>
          <a:p>
            <a:pPr>
              <a:buAutoNum type="arabicPeriod"/>
            </a:pPr>
            <a:r>
              <a:rPr/>
              <a:t>Training and evaluation</a:t>
            </a:r>
          </a:p>
          <a:p>
            <a:pPr>
              <a:buAutoNum type="arabicPeriod"/>
            </a:pPr>
            <a:r>
              <a:rPr/>
              <a:t>Summary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What does it mean to segment an image?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Three flavours of segmentation</a:t>
            </a:r>
          </a:p>
        </p:txBody>
      </p:sp>
      <p:sp>
        <p:nvSpPr>
          <p:cNvPr id="3" name="Placeholder: Semantic vs instance vs panoptic" descr="Placeholder - Semantic vs instance vs panoptic"/>
          <p:cNvSpPr/>
          <p:nvPr/>
        </p:nvSpPr>
        <p:spPr>
          <a:xfrm>
            <a:off x="1321975" y="1188720"/>
            <a:ext cx="9547746" cy="318258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Semantic vs instance vs panoptic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same street scene, three outputs side by side</a:t>
            </a:r>
          </a:p>
        </p:txBody>
      </p:sp>
      <p:grpSp>
        <p:nvGrpSpPr>
          <p:cNvPr id="6" name="Block: Semantic"/>
          <p:cNvGrpSpPr/>
          <p:nvPr/>
        </p:nvGrpSpPr>
        <p:grpSpPr>
          <a:xfrm>
            <a:off x="548640" y="4599902"/>
            <a:ext cx="3454298" cy="1709458"/>
            <a:chOff x="548640" y="4599902"/>
            <a:chExt cx="3454298" cy="1709458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4599902"/>
              <a:ext cx="3454298" cy="1709458"/>
            </a:xfrm>
            <a:prstGeom prst="roundRect">
              <a:avLst>
                <a:gd name="adj" fmla="val 4814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One class label per pixel; objects of the same class merge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548640" y="4599902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Semantic</a:t>
              </a:r>
            </a:p>
          </p:txBody>
        </p:sp>
      </p:grpSp>
      <p:grpSp>
        <p:nvGrpSpPr>
          <p:cNvPr id="9" name="Block: Instance"/>
          <p:cNvGrpSpPr/>
          <p:nvPr/>
        </p:nvGrpSpPr>
        <p:grpSpPr>
          <a:xfrm>
            <a:off x="4368698" y="4599902"/>
            <a:ext cx="3454298" cy="1709458"/>
            <a:chOff x="4368698" y="4599902"/>
            <a:chExt cx="3454298" cy="1709458"/>
          </a:xfrm>
        </p:grpSpPr>
        <p:sp>
          <p:nvSpPr>
            <p:cNvPr id="7" name="Rounded Rectangle 6"/>
            <p:cNvSpPr/>
            <p:nvPr/>
          </p:nvSpPr>
          <p:spPr>
            <a:xfrm>
              <a:off x="4368698" y="4599902"/>
              <a:ext cx="3454298" cy="1709458"/>
            </a:xfrm>
            <a:prstGeom prst="roundRect">
              <a:avLst>
                <a:gd name="adj" fmla="val 4814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Separate mask per </a:t>
              </a:r>
              <a:r>
                <a:rPr sz="1980" i="1">
                  <a:solidFill>
                    <a:schemeClr val="tx1"/>
                  </a:solidFill>
                </a:rPr>
                <a:t>countable</a:t>
              </a:r>
              <a:r>
                <a:rPr sz="1980">
                  <a:solidFill>
                    <a:schemeClr val="tx1"/>
                  </a:solidFill>
                </a:rPr>
                <a:t> object; background ignored</a:t>
              </a:r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4368698" y="4599902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Instance</a:t>
              </a:r>
            </a:p>
          </p:txBody>
        </p:sp>
      </p:grpSp>
      <p:grpSp>
        <p:nvGrpSpPr>
          <p:cNvPr id="12" name="Block: Panoptic"/>
          <p:cNvGrpSpPr/>
          <p:nvPr/>
        </p:nvGrpSpPr>
        <p:grpSpPr>
          <a:xfrm>
            <a:off x="8188757" y="4599902"/>
            <a:ext cx="3454298" cy="1709458"/>
            <a:chOff x="8188757" y="4599902"/>
            <a:chExt cx="3454298" cy="1709458"/>
          </a:xfrm>
        </p:grpSpPr>
        <p:sp>
          <p:nvSpPr>
            <p:cNvPr id="10" name="Rounded Rectangle 9"/>
            <p:cNvSpPr/>
            <p:nvPr/>
          </p:nvSpPr>
          <p:spPr>
            <a:xfrm>
              <a:off x="8188757" y="4599902"/>
              <a:ext cx="3454298" cy="1709458"/>
            </a:xfrm>
            <a:prstGeom prst="roundRect">
              <a:avLst>
                <a:gd name="adj" fmla="val 4814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Both: every pixel gets a class </a:t>
              </a:r>
              <a:r>
                <a:rPr sz="1980">
                  <a:solidFill>
                    <a:schemeClr val="accent2"/>
                  </a:solidFill>
                </a:rPr>
                <a:t>and</a:t>
              </a:r>
              <a:r>
                <a:rPr sz="1980">
                  <a:solidFill>
                    <a:schemeClr val="tx1"/>
                  </a:solidFill>
                </a:rPr>
                <a:t> an instance id</a:t>
              </a:r>
            </a:p>
          </p:txBody>
        </p:sp>
        <p:sp>
          <p:nvSpPr>
            <p:cNvPr id="11" name="Round Same Side Corner Rectangle 10"/>
            <p:cNvSpPr/>
            <p:nvPr/>
          </p:nvSpPr>
          <p:spPr>
            <a:xfrm>
              <a:off x="8188757" y="4599902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Panoptic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36427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Segmentation as dense, per-pixel classification: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31163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θ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: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r>
                            <a:rPr lang="en-US" sz="2310" i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{</m:t>
                      </m:r>
                      <m:r>
                        <a:rPr lang="en-US" sz="2310" i="0"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C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}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×</m:t>
                          </m:r>
                          <m:r>
                            <a:rPr lang="en-US" sz="2310" i="1">
                              <a:latin typeface="Cambria Math"/>
                            </a:rPr>
                            <m:t>W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31163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f_θ : ℝ^(H × W × 3) → 1, …, C^(H × W)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318031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max</m:t>
                          </m:r>
                        </m:e>
                        <m:lim>
                          <m:r>
                            <a:rPr lang="en-US" sz="2310" i="1">
                              <a:latin typeface="Cambria Math"/>
                            </a:rPr>
                            <m:t>c</m:t>
                          </m:r>
                        </m:lim>
                      </m:limLow>
                      <m:r>
                        <a:rPr lang="en-US" sz="2310" i="0">
                          <a:latin typeface="Cambria Math"/>
                        </a:rPr>
                        <m:t> 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θ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∣</m:t>
                      </m:r>
                      <m:r>
                        <a:rPr lang="en-US" sz="2310" i="1"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r>
                        <a:rPr lang="en-US" sz="2310" i="1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0"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H</m:t>
                      </m:r>
                      <m:r>
                        <a:rPr lang="en-US" sz="2310" i="1">
                          <a:latin typeface="Cambria Math"/>
                        </a:rPr>
                        <m:t>W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3180315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hatyᵢ = argmax_c p_θ(c | x, i), i = 1, …, HW</a:t>
                </a:r>
              </a:p>
            </p:txBody>
          </p:sp>
        </mc:Fallback>
      </mc:AlternateContent>
      <p:grpSp>
        <p:nvGrpSpPr>
          <p:cNvPr id="8" name="Alertblock: Why it is hard"/>
          <p:cNvGrpSpPr/>
          <p:nvPr/>
        </p:nvGrpSpPr>
        <p:grpSpPr>
          <a:xfrm>
            <a:off x="548640" y="4048995"/>
            <a:ext cx="11094415" cy="1912658"/>
            <a:chOff x="548640" y="4048995"/>
            <a:chExt cx="11094415" cy="1912658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4048995"/>
              <a:ext cx="11094415" cy="1912658"/>
            </a:xfrm>
            <a:prstGeom prst="roundRect">
              <a:avLst>
                <a:gd name="adj" fmla="val 4302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980"/>
                <a:t>Needs global context (</a:t>
              </a:r>
              <a:r>
                <a:rPr sz="1980" i="1"/>
                <a:t>what</a:t>
              </a:r>
              <a:r>
                <a:rPr sz="1980"/>
                <a:t>) and fine localisation (</a:t>
              </a:r>
              <a:r>
                <a:rPr sz="1980" i="1"/>
                <a:t>where</a:t>
              </a:r>
              <a:r>
                <a:rPr sz="1980"/>
                <a:t>) at once</a:t>
              </a:r>
            </a:p>
            <a:p>
              <a:pPr algn="l"/>
              <a:r>
                <a:rPr sz="1980"/>
                <a:t>Class imbalance - road pixels vastly outnumber pedestrians</a:t>
              </a:r>
            </a:p>
            <a:p>
              <a:pPr algn="l"/>
              <a:r>
                <a:rPr sz="1980"/>
                <a:t>Dense labels are expensive to annotate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548640" y="4048995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Why it is hard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Classical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Intensity, regions, clusters and graphs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Thresholding and Otsu's method</a:t>
            </a:r>
          </a:p>
        </p:txBody>
      </p:sp>
      <p:pic>
        <p:nvPicPr>
          <p:cNvPr id="3" name="Plot: Count (x1000)" descr="line plot: Count (x1000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45920"/>
            <a:ext cx="5900760" cy="384048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522976"/>
            <a:ext cx="5900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Sample bimodal histogram - Otsu picks t* near the valley (~120)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5160" y="1856232"/>
            <a:ext cx="4827895" cy="7294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700"/>
              <a:t>Pick the threshold that best separates two classes: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815160" y="2814320"/>
                <a:ext cx="482789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en-US" sz="2310" i="1"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</m:sub>
                        <m:sup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[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μ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μ</m:t>
                          </m:r>
                        </m:e>
                        <m:sub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]</m:t>
                          </m:r>
                        </m:e>
                        <m:sup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815160" y="2814320"/>
                <a:ext cx="482789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σ_B²(t) = ω₀(t) ω₁(t) [μ₀(t) − μ₁(t)]²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815160" y="3683000"/>
                <a:ext cx="482789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max</m:t>
                          </m:r>
                        </m:e>
                        <m:lim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</m:lim>
                      </m:limLow>
                      <m:r>
                        <a:rPr lang="en-US" sz="2310" i="0">
                          <a:latin typeface="Cambria Math"/>
                        </a:rPr>
                        <m:t> </m:t>
                      </m:r>
                      <m:sSubSup>
                        <m:e>
                          <m:r>
                            <a:rPr lang="en-US" sz="2310" i="1"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</m:sub>
                        <m:sup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6815160" y="3683000"/>
                <a:ext cx="482789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t^ast = argmax_t σ_B²(t)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815160" y="4551680"/>
            <a:ext cx="4827895" cy="10901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/>
              <a:t>Fast, parameter-free</a:t>
            </a:r>
          </a:p>
          <a:p>
            <a:pPr/>
            <a:r>
              <a:rPr sz="1700"/>
              <a:t>Fails on uneven lighting - use adaptive thresholds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Region-based methods</a:t>
            </a:r>
          </a:p>
        </p:txBody>
      </p:sp>
      <p:sp>
        <p:nvSpPr>
          <p:cNvPr id="3" name="Placeholder: Region growing" descr="Placeholder - Region growing"/>
          <p:cNvSpPr/>
          <p:nvPr/>
        </p:nvSpPr>
        <p:spPr>
          <a:xfrm>
            <a:off x="816856" y="1408735"/>
            <a:ext cx="4827895" cy="3620921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Region growing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seed pixel expands to similar neighbours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5258257"/>
                <a:ext cx="5364327" cy="8310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/>
                  <a:t>Grow from seeds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|</m:t>
                    </m:r>
                    <m:r>
                      <a:rPr lang="en-US" sz="1700" i="1"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(</m:t>
                    </m:r>
                    <m:r>
                      <a:rPr lang="en-US" sz="1700" i="1"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1700" i="1"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700" i="1"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|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&lt;</m:t>
                    </m:r>
                    <m:r>
                      <a:rPr lang="en-US" sz="1700" i="1">
                        <a:latin typeface="Cambria Math"/>
                      </a:rPr>
                      <m:t>τ</m:t>
                    </m:r>
                  </m:oMath>
                </a14:m>
              </a:p>
              <a:p>
                <a:pPr/>
                <a:r>
                  <a:rPr sz="1700"/>
                  <a:t>Split-and-merge on a quadtree</a:t>
                </a:r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5258257"/>
                <a:ext cx="5364327" cy="83108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/>
                  <a:t>Grow from seeds while </a:t>
                </a:r>
                <a:r>
                  <a:rPr sz="1700" i="1"/>
                  <a:t>|I(p) − μ_R| &lt; τ</a:t>
                </a:r>
              </a:p>
              <a:p>
                <a:pPr/>
                <a:r>
                  <a:rPr sz="1700"/>
                  <a:t>Split-and-merge on a quadtree</a:t>
                </a:r>
              </a:p>
            </p:txBody>
          </p:sp>
        </mc:Fallback>
      </mc:AlternateContent>
      <p:sp>
        <p:nvSpPr>
          <p:cNvPr id="5" name="Placeholder: Watershed" descr="Placeholder - Watershed"/>
          <p:cNvSpPr/>
          <p:nvPr/>
        </p:nvSpPr>
        <p:spPr>
          <a:xfrm>
            <a:off x="6546944" y="1408735"/>
            <a:ext cx="4827895" cy="3620921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Watershed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gradient magnitude as terrain, flooding from minima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5258257"/>
            <a:ext cx="5364327" cy="8310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/>
              <a:t>Flood the gradient image from markers</a:t>
            </a:r>
          </a:p>
          <a:p>
            <a:pPr/>
            <a:r>
              <a:rPr sz="1700"/>
              <a:t>Over-segments without marker control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Clustering in feature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635538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Treat each pixel as a feature vector,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(</m:t>
                    </m:r>
                    <m:r>
                      <a:rPr lang="en-US" sz="2200" i="1">
                        <a:latin typeface="Cambria Math"/>
                      </a:rPr>
                      <m:t>L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,</m:t>
                    </m:r>
                    <m:r>
                      <a:rPr lang="en-US" sz="2200" i="1"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,</m:t>
                    </m:r>
                    <m:r>
                      <a:rPr lang="en-US" sz="2200" i="1">
                        <a:latin typeface="Cambria Math"/>
                      </a:rPr>
                      <m:t>b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,</m:t>
                    </m:r>
                    <m:r>
                      <a:rPr lang="en-US" sz="2200" i="1"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,</m:t>
                    </m:r>
                    <m:r>
                      <a:rPr lang="en-US" sz="2200" i="1"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)</m:t>
                    </m:r>
                  </m:oMath>
                </a14:m>
                <a:r>
                  <a:rPr sz="2200"/>
                  <a:t>, and cluster: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635538"/>
                <a:ext cx="11094415" cy="5466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2200"/>
                  <a:t>Treat each pixel as a feature vector, e.g. </a:t>
                </a:r>
                <a:r>
                  <a:rPr sz="2200" i="1"/>
                  <a:t>(L, a, b, x, y)</a:t>
                </a:r>
                <a:r>
                  <a:rPr sz="2200"/>
                  <a:t>, and cluster: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41074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{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}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{</m:t>
                          </m:r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}</m:t>
                          </m:r>
                        </m:lim>
                      </m:limLow>
                      <m:r>
                        <a:rPr lang="en-US" sz="2310" i="0">
                          <a:latin typeface="Cambria Math"/>
                        </a:rPr>
                        <m:t> 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∈</m:t>
                              </m:r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2310" i="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‖"/>
                                      <m:sepChr m:val=""/>
                                      <m:endChr m:val="‖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en-US" sz="2310" i="1">
                                              <a:latin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sz="2310" i="1"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2310" i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en-US" sz="2310" i="1">
                                              <a:latin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en-US" sz="2310" i="1">
                                              <a:latin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310" i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410746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min_Cₖ,μₖ ∑ₖ₌₁^K ∑_(xᵢ ∈ Cₖ) lVert xᵢ − μₖ rVert²</a:t>
                </a:r>
              </a:p>
            </p:txBody>
          </p:sp>
        </mc:Fallback>
      </mc:AlternateContent>
      <p:sp>
        <p:nvSpPr>
          <p:cNvPr id="5" name="Placeholder: K-means / SLIC superpixels" descr="Placeholder - K-means / SLIC superpixels"/>
          <p:cNvSpPr/>
          <p:nvPr/>
        </p:nvSpPr>
        <p:spPr>
          <a:xfrm>
            <a:off x="1219181" y="3599466"/>
            <a:ext cx="4023246" cy="2263076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K-means / SLIC superpixels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image overlaid with superpixel boundaries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278727" y="4135120"/>
                <a:ext cx="5364327" cy="11917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 b="1"/>
                  <a:t>K-means</a:t>
                </a:r>
                <a:r>
                  <a:rPr sz="1700"/>
                  <a:t>: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/>
                      </a:rPr>
                      <m:t>K</m:t>
                    </m:r>
                  </m:oMath>
                </a14:m>
                <a:r>
                  <a:rPr sz="1700"/>
                  <a:t> fixed in advance</a:t>
                </a:r>
              </a:p>
              <a:p>
                <a:pPr/>
                <a:r>
                  <a:rPr sz="1700" b="1"/>
                  <a:t>Mean shift</a:t>
                </a:r>
                <a:r>
                  <a:rPr sz="1700"/>
                  <a:t>: finds modes,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/>
                      </a:rPr>
                      <m:t>K</m:t>
                    </m:r>
                  </m:oMath>
                </a14:m>
                <a:r>
                  <a:rPr sz="1700"/>
                  <a:t> is automatic</a:t>
                </a:r>
              </a:p>
              <a:p>
                <a:pPr/>
                <a:r>
                  <a:rPr sz="1700" b="1"/>
                  <a:t>SLIC</a:t>
                </a:r>
                <a:r>
                  <a:rPr sz="1700"/>
                  <a:t>: local k-means, compact superpixels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278727" y="4135120"/>
                <a:ext cx="5364327" cy="11917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1700" b="1"/>
                  <a:t>K-means</a:t>
                </a:r>
                <a:r>
                  <a:rPr sz="1700"/>
                  <a:t>: </a:t>
                </a:r>
                <a:r>
                  <a:rPr sz="1700" i="1"/>
                  <a:t>K</a:t>
                </a:r>
                <a:r>
                  <a:rPr sz="1700"/>
                  <a:t> fixed in advance</a:t>
                </a:r>
              </a:p>
              <a:p>
                <a:pPr/>
                <a:r>
                  <a:rPr sz="1700" b="1"/>
                  <a:t>Mean shift</a:t>
                </a:r>
                <a:r>
                  <a:rPr sz="1700"/>
                  <a:t>: finds modes, </a:t>
                </a:r>
                <a:r>
                  <a:rPr sz="1700" i="1"/>
                  <a:t>K</a:t>
                </a:r>
                <a:r>
                  <a:rPr sz="1700"/>
                  <a:t> is automatic</a:t>
                </a:r>
              </a:p>
              <a:p>
                <a:pPr/>
                <a:r>
                  <a:rPr sz="1700" b="1"/>
                  <a:t>SLIC</a:t>
                </a:r>
                <a:r>
                  <a:rPr sz="1700"/>
                  <a:t>: local k-means, compact superpixels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Graph-based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09231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Pixels are nodes; edges weight similarity between neighbours.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184439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sub>
                        <m:sup>
                          <m:r>
                            <a:rPr lang="en-US" sz="2310" i="0">
                              <a:latin typeface="Cambria Math"/>
                            </a:rP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a:rPr lang="en-US" sz="2310" i="0">
                          <a:latin typeface="Cambria Math"/>
                        </a:rPr>
                        <m:t> 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r>
                        <a:rPr lang="en-US" sz="2310" i="0">
                          <a:latin typeface="Cambria Math"/>
                        </a:rPr>
                        <m:t> </m:t>
                      </m:r>
                      <m:r>
                        <a:rPr lang="en-US" sz="2310" i="1">
                          <a:latin typeface="Cambria Math"/>
                        </a:rPr>
                        <m:t>λ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cr m:val="script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310" i="0">
                              <a:latin typeface="Cambria Math"/>
                            </a:rP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p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q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q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184439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E(L) = ∑_p D_p(L_p) + λ ∑_((p,q) ∈ N) V_(pq)(L_p, L_q)</a:t>
                </a:r>
              </a:p>
            </p:txBody>
          </p:sp>
        </mc:Fallback>
      </mc:AlternateContent>
      <p:sp>
        <p:nvSpPr>
          <p:cNvPr id="5" name="Placeholder: Graph cut" descr="Placeholder - Graph cut"/>
          <p:cNvSpPr/>
          <p:nvPr/>
        </p:nvSpPr>
        <p:spPr>
          <a:xfrm>
            <a:off x="1152127" y="3373159"/>
            <a:ext cx="3620921" cy="2715691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Graph cut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pixel grid with source / sink terminals and min cut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742295" y="3540760"/>
                <a:ext cx="5900760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Ncut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1"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1">
                          <a:latin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cut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assoc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cut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assoc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5742295" y="3540760"/>
                <a:ext cx="5900760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Ncut(A, B) = (cut(A,B))/(assoc(A,V)) + (cut(A,B))/(assoc(B,V))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742295" y="4729480"/>
            <a:ext cx="5900760" cy="11917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/>
              <a:t>Binary graph cuts are solved exactly by max-flow</a:t>
            </a:r>
          </a:p>
          <a:p>
            <a:pPr/>
            <a:r>
              <a:rPr sz="1700"/>
              <a:t>Normalized cuts avoid tiny isolated segments</a:t>
            </a:r>
          </a:p>
          <a:p>
            <a:pPr/>
            <a:r>
              <a:rPr sz="1700"/>
              <a:t>GrabCut adds interactive box prompts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Active contours and level sets</a:t>
            </a:r>
          </a:p>
        </p:txBody>
      </p:sp>
      <p:sp>
        <p:nvSpPr>
          <p:cNvPr id="3" name="Placeholder: Evolving contour" descr="Placeholder - Evolving contour"/>
          <p:cNvSpPr/>
          <p:nvPr/>
        </p:nvSpPr>
        <p:spPr>
          <a:xfrm>
            <a:off x="639834" y="2016362"/>
            <a:ext cx="3465356" cy="3465356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Evolving contour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snake shrinking onto an object boundary over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562143" y="2296576"/>
                <a:ext cx="7080912" cy="4704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1700"/>
                  <a:t>Snake energy of a curve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(</m:t>
                    </m:r>
                    <m:r>
                      <a:rPr lang="en-US" sz="1700" i="1"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700" i="0">
                        <a:latin typeface="Cambria Math"/>
                      </a:rPr>
                      <m:t>)</m:t>
                    </m:r>
                  </m:oMath>
                </a14:m>
                <a:r>
                  <a:rPr sz="1700"/>
                  <a:t>:</a:t>
                </a:r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4562143" y="2296576"/>
                <a:ext cx="7080912" cy="47040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sz="1700"/>
                  <a:t>Snake energy of a curve </a:t>
                </a:r>
                <a:r>
                  <a:rPr sz="1700" i="1"/>
                  <a:t>v(s)</a:t>
                </a:r>
                <a:r>
                  <a:rPr sz="1700"/>
                  <a:t>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562143" y="2995584"/>
                <a:ext cx="7080912" cy="785553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890" i="1"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1890" i="0">
                          <a:latin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a:rPr lang="en-US" sz="1890" i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890" i="0">
                              <a:latin typeface="Cambria Math"/>
                            </a:rPr>
                            <m:t>1</m:t>
                          </m:r>
                        </m:sup>
                        <m:e>
                          <m:f>
                            <m:fPr>
                              <m:type m:val="lin"/>
                            </m:fPr>
                            <m:num>
                              <m:r>
                                <a:rPr lang="en-US" sz="189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90" i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1890" i="1">
                              <a:latin typeface="Cambria Math"/>
                            </a:rPr>
                            <m:t>α</m:t>
                          </m:r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en-US" sz="1890" i="1">
                                          <a:latin typeface="Cambria Math"/>
                                        </a:rPr>
                                        <m:t>v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890" i="0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sz="1890" i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1890" i="1">
                                      <a:latin typeface="Cambria Math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90" i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90" i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890" i="0">
                              <a:latin typeface="Cambria Math"/>
                            </a:rPr>
                            <m:t>+</m:t>
                          </m:r>
                          <m:r>
                            <a:rPr lang="en-US" sz="1890" i="1">
                              <a:latin typeface="Cambria Math"/>
                            </a:rPr>
                            <m:t>β</m:t>
                          </m:r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en-US" sz="1890" i="1">
                                          <a:latin typeface="Cambria Math"/>
                                        </a:rPr>
                                        <m:t>v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890" i="0">
                                          <a:latin typeface="Cambria Math"/>
                                        </a:rPr>
                                        <m:t>′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890" i="0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sz="1890" i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1890" i="1">
                                      <a:latin typeface="Cambria Math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90" i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90" i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189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1890" i="1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1890" i="0">
                              <a:latin typeface="Cambria Math"/>
                            </a:rPr>
                            <m:t>img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90" i="0">
                          <a:latin typeface="Cambria Math"/>
                        </a:rPr>
                        <m:t>(</m:t>
                      </m:r>
                      <m:r>
                        <a:rPr lang="en-US" sz="1890" i="1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890" i="0">
                          <a:latin typeface="Cambria Math"/>
                        </a:rPr>
                        <m:t>(</m:t>
                      </m:r>
                      <m:r>
                        <a:rPr lang="en-US" sz="1890" i="1"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189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890" i="0">
                          <a:latin typeface="Cambria Math"/>
                        </a:rPr>
                        <m:t>)</m:t>
                      </m:r>
                      <m:r>
                        <a:rPr lang="en-US" sz="1890" i="0">
                          <a:latin typeface="Cambria Math"/>
                        </a:rPr>
                        <m:t> </m:t>
                      </m:r>
                      <m:r>
                        <a:rPr lang="en-US" sz="1890" i="1">
                          <a:latin typeface="Cambria Math"/>
                        </a:rPr>
                        <m:t>d</m:t>
                      </m:r>
                      <m:r>
                        <a:rPr lang="en-US" sz="1890" i="1">
                          <a:latin typeface="Cambria Math"/>
                        </a:rPr>
                        <m:t>s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4562143" y="2995584"/>
                <a:ext cx="7080912" cy="785553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1890" i="1"/>
                  <a:t>E = ∫₀¹ (1)/(2)(α lVert v^prime(s) rVert² + β lVert v^(primeprime)(s) rVert²) + E_(img)(v(s)) ds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562143" y="4009736"/>
            <a:ext cx="7080912" cy="11917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/>
              <a:t>Internal terms keep the curve smooth</a:t>
            </a:r>
          </a:p>
          <a:p>
            <a:pPr/>
            <a:r>
              <a:rPr sz="1700"/>
              <a:t>Image term pulls it to edges</a:t>
            </a:r>
          </a:p>
          <a:p>
            <a:pPr/>
            <a:r>
              <a:rPr sz="1700"/>
              <a:t>Level sets handle topology changes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Deep learning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End-to-end dense prediction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Fully convolutional networks (FCN)</a:t>
            </a:r>
          </a:p>
        </p:txBody>
      </p:sp>
      <p:sp>
        <p:nvSpPr>
          <p:cNvPr id="3" name="Placeholder: FCN architecture" descr="Placeholder - FCN architecture"/>
          <p:cNvSpPr/>
          <p:nvPr/>
        </p:nvSpPr>
        <p:spPr>
          <a:xfrm>
            <a:off x="888339" y="1188720"/>
            <a:ext cx="10415016" cy="347167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FCN architecture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conv backbone, 1x1 classifier, upsampling with skip fusion (FCN-32s/16s/8s)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4888992"/>
                <a:ext cx="11094415" cy="14203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/>
                  <a:t>Replace fully connected layers with </a:t>
                </a:r>
                <a14:m>
                  <m:oMath xmlns:m="http://schemas.openxmlformats.org/officeDocument/2006/math">
                    <m:r>
                      <a:rPr lang="en-US" sz="2200" i="0"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2200" i="0">
                        <a:latin typeface="Cambria Math"/>
                      </a:rPr>
                      <m:t>×</m:t>
                    </m:r>
                    <m:r>
                      <a:rPr lang="en-US" sz="2200" i="0">
                        <a:latin typeface="Cambria Math"/>
                      </a:rPr>
                      <m:t>1</m:t>
                    </m:r>
                  </m:oMath>
                </a14:m>
                <a:r>
                  <a:rPr sz="2200"/>
                  <a:t> convolutions</a:t>
                </a:r>
              </a:p>
              <a:p>
                <a:pPr/>
                <a:r>
                  <a:rPr sz="2200"/>
                  <a:t>Learned upsampling (transposed convolution) back to input size</a:t>
                </a:r>
              </a:p>
              <a:p>
                <a:pPr/>
                <a:r>
                  <a:rPr sz="2200"/>
                  <a:t>Skip connections fuse coarse semantics with fine detail</a:t>
                </a:r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4888992"/>
                <a:ext cx="11094415" cy="1420368"/>
              </a:xfrm>
              <a:prstGeom prst="rect">
                <a:avLst/>
              </a:prstGeom>
              <a:noFill/>
            </p:spPr>
            <p:txBody>
              <a:bodyPr wrap="square" anchor="t" lIns="18288" rIns="18288" tIns="36576" bIns="36576">
                <a:spAutoFit/>
              </a:bodyPr>
              <a:lstStyle>
                <a:lvl1pPr marL="310896" indent="-310896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6656" indent="-27432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56032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258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4592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6596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600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60000"/>
                  <a:buFont typeface="Arial" panose="020B0604020202020204"/>
                  <a:buChar char="■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0604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37744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buClr>
                    <a:schemeClr val="accent1"/>
                  </a:buClr>
                  <a:buSzPct val="100000"/>
                  <a:buFont typeface="Arial" panose="020B0604020202020204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sz="2200"/>
                  <a:t>Replace fully connected layers with </a:t>
                </a:r>
                <a:r>
                  <a:rPr sz="2200" i="1"/>
                  <a:t>1 × 1</a:t>
                </a:r>
                <a:r>
                  <a:rPr sz="2200"/>
                  <a:t> convolutions</a:t>
                </a:r>
              </a:p>
              <a:p>
                <a:pPr/>
                <a:r>
                  <a:rPr sz="2200"/>
                  <a:t>Learned upsampling (transposed convolution) back to input size</a:t>
                </a:r>
              </a:p>
              <a:p>
                <a:pPr/>
                <a:r>
                  <a:rPr sz="2200"/>
                  <a:t>Skip connections fuse coarse semantics with fine detail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U-Net - encoder-decoder with skips</a:t>
            </a:r>
          </a:p>
        </p:txBody>
      </p:sp>
      <p:sp>
        <p:nvSpPr>
          <p:cNvPr id="3" name="Placeholder: U-Net" descr="Placeholder - U-Net"/>
          <p:cNvSpPr/>
          <p:nvPr/>
        </p:nvSpPr>
        <p:spPr>
          <a:xfrm>
            <a:off x="1219181" y="2240323"/>
            <a:ext cx="4023246" cy="301743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U-Net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contracting path, expanding path, copy-and-crop skips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2307336"/>
            <a:ext cx="5364327" cy="28834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200"/>
              <a:t>Symmetric encoder / decoder</a:t>
            </a:r>
          </a:p>
          <a:p>
            <a:pPr/>
            <a:r>
              <a:rPr sz="2200"/>
              <a:t>Skip connections concatenate encoder features at each scale</a:t>
            </a:r>
          </a:p>
          <a:p>
            <a:pPr/>
            <a:r>
              <a:rPr sz="2200"/>
              <a:t>Works with very few labelled images</a:t>
            </a:r>
          </a:p>
          <a:p>
            <a:pPr lvl="1"/>
            <a:r>
              <a:rPr sz="2000"/>
              <a:t>Standard in </a:t>
            </a:r>
            <a:r>
              <a:rPr sz="2000">
                <a:solidFill>
                  <a:schemeClr val="accent2"/>
                </a:solidFill>
              </a:rPr>
              <a:t>medical imaging</a:t>
            </a:r>
          </a:p>
          <a:p>
            <a:pPr/>
            <a:r>
              <a:rPr sz="2200"/>
              <a:t>Variants - U-Net++, Attention U-Net, nnU-Net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DeepLab - atrous convolution and ASPP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22384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200"/>
              <a:t>Dilated convolution enlarges the receptive field without losing resolution: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297592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310" i="1"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[</m:t>
                      </m:r>
                      <m:r>
                        <a:rPr lang="en-US" sz="2310" i="1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k</m:t>
                          </m:r>
                        </m:sub>
                        <m:sup>
                          <m:r>
                            <a:rPr lang="en-US" sz="2310" i="0"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a:rPr lang="en-US" sz="2310" i="1">
                              <a:latin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[</m:t>
                      </m:r>
                      <m:r>
                        <a:rPr lang="en-US" sz="2310" i="1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+</m:t>
                      </m:r>
                      <m:r>
                        <a:rPr lang="en-US" sz="2310" i="1"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⋅</m:t>
                      </m:r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]</m:t>
                      </m:r>
                      <m:r>
                        <a:rPr lang="en-US" sz="2310" i="0">
                          <a:latin typeface="Cambria Math"/>
                        </a:rPr>
                        <m:t> </m:t>
                      </m:r>
                      <m:r>
                        <a:rPr lang="en-US" sz="2310" i="1">
                          <a:latin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[</m:t>
                      </m:r>
                      <m:r>
                        <a:rPr lang="en-US" sz="2310" i="1"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,</m:t>
                      </m:r>
                      <m:r>
                        <a:rPr lang="en-US" sz="2310" i="0">
                          <a:latin typeface="Cambria Math"/>
                        </a:rPr>
                        <m:t>  </m:t>
                      </m:r>
                      <m:r>
                        <a:rPr lang="en-US" sz="2310" i="1"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en-US" sz="2310" i="0">
                          <a:latin typeface="Cambria Math"/>
                        </a:rPr>
                        <m:t>dilation rate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297592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y[i] = ∑ₖ x[i + r · k] w[k], r = dilation rate</a:t>
                </a:r>
              </a:p>
            </p:txBody>
          </p:sp>
        </mc:Fallback>
      </mc:AlternateContent>
      <p:sp>
        <p:nvSpPr>
          <p:cNvPr id="5" name="Placeholder: ASPP module" descr="Placeholder - ASPP module"/>
          <p:cNvSpPr/>
          <p:nvPr/>
        </p:nvSpPr>
        <p:spPr>
          <a:xfrm>
            <a:off x="1286235" y="3486312"/>
            <a:ext cx="4425570" cy="2489383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ASPP module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parallel atrous convs at rates 6, 12, 18 + image pooling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5160" y="4185920"/>
            <a:ext cx="4827895" cy="10901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/>
              <a:t>Multi-scale context in parallel branches</a:t>
            </a:r>
          </a:p>
          <a:p>
            <a:pPr/>
            <a:r>
              <a:rPr sz="1700"/>
              <a:t>DeepLabv3+ adds a light decoder for sharp boundaries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Instance segmentation - Mask R-CNN</a:t>
            </a:r>
          </a:p>
        </p:txBody>
      </p:sp>
      <p:sp>
        <p:nvSpPr>
          <p:cNvPr id="3" name="Placeholder: Mask R-CNN pipeline" descr="Placeholder - Mask R-CNN pipeline"/>
          <p:cNvSpPr/>
          <p:nvPr/>
        </p:nvSpPr>
        <p:spPr>
          <a:xfrm>
            <a:off x="869347" y="1188720"/>
            <a:ext cx="10453002" cy="348433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Mask R-CNN pipeline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backbone + FPN, RPN proposals, RoIAlign, box / class / mask heads</a:t>
            </a:r>
          </a:p>
        </p:txBody>
      </p:sp>
      <p:grpSp>
        <p:nvGrpSpPr>
          <p:cNvPr id="6" name="Exampleblock: Detect then segment"/>
          <p:cNvGrpSpPr/>
          <p:nvPr/>
        </p:nvGrpSpPr>
        <p:grpSpPr>
          <a:xfrm>
            <a:off x="548640" y="4901654"/>
            <a:ext cx="5364327" cy="1407706"/>
            <a:chOff x="548640" y="4901654"/>
            <a:chExt cx="5364327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ounded Rectangle 3"/>
                <p:cNvSpPr/>
                <p:nvPr/>
              </p:nvSpPr>
              <p:spPr>
                <a:xfrm>
                  <a:off x="548640" y="4901654"/>
                  <a:ext cx="5364327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3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A small FCN predicts a </a:t>
                  </a:r>
                  <a14:m>
                    <m:oMath xmlns:m="http://schemas.openxmlformats.org/officeDocument/2006/math">
                      <m: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28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28</m:t>
                      </m:r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 mask per detected box</a:t>
                  </a:r>
                </a:p>
              </p:txBody>
            </p:sp>
          </mc:Choice>
          <mc:Fallback>
            <p:sp>
              <p:nvSpPr>
                <p:cNvPr id="4" name="Rounded Rectangle 3"/>
                <p:cNvSpPr/>
                <p:nvPr/>
              </p:nvSpPr>
              <p:spPr>
                <a:xfrm>
                  <a:off x="548640" y="4901654"/>
                  <a:ext cx="5364327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3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A small FCN predicts a </a:t>
                  </a:r>
                  <a:r>
                    <a:rPr sz="1980" i="1">
                      <a:solidFill>
                        <a:schemeClr val="tx1"/>
                      </a:solidFill>
                    </a:rPr>
                    <a:t>28 × 28</a:t>
                  </a:r>
                  <a:r>
                    <a:rPr sz="1980">
                      <a:solidFill>
                        <a:schemeClr val="tx1"/>
                      </a:solidFill>
                    </a:rPr>
                    <a:t> mask per detected box</a:t>
                  </a:r>
                </a:p>
              </p:txBody>
            </p:sp>
          </mc:Fallback>
        </mc:AlternateContent>
        <p:sp>
          <p:nvSpPr>
            <p:cNvPr id="5" name="Round Same Side Corner Rectangle 4"/>
            <p:cNvSpPr/>
            <p:nvPr/>
          </p:nvSpPr>
          <p:spPr>
            <a:xfrm>
              <a:off x="548640" y="4901654"/>
              <a:ext cx="5364327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Detect then segment</a:t>
              </a:r>
            </a:p>
          </p:txBody>
        </p:sp>
      </p:grpSp>
      <p:grpSp>
        <p:nvGrpSpPr>
          <p:cNvPr id="9" name="Block: RoIAlign"/>
          <p:cNvGrpSpPr/>
          <p:nvPr/>
        </p:nvGrpSpPr>
        <p:grpSpPr>
          <a:xfrm>
            <a:off x="6278727" y="4901654"/>
            <a:ext cx="5364327" cy="1407706"/>
            <a:chOff x="6278727" y="4901654"/>
            <a:chExt cx="5364327" cy="1407706"/>
          </a:xfrm>
        </p:grpSpPr>
        <p:sp>
          <p:nvSpPr>
            <p:cNvPr id="7" name="Rounded Rectangle 6"/>
            <p:cNvSpPr/>
            <p:nvPr/>
          </p:nvSpPr>
          <p:spPr>
            <a:xfrm>
              <a:off x="6278727" y="4901654"/>
              <a:ext cx="5364327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Bilinear sampling without quantisation keeps masks aligned</a:t>
              </a:r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6278727" y="4901654"/>
              <a:ext cx="5364327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RoIAlign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Transformer-based segmentation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405794"/>
          <a:ext cx="11094415" cy="223901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336738"/>
                <a:gridCol w="1209343"/>
                <a:gridCol w="5088710"/>
                <a:gridCol w="1459624"/>
              </a:tblGrid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 b="1">
                          <a:solidFill>
                            <a:schemeClr val="tx1"/>
                          </a:solidFill>
                        </a:rPr>
                        <a:t>Year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Key idea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22225" cap="flat" cmpd="sng">
                      <a:solidFill>
                        <a:schemeClr val="tx1"/>
                      </a:solidFill>
                      <a:prstDash val="solid"/>
                    </a:lnT>
                    <a:lnB w="11430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SETR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ViT encoder + simple decoder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Semantic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SegFormer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Hierarchical encoder + all-MLP decoder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Semantic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MaskFormer / Mask2Former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2021-22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Mask classification with queries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accent2"/>
                          </a:solidFill>
                        </a:rPr>
                        <a:t>Universal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tx1"/>
                          </a:solidFill>
                        </a:rPr>
                        <a:t>SAM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Promptable foundation model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Any mask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Placeholder: Query-based mask decoding" descr="Placeholder - Query-based mask decoding"/>
          <p:cNvSpPr/>
          <p:nvPr/>
        </p:nvSpPr>
        <p:spPr>
          <a:xfrm>
            <a:off x="1658081" y="3873404"/>
            <a:ext cx="8875532" cy="2218883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Query-based mask decoding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N learned queries -&gt; N (class, mask) pairs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Segment Anything (SAM)</a:t>
            </a:r>
          </a:p>
        </p:txBody>
      </p:sp>
      <p:sp>
        <p:nvSpPr>
          <p:cNvPr id="3" name="Placeholder: SAM architecture" descr="Placeholder - SAM architecture"/>
          <p:cNvSpPr/>
          <p:nvPr/>
        </p:nvSpPr>
        <p:spPr>
          <a:xfrm>
            <a:off x="1286235" y="2089451"/>
            <a:ext cx="4425570" cy="3319178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SAM architecture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image encoder, prompt encoder (points / box / mask), mask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5160" y="2317496"/>
            <a:ext cx="4827895" cy="28630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200"/>
              <a:t>Trained on SA-1B - over 1 billion masks</a:t>
            </a:r>
          </a:p>
          <a:p>
            <a:pPr/>
            <a:r>
              <a:rPr sz="2200"/>
              <a:t>Prompts - points, boxes, coarse masks</a:t>
            </a:r>
          </a:p>
          <a:p>
            <a:pPr/>
            <a:r>
              <a:rPr sz="2200"/>
              <a:t>Zero-shot transfer to new domains</a:t>
            </a:r>
          </a:p>
          <a:p>
            <a:pPr/>
            <a:r>
              <a:rPr sz="2200"/>
              <a:t>Outputs several candidate masks per prompt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Training and evaluation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Loss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422127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CE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310" i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310" i="1">
                                  <a:latin typeface="Cambria Math"/>
                                </a:rPr>
                                <m:t>C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  <m:r>
                                    <a:rPr lang="en-US" sz="2310" i="1">
                                      <a:latin typeface="Cambria Math"/>
                                    </a:rPr>
                                    <m:t>c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log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i</m:t>
                          </m:r>
                          <m:r>
                            <a:rPr lang="en-US" sz="2310" i="1">
                              <a:latin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422127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L_(CE) = −(1)/(N) ∑ᵢ₌₁^N ∑_(c=1)^C y_(ic) log p_(ic)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2610847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Dice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a:rPr lang="en-US" sz="2310" i="0"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310" i="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sSub>
                            <m:e>
                              <m:r>
                                <a:rPr lang="en-US" sz="2310" i="1">
                                  <a:latin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310" i="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310" i="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en-US" sz="2310" i="1">
                                      <a:latin typeface="Cambria Math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sz="2310" i="1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2610847"/>
                <a:ext cx="11094415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L_(Dice) = 1 − (2 ∑ᵢ pᵢ gᵢ)/(∑ᵢ pᵢ + ∑ᵢ gᵢ)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8640" y="3799567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Focal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−</m:t>
                      </m:r>
                      <m:r>
                        <a:rPr lang="en-US" sz="2310" i="1">
                          <a:latin typeface="Cambria Math"/>
                        </a:rPr>
                        <m:t>α</m:t>
                      </m:r>
                      <m:r>
                        <a:rPr lang="en-US" sz="2310" i="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(</m:t>
                      </m:r>
                      <m:r>
                        <a:rPr lang="en-US" sz="2310" i="0"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10" i="1">
                              <a:latin typeface="Cambria Math"/>
                            </a:rPr>
                            <m:t>γ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log</m:t>
                      </m:r>
                      <m:sSub>
                        <m:e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548640" y="3799567"/>
                <a:ext cx="11094415" cy="64008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L_(Focal) = −α (1 − p_t)^γ log p_t</a:t>
                </a:r>
              </a:p>
            </p:txBody>
          </p:sp>
        </mc:Fallback>
      </mc:AlternateContent>
      <p:grpSp>
        <p:nvGrpSpPr>
          <p:cNvPr id="8" name="Block: In practice"/>
          <p:cNvGrpSpPr/>
          <p:nvPr/>
        </p:nvGrpSpPr>
        <p:grpSpPr>
          <a:xfrm>
            <a:off x="548640" y="4668247"/>
            <a:ext cx="11094415" cy="1407706"/>
            <a:chOff x="548640" y="4668247"/>
            <a:chExt cx="11094415" cy="1407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ounded Rectangle 5"/>
                <p:cNvSpPr/>
                <p:nvPr/>
              </p:nvSpPr>
              <p:spPr>
                <a:xfrm>
                  <a:off x="548640" y="4668247"/>
                  <a:ext cx="11094415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Combine them, e.g. </a:t>
                  </a:r>
                  <a14:m>
                    <m:oMath xmlns:m="http://schemas.openxmlformats.org/officeDocument/2006/math">
                      <m:r>
                        <m:rPr>
                          <m:scr m:val="script"/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198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198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CE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80" i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198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198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Dice</m:t>
                          </m:r>
                        </m:sub>
                      </m:sSub>
                    </m:oMath>
                  </a14:m>
                  <a:r>
                    <a:rPr sz="1980">
                      <a:solidFill>
                        <a:schemeClr val="tx1"/>
                      </a:solidFill>
                    </a:rPr>
                    <a:t>: CE for stable gradients, Dice for </a:t>
                  </a:r>
                  <a:r>
                    <a:rPr sz="1980">
                      <a:solidFill>
                        <a:schemeClr val="accent2"/>
                      </a:solidFill>
                    </a:rPr>
                    <a:t>class imbalance</a:t>
                  </a:r>
                  <a:r>
                    <a:rPr sz="1980">
                      <a:solidFill>
                        <a:schemeClr val="tx1"/>
                      </a:solidFill>
                    </a:rPr>
                    <a:t>.</a:t>
                  </a:r>
                </a:p>
              </p:txBody>
            </p:sp>
          </mc:Choice>
          <mc:Fallback>
            <p:sp>
              <p:nvSpPr>
                <p:cNvPr id="6" name="Rounded Rectangle 5"/>
                <p:cNvSpPr/>
                <p:nvPr/>
              </p:nvSpPr>
              <p:spPr>
                <a:xfrm>
                  <a:off x="548640" y="4668247"/>
                  <a:ext cx="11094415" cy="1407706"/>
                </a:xfrm>
                <a:prstGeom prst="roundRect">
                  <a:avLst>
                    <a:gd name="adj" fmla="val 5846"/>
                  </a:avLst>
                </a:prstGeom>
                <a:solidFill>
                  <a:schemeClr val="accent1">
                    <a:lumMod val="15000"/>
                    <a:lumOff val="85000"/>
                  </a:schemeClr>
                </a:solidFill>
                <a:ln>
                  <a:noFill/>
                </a:ln>
              </p:spPr>
              <p:txBody>
                <a:bodyPr rtlCol="0" anchor="t" wrap="square" lIns="137160" rIns="137160" tIns="556298" bIns="73152">
                  <a:noAutofit/>
                </a:bodyPr>
                <a:lstStyle>
                  <a:lvl1pPr marL="310896" indent="-310896" algn="l" defTabSz="914400" rtl="0" eaLnBrk="1" latinLnBrk="0" hangingPunct="1">
                    <a:lnSpc>
                      <a:spcPct val="100000"/>
                    </a:lnSpc>
                    <a:spcBef>
                      <a:spcPts val="10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2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76656" indent="-274320" algn="l" defTabSz="914400" rtl="0" eaLnBrk="1" latinLnBrk="0" hangingPunct="1">
                    <a:lnSpc>
                      <a:spcPct val="100000"/>
                    </a:lnSpc>
                    <a:spcBef>
                      <a:spcPts val="4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005840" indent="-256032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258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64592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6596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600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60000"/>
                    <a:buFont typeface="Arial" panose="020B0604020202020204"/>
                    <a:buChar char="■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0604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26080" indent="-237744" algn="l" defTabSz="914400" rtl="0" eaLnBrk="1" latinLnBrk="0" hangingPunct="1">
                    <a:lnSpc>
                      <a:spcPct val="100000"/>
                    </a:lnSpc>
                    <a:spcBef>
                      <a:spcPts val="200"/>
                    </a:spcBef>
                    <a:buClr>
                      <a:schemeClr val="accent1"/>
                    </a:buClr>
                    <a:buSzPct val="100000"/>
                    <a:buFont typeface="Arial" panose="020B0604020202020204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marL="0" indent="0">
                    <a:buNone/>
                  </a:pPr>
                  <a:r>
                    <a:rPr sz="1980">
                      <a:solidFill>
                        <a:schemeClr val="tx1"/>
                      </a:solidFill>
                    </a:rPr>
                    <a:t>Combine them, e.g. </a:t>
                  </a:r>
                  <a:r>
                    <a:rPr sz="1980" i="1">
                      <a:solidFill>
                        <a:schemeClr val="tx1"/>
                      </a:solidFill>
                    </a:rPr>
                    <a:t>L = L_(CE) + L_(Dice)</a:t>
                  </a:r>
                  <a:r>
                    <a:rPr sz="1980">
                      <a:solidFill>
                        <a:schemeClr val="tx1"/>
                      </a:solidFill>
                    </a:rPr>
                    <a:t>: CE for stable gradients, Dice for </a:t>
                  </a:r>
                  <a:r>
                    <a:rPr sz="1980">
                      <a:solidFill>
                        <a:schemeClr val="accent2"/>
                      </a:solidFill>
                    </a:rPr>
                    <a:t>class imbalance</a:t>
                  </a:r>
                  <a:r>
                    <a:rPr sz="1980">
                      <a:solidFill>
                        <a:schemeClr val="tx1"/>
                      </a:solidFill>
                    </a:rPr>
                    <a:t>.</a:t>
                  </a:r>
                </a:p>
              </p:txBody>
            </p:sp>
          </mc:Fallback>
        </mc:AlternateContent>
        <p:sp>
          <p:nvSpPr>
            <p:cNvPr id="7" name="Round Same Side Corner Rectangle 6"/>
            <p:cNvSpPr/>
            <p:nvPr/>
          </p:nvSpPr>
          <p:spPr>
            <a:xfrm>
              <a:off x="548640" y="4668247"/>
              <a:ext cx="11094415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In practice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Loss choice matters (sample curves)</a:t>
            </a:r>
          </a:p>
        </p:txBody>
      </p:sp>
      <p:pic>
        <p:nvPicPr>
          <p:cNvPr id="3" name="Plot: Validation mIoU" descr="line plot: Validation mIoU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45920"/>
            <a:ext cx="11094415" cy="384048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522976"/>
            <a:ext cx="11094415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Sample data - U-Net on an imbalanced dataset, mean +/- std over 3 seeds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Evaluation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8640" y="196443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IoU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∩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a:rPr lang="en-US" sz="2310" i="1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∪</m:t>
                          </m:r>
                          <m:r>
                            <a:rPr lang="en-US" sz="2310" i="1"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num>
                        <m:den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548640" y="196443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IoU = (|A ∩ B|)/(|A ∪ B|) = (TP)/(TP + FP + FN)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" y="315315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mIoU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10" i="1">
                              <a:latin typeface="Cambria Math"/>
                            </a:rPr>
                            <m:t>C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310" i="1"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=</m:t>
                          </m:r>
                          <m:r>
                            <a:rPr lang="en-US" sz="2310" i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310" i="1">
                              <a:latin typeface="Cambria Math"/>
                            </a:rPr>
                            <m:t>C</m:t>
                          </m:r>
                        </m:sup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IoU</m:t>
                              </m:r>
                            </m:e>
                            <m:sub>
                              <m:r>
                                <a:rPr lang="en-US" sz="2310" i="1">
                                  <a:latin typeface="Cambria Math"/>
                                </a:rPr>
                                <m:t>c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548640" y="315315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mIoU = (1)/(C) ∑_(c=1)^C IoU_c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278727" y="196443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Dice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</m:num>
                        <m:den>
                          <m:r>
                            <a:rPr lang="en-US" sz="2310" i="0">
                              <a:latin typeface="Cambria Math"/>
                            </a:rPr>
                            <m:t>2</m:t>
                          </m:r>
                          <m:r>
                            <a:rPr lang="en-US" sz="2310" i="0">
                              <a:latin typeface="Cambria Math"/>
                            </a:rPr>
                            <m:t> </m:t>
                          </m:r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/>
              <p:cNvSpPr txBox="1"/>
              <p:nvPr/>
            </p:nvSpPr>
            <p:spPr>
              <a:xfrm>
                <a:off x="6278727" y="196443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Dice = (2 TP)/(2 TP + FP + FN)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278727" y="315315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PQ</m:t>
                      </m:r>
                      <m:r>
                        <m:rPr>
                          <m:sty m:val="p"/>
                        </m:rPr>
                        <a:rPr lang="en-US" sz="231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T</m:t>
                              </m:r>
                              <m:r>
                                <a:rPr lang="en-US" sz="2310" i="1">
                                  <a:latin typeface="Cambria Math"/>
                                </a:rPr>
                                <m:t>P</m:t>
                              </m:r>
                            </m:sub>
                            <m:sup>
                              <m:r>
                                <a:rPr lang="en-US" sz="2310" i="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2310" i="0">
                                  <a:latin typeface="Cambria Math"/>
                                </a:rPr>
                                <m:t>IoU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(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,</m:t>
                          </m:r>
                          <m:r>
                            <a:rPr lang="en-US" sz="2310" i="1">
                              <a:latin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a:rPr lang="en-US" sz="2310" i="1">
                              <a:latin typeface="Cambria Math"/>
                            </a:rPr>
                            <m:t>T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type m:val="lin"/>
                            </m:fPr>
                            <m:num>
                              <m:r>
                                <a:rPr lang="en-US" sz="231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310" i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type m:val="lin"/>
                            </m:fPr>
                            <m:num>
                              <m:r>
                                <a:rPr lang="en-US" sz="231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310" i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  <m:r>
                            <a:rPr lang="en-US" sz="2310" i="1">
                              <a:latin typeface="Cambria Math"/>
                            </a:rPr>
                            <m:t>F</m:t>
                          </m:r>
                          <m:r>
                            <a:rPr lang="en-US" sz="2310" i="1">
                              <a:latin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2310" i="0">
                              <a:latin typeface="Cambria Math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6278727" y="3153156"/>
                <a:ext cx="5364327" cy="960120"/>
              </a:xfrm>
              <a:prstGeom prst="rect">
                <a:avLst/>
              </a:prstGeom>
              <a:noFill/>
            </p:spPr>
            <p:txBody>
              <a:bodyPr wrap="square" anchor="ctr" lIns="18288" rIns="18288" tIns="36576" bIns="36576">
                <a:spAutoFit/>
              </a:bodyPr>
              <a:lstStyle/>
              <a:p>
                <a:pPr algn="ctr"/>
                <a:r>
                  <a:rPr sz="2310" i="1"/>
                  <a:t>PQ = (∑_((p,g) ∈ TP) IoU(p,g))/(|TP| + (1)/(2)|FP| + (1)/(2)|FN|)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48640" y="4341876"/>
            <a:ext cx="11094415" cy="119176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 b="1"/>
              <a:t>mIoU</a:t>
            </a:r>
            <a:r>
              <a:rPr sz="1700"/>
              <a:t> - standard for semantic segmentation</a:t>
            </a:r>
          </a:p>
          <a:p>
            <a:pPr/>
            <a:r>
              <a:rPr sz="1700" b="1"/>
              <a:t>Dice</a:t>
            </a:r>
            <a:r>
              <a:rPr sz="1700"/>
              <a:t> - common in medical imaging</a:t>
            </a:r>
          </a:p>
          <a:p>
            <a:pPr/>
            <a:r>
              <a:rPr sz="1700" b="1"/>
              <a:t>PQ</a:t>
            </a:r>
            <a:r>
              <a:rPr sz="1700"/>
              <a:t> - panoptic quality, combines recognition and segmentation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Per-class errors (sample confusion matrix)</a:t>
            </a:r>
          </a:p>
        </p:txBody>
      </p:sp>
      <p:pic>
        <p:nvPicPr>
          <p:cNvPr id="3" name="Plot: confusion" descr="confusion plot: confus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0" y="118872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15160" y="2646172"/>
            <a:ext cx="4827895" cy="155244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700"/>
              <a:t>Rows = ground truth, normalised to recall</a:t>
            </a:r>
          </a:p>
          <a:p>
            <a:pPr/>
            <a:r>
              <a:rPr sz="1700"/>
              <a:t>Sidewalk is often confused with road</a:t>
            </a:r>
          </a:p>
          <a:p>
            <a:pPr/>
            <a:r>
              <a:rPr sz="1700"/>
              <a:t>Thin / small classes (person) suffer most</a:t>
            </a:r>
          </a:p>
          <a:p>
            <a:pPr/>
            <a:r>
              <a:rPr sz="1700"/>
              <a:t>Boundary pixels account for much of the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5160" y="4427220"/>
            <a:ext cx="4827895" cy="4246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400">
                <a:solidFill>
                  <a:schemeClr val="tx1">
                    <a:lumMod val="55000"/>
                    <a:lumOff val="45000"/>
                  </a:schemeClr>
                </a:solidFill>
              </a:rPr>
              <a:t>Sample data for illustration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Benchmark comparison (sample)</a:t>
            </a:r>
          </a:p>
        </p:txBody>
      </p:sp>
      <p:pic>
        <p:nvPicPr>
          <p:cNvPr id="3" name="Plot: mIoU (%)" descr="bar plot: mIoU (%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45920"/>
            <a:ext cx="11094415" cy="384048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522976"/>
            <a:ext cx="11094415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Illustrative values only - replace with numbers from your own experiments or cited papers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Accuracy vs speed (sample)</a:t>
            </a:r>
          </a:p>
        </p:txBody>
      </p:sp>
      <p:pic>
        <p:nvPicPr>
          <p:cNvPr id="3" name="Plot: Cityscapes mIoU (%)" descr="scatter plot: Cityscapes mIoU (%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645920"/>
            <a:ext cx="11094415" cy="384048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522976"/>
            <a:ext cx="11094415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marL="0" indent="0" algn="ctr">
              <a:buNone/>
            </a:pPr>
            <a:r>
              <a:rPr sz="1450" i="1">
                <a:solidFill>
                  <a:schemeClr val="tx1">
                    <a:lumMod val="55000"/>
                    <a:lumOff val="45000"/>
                  </a:schemeClr>
                </a:solidFill>
              </a:rPr>
              <a:t>Sample data - the accuracy / latency trade-off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Summary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Classical vs deep methods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2274570"/>
          <a:ext cx="11094415" cy="26868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71344"/>
                <a:gridCol w="4848223"/>
                <a:gridCol w="3874848"/>
              </a:tblGrid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bg1"/>
                          </a:solidFill>
                        </a:rPr>
                        <a:t>Aspect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bg1"/>
                          </a:solidFill>
                        </a:rPr>
                        <a:t>Classical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 b="1">
                          <a:solidFill>
                            <a:schemeClr val="bg1"/>
                          </a:solidFill>
                        </a:rPr>
                        <a:t>Deep learning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Labelled data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None or little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Large dense annotations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Semantics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Low-level cues only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accent2"/>
                          </a:solidFill>
                        </a:rPr>
                        <a:t>Learned object categories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Compute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CPU friendly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GPU for training and often inference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Interpretability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9999"/>
                        <a:lumOff val="90000"/>
                      </a:schemeClr>
                    </a:solidFill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Best use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Preprocessing, simple scenes, interactive tools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0">
                          <a:solidFill>
                            <a:schemeClr val="tx1"/>
                          </a:solidFill>
                        </a:rPr>
                        <a:t>Complex scenes, production systems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Summary</a:t>
            </a:r>
          </a:p>
        </p:txBody>
      </p:sp>
      <p:sp>
        <p:nvSpPr>
          <p:cNvPr id="3" name="Placeholder: Timeline of segmentation methods" descr="Placeholder - Timeline of segmentation methods"/>
          <p:cNvSpPr/>
          <p:nvPr/>
        </p:nvSpPr>
        <p:spPr>
          <a:xfrm>
            <a:off x="826000" y="1652147"/>
            <a:ext cx="10539694" cy="210793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 w="15875">
            <a:solidFill>
              <a:schemeClr val="tx1">
                <a:lumMod val="45000"/>
                <a:lumOff val="55000"/>
              </a:schemeClr>
            </a:solidFill>
            <a:prstDash val="dash"/>
          </a:ln>
        </p:spPr>
        <p:txBody>
          <a:bodyPr rtlCol="0" anchor="ctr" wrap="square" lIns="137160" rIns="137160" tIns="137160" bIns="137160"/>
          <a:lstStyle/>
          <a:p>
            <a:pPr algn="ctr" marL="0" indent="0">
              <a:buNone/>
            </a:pPr>
            <a:r>
              <a:rPr sz="1760" b="1">
                <a:solidFill>
                  <a:schemeClr val="tx1">
                    <a:lumMod val="55000"/>
                    <a:lumOff val="45000"/>
                  </a:schemeClr>
                </a:solidFill>
              </a:rPr>
              <a:t>Timeline of segmentation methods</a:t>
            </a:r>
          </a:p>
          <a:p>
            <a:pPr algn="ctr"/>
            <a:r>
              <a:rPr sz="1320">
                <a:solidFill>
                  <a:schemeClr val="tx1">
                    <a:lumMod val="55000"/>
                    <a:lumOff val="45000"/>
                  </a:schemeClr>
                </a:solidFill>
              </a:rPr>
              <a:t>Otsu 1979 -&gt; watershed -&gt; normalized cuts -&gt; FCN 2015 -&gt; U-Net -&gt; DeepLab -&gt; Mask2Former -&gt; SAM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88685"/>
            <a:ext cx="11094415" cy="185724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2200"/>
              <a:t>Classical methods group pixels by intensity, regions, clusters or graph energies</a:t>
            </a:r>
          </a:p>
          <a:p>
            <a:pPr/>
            <a:r>
              <a:rPr sz="2200"/>
              <a:t>FCN made segmentation end-to-end; U-Net and DeepLab refined resolution and context</a:t>
            </a:r>
          </a:p>
          <a:p>
            <a:pPr/>
            <a:r>
              <a:rPr sz="2200"/>
              <a:t>Transformers unify semantic, instance and panoptic tasks</a:t>
            </a:r>
          </a:p>
          <a:p>
            <a:pPr/>
            <a:r>
              <a:rPr sz="2200"/>
              <a:t>Foundation models (SAM) segment </a:t>
            </a:r>
            <a:r>
              <a:rPr sz="2200">
                <a:solidFill>
                  <a:schemeClr val="accent2"/>
                </a:solidFill>
              </a:rPr>
              <a:t>anything</a:t>
            </a:r>
            <a:r>
              <a:rPr sz="2200"/>
              <a:t> from prompts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00452"/>
            <a:ext cx="11094415" cy="88188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4400">
                <a:solidFill>
                  <a:schemeClr val="accent1"/>
                </a:solidFill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10940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>
                <a:solidFill>
                  <a:schemeClr val="tx1">
                    <a:lumMod val="55000"/>
                    <a:lumOff val="45000"/>
                  </a:schemeClr>
                </a:solidFill>
              </a:rPr>
              <a:t>Questions?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eamer Oxford (university navy and gold)">
  <a:themeElements>
    <a:clrScheme name="Beamer Oxford (university navy and gold)">
      <a:dk1>
        <a:srgbClr val="1C1C1C"/>
      </a:dk1>
      <a:lt1>
        <a:srgbClr val="FFFFFF"/>
      </a:lt1>
      <a:dk2>
        <a:srgbClr val="002147"/>
      </a:dk2>
      <a:lt2>
        <a:srgbClr val="F0EEE8"/>
      </a:lt2>
      <a:accent1>
        <a:srgbClr val="002147"/>
      </a:accent1>
      <a:accent2>
        <a:srgbClr val="A6192E"/>
      </a:accent2>
      <a:accent3>
        <a:srgbClr val="3D6B4F"/>
      </a:accent3>
      <a:accent4>
        <a:srgbClr val="B8923A"/>
      </a:accent4>
      <a:accent5>
        <a:srgbClr val="4F7CAC"/>
      </a:accent5>
      <a:accent6>
        <a:srgbClr val="8C8C8C"/>
      </a:accent6>
      <a:hlink>
        <a:srgbClr val="002147"/>
      </a:hlink>
      <a:folHlink>
        <a:srgbClr val="5B2C6F"/>
      </a:folHlink>
    </a:clrScheme>
    <a:fontScheme name="Beamer Oxford (university navy and gold)">
      <a:majorFont>
        <a:latin typeface="Constant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Segmentation Methods</dc:title>
  <dc:subject/>
  <dc:creator>Your Name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