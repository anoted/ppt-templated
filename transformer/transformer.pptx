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Your Name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The Transformer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Your Name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The Transformer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Your Name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The Transformer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70000"/>
        <a:buFont typeface="Arial" panose="020B0604020202020204"/>
        <a:buChar char="►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The Transformer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Attention is all you need - architecture, mathematics and training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Your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Deep Learning Seminar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October 22,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/>
              <a:t>Motivation</a:t>
            </a:r>
          </a:p>
          <a:p>
            <a:pPr>
              <a:buAutoNum type="arabicPeriod"/>
            </a:pPr>
            <a:r>
              <a:rPr/>
              <a:t>Architecture</a:t>
            </a:r>
          </a:p>
          <a:p>
            <a:pPr>
              <a:buAutoNum type="arabicPeriod"/>
            </a:pPr>
            <a:r>
              <a:rPr/>
              <a:t>Attention</a:t>
            </a:r>
          </a:p>
          <a:p>
            <a:pPr>
              <a:buAutoNum type="arabicPeriod"/>
            </a:pPr>
            <a:r>
              <a:rPr/>
              <a:t>Positional encoding</a:t>
            </a:r>
          </a:p>
          <a:p>
            <a:pPr>
              <a:buAutoNum type="arabicPeriod"/>
            </a:pPr>
            <a:r>
              <a:rPr/>
              <a:t>The layer</a:t>
            </a:r>
          </a:p>
          <a:p>
            <a:pPr>
              <a:buAutoNum type="arabicPeriod"/>
            </a:pPr>
            <a:r>
              <a:rPr/>
              <a:t>Training</a:t>
            </a:r>
          </a:p>
          <a:p>
            <a:pPr>
              <a:buAutoNum type="arabicPeriod"/>
            </a:pPr>
            <a:r>
              <a:rPr/>
              <a:t>Complexity and variants</a:t>
            </a:r>
          </a:p>
          <a:p>
            <a:pPr>
              <a:buAutoNum type="arabicPeriod"/>
            </a:pPr>
            <a:r>
              <a:rPr/>
              <a:t>Summary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Motivation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Why move beyond recurrence?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2027936"/>
                <a:ext cx="5364327" cy="34422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/>
                  <a:t>RNNs compute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=</m:t>
                    </m:r>
                    <m:r>
                      <a:rPr lang="en-US" sz="2200" i="1">
                        <a:latin typeface="Cambria Math"/>
                      </a:rPr>
                      <m:t>f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200" i="0">
                            <a:latin typeface="Cambria Math"/>
                          </a:rPr>
                          <m:t>−</m:t>
                        </m:r>
                        <m:r>
                          <a:rPr lang="en-US" sz="2200" i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)</m:t>
                    </m:r>
                  </m:oMath>
                </a14:m>
                <a:r>
                  <a:rPr sz="2200"/>
                  <a:t> one step at a time</a:t>
                </a:r>
              </a:p>
              <a:p>
                <a:pPr lvl="1"/>
                <a:r>
                  <a:rPr sz="2000"/>
                  <a:t>No parallelism across the sequence</a:t>
                </a:r>
              </a:p>
              <a:p>
                <a:pPr lvl="1"/>
                <a:r>
                  <a:rPr sz="2000"/>
                  <a:t>Signal between distant tokens passes through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000" i="0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2000" i="0">
                        <a:latin typeface="Cambria Math"/>
                      </a:rPr>
                      <m:t>)</m:t>
                    </m:r>
                  </m:oMath>
                </a14:m>
                <a:r>
                  <a:rPr sz="2000"/>
                  <a:t> steps</a:t>
                </a:r>
              </a:p>
              <a:p>
                <a:pPr/>
                <a:r>
                  <a:rPr sz="2200"/>
                  <a:t>Vanishing / exploding gradients over long spans</a:t>
                </a:r>
              </a:p>
              <a:p>
                <a:pPr/>
                <a:r>
                  <a:rPr sz="2200" b="1"/>
                  <a:t>Attention</a:t>
                </a:r>
                <a:r>
                  <a:rPr sz="2200"/>
                  <a:t> connects every pair of positions in </a:t>
                </a:r>
                <a:r>
                  <a:rPr sz="2200">
                    <a:solidFill>
                      <a:schemeClr val="accent2"/>
                    </a:solidFill>
                  </a:rPr>
                  <a:t>one step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2027936"/>
                <a:ext cx="5364327" cy="34422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/>
                  <a:t>RNNs compute </a:t>
                </a:r>
                <a:r>
                  <a:rPr sz="2200" i="1"/>
                  <a:t>h_t = f(h_(t-1), x_t)</a:t>
                </a:r>
                <a:r>
                  <a:rPr sz="2200"/>
                  <a:t> one step at a time</a:t>
                </a:r>
              </a:p>
              <a:p>
                <a:pPr lvl="1"/>
                <a:r>
                  <a:rPr sz="2000"/>
                  <a:t>No parallelism across the sequence</a:t>
                </a:r>
              </a:p>
              <a:p>
                <a:pPr lvl="1"/>
                <a:r>
                  <a:rPr sz="2000"/>
                  <a:t>Signal between distant tokens passes through </a:t>
                </a:r>
                <a:r>
                  <a:rPr sz="2000" i="1"/>
                  <a:t>O(n)</a:t>
                </a:r>
                <a:r>
                  <a:rPr sz="2000"/>
                  <a:t> steps</a:t>
                </a:r>
              </a:p>
              <a:p>
                <a:pPr/>
                <a:r>
                  <a:rPr sz="2200"/>
                  <a:t>Vanishing / exploding gradients over long spans</a:t>
                </a:r>
              </a:p>
              <a:p>
                <a:pPr/>
                <a:r>
                  <a:rPr sz="2200" b="1"/>
                  <a:t>Attention</a:t>
                </a:r>
                <a:r>
                  <a:rPr sz="2200"/>
                  <a:t> connects every pair of positions in </a:t>
                </a:r>
                <a:r>
                  <a:rPr sz="2200">
                    <a:solidFill>
                      <a:schemeClr val="accent2"/>
                    </a:solidFill>
                  </a:rPr>
                  <a:t>one step</a:t>
                </a:r>
              </a:p>
            </p:txBody>
          </p:sp>
        </mc:Fallback>
      </mc:AlternateContent>
      <p:sp>
        <p:nvSpPr>
          <p:cNvPr id="4" name="Placeholder: RNN vs attention" descr="Placeholder - RNN vs attention"/>
          <p:cNvSpPr/>
          <p:nvPr/>
        </p:nvSpPr>
        <p:spPr>
          <a:xfrm>
            <a:off x="6278727" y="2529875"/>
            <a:ext cx="5364327" cy="2438331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RNN vs attention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left: RNN chain, one step per token; right: every token linked to every other in one step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core idea</a:t>
            </a:r>
          </a:p>
        </p:txBody>
      </p:sp>
      <p:grpSp>
        <p:nvGrpSpPr>
          <p:cNvPr id="5" name="Block: Self-attention in one sentence"/>
          <p:cNvGrpSpPr/>
          <p:nvPr/>
        </p:nvGrpSpPr>
        <p:grpSpPr>
          <a:xfrm>
            <a:off x="548640" y="2063223"/>
            <a:ext cx="11094415" cy="1407706"/>
            <a:chOff x="548640" y="2063223"/>
            <a:chExt cx="11094415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063223"/>
              <a:ext cx="11094415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Each token builds its new representation as a </a:t>
              </a:r>
              <a:r>
                <a:rPr sz="1980" b="1">
                  <a:solidFill>
                    <a:schemeClr val="tx1"/>
                  </a:solidFill>
                </a:rPr>
                <a:t>weighted average</a:t>
              </a:r>
              <a:r>
                <a:rPr sz="1980">
                  <a:solidFill>
                    <a:schemeClr val="tx1"/>
                  </a:solidFill>
                </a:rPr>
                <a:t> of all tokens, where the weights come from how well its </a:t>
              </a:r>
              <a:r>
                <a:rPr sz="1980" i="1">
                  <a:solidFill>
                    <a:schemeClr val="tx1"/>
                  </a:solidFill>
                </a:rPr>
                <a:t>query</a:t>
              </a:r>
              <a:r>
                <a:rPr sz="1980">
                  <a:solidFill>
                    <a:schemeClr val="tx1"/>
                  </a:solidFill>
                </a:rPr>
                <a:t> matches their </a:t>
              </a:r>
              <a:r>
                <a:rPr sz="1980" i="1">
                  <a:solidFill>
                    <a:schemeClr val="tx1"/>
                  </a:solidFill>
                </a:rPr>
                <a:t>keys</a:t>
              </a:r>
              <a:r>
                <a:rPr sz="198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2063223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Self-attention in one sentence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3699529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a:rPr lang="en-US" sz="2310" i="0"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a:rPr lang="en-US" sz="2310" i="1"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exp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sSub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310" i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exp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sSub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548640" y="3699529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yᵢ = ∑ⱼ₌₁ⁿ αᵢⱼ vⱼ, αᵢⱼ = (exp(qᵢ^top kⱼ))/(∑_(l=1)ⁿ exp(qᵢ^top k_l))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4888249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The weights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α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i</m:t>
                        </m:r>
                        <m:r>
                          <a:rPr lang="en-US" sz="22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≥</m:t>
                    </m:r>
                    <m:r>
                      <a:rPr lang="en-US" sz="22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a:rPr lang="en-US" sz="22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j</m:t>
                        </m:r>
                      </m:sub>
                      <m:sup>
                        <m:r>
                          <a:rPr lang="en-US" sz="22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US" sz="22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i</m:t>
                            </m:r>
                            <m:r>
                              <a:rPr lang="en-US" sz="22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j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US" sz="22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2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for every query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4888249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The weights </a:t>
                </a:r>
                <a:r>
                  <a:rPr sz="22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αᵢⱼ ≥ 0</a:t>
                </a:r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and </a:t>
                </a:r>
                <a:r>
                  <a:rPr sz="22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∑ⱼ αᵢⱼ = 1</a:t>
                </a:r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for every query </a:t>
                </a:r>
                <a:r>
                  <a:rPr sz="22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i</a:t>
                </a:r>
                <a:r>
                  <a:rPr sz="22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Encoder-decoder stack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big picture</a:t>
            </a:r>
          </a:p>
        </p:txBody>
      </p:sp>
      <p:sp>
        <p:nvSpPr>
          <p:cNvPr id="3" name="Placeholder: Encoder-decoder architecture" descr="Placeholder - Encoder-decoder architecture"/>
          <p:cNvSpPr/>
          <p:nvPr/>
        </p:nvSpPr>
        <p:spPr>
          <a:xfrm>
            <a:off x="753402" y="1188720"/>
            <a:ext cx="4096512" cy="512064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Encoder-decoder architecture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N x encoder stack (left) feeding N x decoder stack (right), linear + softmax head on top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20435" y="1941576"/>
                <a:ext cx="6222620" cy="361492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 b="1"/>
                  <a:t>Encoder</a:t>
                </a:r>
                <a:r>
                  <a:rPr sz="2200"/>
                  <a:t>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=</m:t>
                    </m:r>
                    <m:r>
                      <a:rPr lang="en-US" sz="2200" i="0">
                        <a:latin typeface="Cambria Math"/>
                      </a:rPr>
                      <m:t>6</m:t>
                    </m:r>
                  </m:oMath>
                </a14:m>
                <a:r>
                  <a:rPr sz="2200"/>
                  <a:t> identical layers</a:t>
                </a:r>
              </a:p>
              <a:p>
                <a:pPr lvl="1"/>
                <a:r>
                  <a:rPr sz="2000"/>
                  <a:t>Self-attention + feed-forward</a:t>
                </a:r>
              </a:p>
              <a:p>
                <a:pPr/>
                <a:r>
                  <a:rPr sz="2200" b="1"/>
                  <a:t>Decoder</a:t>
                </a:r>
                <a:r>
                  <a:rPr sz="2200"/>
                  <a:t>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=</m:t>
                    </m:r>
                    <m:r>
                      <a:rPr lang="en-US" sz="2200" i="0">
                        <a:latin typeface="Cambria Math"/>
                      </a:rPr>
                      <m:t>6</m:t>
                    </m:r>
                  </m:oMath>
                </a14:m>
                <a:r>
                  <a:rPr sz="2200"/>
                  <a:t> identical layers</a:t>
                </a:r>
              </a:p>
              <a:p>
                <a:pPr lvl="1"/>
                <a:r>
                  <a:rPr sz="2000"/>
                  <a:t>Masked self-attention</a:t>
                </a:r>
              </a:p>
              <a:p>
                <a:pPr lvl="1"/>
                <a:r>
                  <a:rPr sz="2000"/>
                  <a:t>Cross-attention over encoder output</a:t>
                </a:r>
              </a:p>
              <a:p>
                <a:pPr lvl="1"/>
                <a:r>
                  <a:rPr sz="2000"/>
                  <a:t>Feed-forward</a:t>
                </a:r>
              </a:p>
              <a:p>
                <a:pPr/>
                <a:r>
                  <a:rPr sz="2200"/>
                  <a:t>Model width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2200" i="0">
                            <a:latin typeface="Cambria Math"/>
                          </a:rPr>
                          <m:t>model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=</m:t>
                    </m:r>
                    <m:r>
                      <a:rPr lang="en-US" sz="2200" i="0">
                        <a:latin typeface="Cambria Math"/>
                      </a:rPr>
                      <m:t>512</m:t>
                    </m:r>
                  </m:oMath>
                </a14:m>
                <a:r>
                  <a:rPr sz="2200"/>
                  <a:t> throughout</a:t>
                </a:r>
              </a:p>
              <a:p>
                <a:pPr/>
                <a:r>
                  <a:rPr sz="2200"/>
                  <a:t>Linear + softmax head produces next-token probabilities</a:t>
                </a:r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20435" y="1941576"/>
                <a:ext cx="6222620" cy="361492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 b="1"/>
                  <a:t>Encoder</a:t>
                </a:r>
                <a:r>
                  <a:rPr sz="2200"/>
                  <a:t>: </a:t>
                </a:r>
                <a:r>
                  <a:rPr sz="2200" i="1"/>
                  <a:t>N = 6</a:t>
                </a:r>
                <a:r>
                  <a:rPr sz="2200"/>
                  <a:t> identical layers</a:t>
                </a:r>
              </a:p>
              <a:p>
                <a:pPr lvl="1"/>
                <a:r>
                  <a:rPr sz="2000"/>
                  <a:t>Self-attention + feed-forward</a:t>
                </a:r>
              </a:p>
              <a:p>
                <a:pPr/>
                <a:r>
                  <a:rPr sz="2200" b="1"/>
                  <a:t>Decoder</a:t>
                </a:r>
                <a:r>
                  <a:rPr sz="2200"/>
                  <a:t>: </a:t>
                </a:r>
                <a:r>
                  <a:rPr sz="2200" i="1"/>
                  <a:t>N = 6</a:t>
                </a:r>
                <a:r>
                  <a:rPr sz="2200"/>
                  <a:t> identical layers</a:t>
                </a:r>
              </a:p>
              <a:p>
                <a:pPr lvl="1"/>
                <a:r>
                  <a:rPr sz="2000"/>
                  <a:t>Masked self-attention</a:t>
                </a:r>
              </a:p>
              <a:p>
                <a:pPr lvl="1"/>
                <a:r>
                  <a:rPr sz="2000"/>
                  <a:t>Cross-attention over encoder output</a:t>
                </a:r>
              </a:p>
              <a:p>
                <a:pPr lvl="1"/>
                <a:r>
                  <a:rPr sz="2000"/>
                  <a:t>Feed-forward</a:t>
                </a:r>
              </a:p>
              <a:p>
                <a:pPr/>
                <a:r>
                  <a:rPr sz="2200"/>
                  <a:t>Model width </a:t>
                </a:r>
                <a:r>
                  <a:rPr sz="2200" i="1"/>
                  <a:t>d_(model) = 512</a:t>
                </a:r>
                <a:r>
                  <a:rPr sz="2200"/>
                  <a:t> throughout</a:t>
                </a:r>
              </a:p>
              <a:p>
                <a:pPr/>
                <a:r>
                  <a:rPr sz="2200"/>
                  <a:t>Linear + softmax head produces next-token probabilities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Input representation</a:t>
            </a:r>
          </a:p>
        </p:txBody>
      </p:sp>
      <p:sp>
        <p:nvSpPr>
          <p:cNvPr id="3" name="Placeholder: Token embedding + positional encoding" descr="Placeholder - Token embedding + positional encoding"/>
          <p:cNvSpPr/>
          <p:nvPr/>
        </p:nvSpPr>
        <p:spPr>
          <a:xfrm>
            <a:off x="2198065" y="1188720"/>
            <a:ext cx="7795565" cy="324815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Token embedding + positional encoding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token ids -&gt; embedding rows, scaled by sqrt(d_model), plus P, gives 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4665472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310" i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;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310" i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;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…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;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n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</m:e>
                      </m:d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model</m:t>
                              </m:r>
                            </m:sub>
                          </m:sSub>
                        </m:e>
                      </m:rad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r>
                        <a:rPr lang="en-US" sz="2310" i="1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model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4665472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X = [ E_(x₁); E_(x₂); …; E_(xₙ) ] √(d_(model)) + P, X ∈ ℝ^(n × d_(model))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5854192"/>
                <a:ext cx="11094415" cy="4551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×</m:t>
                        </m:r>
                        <m:sSub>
                          <m:e>
                            <m:r>
                              <a:rPr lang="en-US" sz="16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a:rPr lang="en-US" sz="1600" i="0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model</m:t>
                            </m:r>
                          </m:sub>
                        </m:sSub>
                      </m:sup>
                    </m:sSup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is the embedding table (shared with the output projection);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P</m:t>
                    </m:r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holds positional encodings.</a:t>
                </a:r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5854192"/>
                <a:ext cx="11094415" cy="4551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E ∈ ℝ^(|V| × d_(model))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is the embedding table (shared with the output projection);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P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holds positional encodings.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Attention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Queries, keys and values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Queries, keys and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36427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Three learned linear projections of the same input: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31163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r>
                        <a:rPr lang="en-US" sz="2310" i="1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31163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Q = X W^Q, K = X W^K, V = X W^V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318031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R</m:t>
                          </m:r>
                        </m:e>
                        <m: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model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R</m:t>
                          </m:r>
                        </m:e>
                        <m: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model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v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318031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W^Q, W^K ∈ ℝ^(d_(model) × dₖ), W^V ∈ ℝ^(d_(model) × d_v)</a:t>
                </a:r>
              </a:p>
            </p:txBody>
          </p:sp>
        </mc:Fallback>
      </mc:AlternateContent>
      <p:grpSp>
        <p:nvGrpSpPr>
          <p:cNvPr id="8" name="Exampleblock: Intuition"/>
          <p:cNvGrpSpPr/>
          <p:nvPr/>
        </p:nvGrpSpPr>
        <p:grpSpPr>
          <a:xfrm>
            <a:off x="548640" y="4048995"/>
            <a:ext cx="11094415" cy="1912658"/>
            <a:chOff x="548640" y="4048995"/>
            <a:chExt cx="11094415" cy="1912658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4048995"/>
              <a:ext cx="11094415" cy="1912658"/>
            </a:xfrm>
            <a:prstGeom prst="roundRect">
              <a:avLst>
                <a:gd name="adj" fmla="val 4302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980" b="1"/>
                <a:t>Query</a:t>
              </a:r>
              <a:r>
                <a:rPr sz="1980"/>
                <a:t> - what am I looking for?</a:t>
              </a:r>
            </a:p>
            <a:p>
              <a:pPr algn="l"/>
              <a:r>
                <a:rPr sz="1980" b="1"/>
                <a:t>Key</a:t>
              </a:r>
              <a:r>
                <a:rPr sz="1980"/>
                <a:t> - what do I contain?</a:t>
              </a:r>
            </a:p>
            <a:p>
              <a:pPr algn="l"/>
              <a:r>
                <a:rPr sz="1980" b="1"/>
                <a:t>Value</a:t>
              </a:r>
              <a:r>
                <a:rPr sz="1980"/>
                <a:t> - what do I pass on if selected?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548640" y="4048995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Intuition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Scaled dot-product attention</a:t>
            </a:r>
          </a:p>
        </p:txBody>
      </p:sp>
      <p:sp>
        <p:nvSpPr>
          <p:cNvPr id="3" name="Placeholder: Scaled dot-product attention" descr="Placeholder - Scaled dot-product attention"/>
          <p:cNvSpPr/>
          <p:nvPr/>
        </p:nvSpPr>
        <p:spPr>
          <a:xfrm>
            <a:off x="645198" y="1710596"/>
            <a:ext cx="3669200" cy="407688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Scaled dot-product attention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MatMul(Q, K) -&gt; scale -&gt; optional mask -&gt; softmax -&gt; MatMul with 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776716" y="2535936"/>
                <a:ext cx="6866339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Attention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softmax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310" i="0">
                                      <a:latin typeface="Cambria Math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310" i="1">
                          <a:latin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4776716" y="2535936"/>
                <a:ext cx="6866339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Attention(Q, K, V) = softmax((Q K^top)/(√(dₖ))) V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776716" y="3724656"/>
                <a:ext cx="6866339" cy="12374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Q</m:t>
                    </m:r>
                    <m:sSup>
                      <m:e>
                        <m:r>
                          <a:rPr lang="en-US" sz="1800" i="1">
                            <a:latin typeface="Cambria Math"/>
                          </a:rP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800" i="0">
                            <a:latin typeface="Cambria Math"/>
                          </a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a:rPr lang="en-US" sz="1800" i="0">
                        <a:latin typeface="Cambria Math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US" sz="1800" i="0">
                            <a:latin typeface="Cambria Math"/>
                          </a:rPr>
                          <m:t>R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800" i="0">
                            <a:latin typeface="Cambria Math"/>
                          </a:rPr>
                          <m:t>×</m:t>
                        </m:r>
                        <m:r>
                          <a:rPr lang="en-US" sz="1800" i="1">
                            <a:latin typeface="Cambria Math"/>
                          </a:rPr>
                          <m:t>n</m:t>
                        </m:r>
                      </m:sup>
                    </m:sSup>
                  </m:oMath>
                </a14:m>
                <a:r>
                  <a:rPr sz="1800"/>
                  <a:t>: all pairwise similarity scores</a:t>
                </a:r>
              </a:p>
              <a:p>
                <a:pPr/>
                <a:r>
                  <a:rPr sz="1800"/>
                  <a:t>Softmax is taken row-wise, over keys</a:t>
                </a:r>
              </a:p>
              <a:p>
                <a:pPr/>
                <a:r>
                  <a:rPr sz="1800"/>
                  <a:t>Output is one weighted sum of values per query</a:t>
                </a:r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4776716" y="3724656"/>
                <a:ext cx="6866339" cy="12374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800" i="1"/>
                  <a:t>Q K^top ∈ ℝ^(n × n)</a:t>
                </a:r>
                <a:r>
                  <a:rPr sz="1800"/>
                  <a:t>: all pairwise similarity scores</a:t>
                </a:r>
              </a:p>
              <a:p>
                <a:pPr/>
                <a:r>
                  <a:rPr sz="1800"/>
                  <a:t>Softmax is taken row-wise, over keys</a:t>
                </a:r>
              </a:p>
              <a:p>
                <a:pPr/>
                <a:r>
                  <a:rPr sz="1800"/>
                  <a:t>Output is one weighted sum of values per query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Why scale by 1/sqrt(d_k)?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468863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Assume the components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q</m:t>
                    </m:r>
                  </m:oMath>
                </a14:m>
                <a:r>
                  <a:rPr sz="2200"/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k</m:t>
                    </m:r>
                  </m:oMath>
                </a14:m>
                <a:r>
                  <a:rPr sz="2200"/>
                  <a:t> are independent with mean 0 and variance 1: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468863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Assume the components of </a:t>
                </a:r>
                <a:r>
                  <a:rPr sz="2200" i="1"/>
                  <a:t>q</a:t>
                </a:r>
                <a:r>
                  <a:rPr sz="2200"/>
                  <a:t> and </a:t>
                </a:r>
                <a:r>
                  <a:rPr sz="2200" i="1"/>
                  <a:t>k</a:t>
                </a:r>
                <a:r>
                  <a:rPr sz="2200"/>
                  <a:t> are independent with mean 0 and variance 1: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244071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sup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a:rPr lang="en-US" sz="2310" i="0"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⇒</m:t>
                      </m:r>
                      <m:r>
                        <a:rPr lang="en-US" sz="2310" i="0">
                          <a:latin typeface="Cambria Math"/>
                        </a:rPr>
                        <m:t> 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310" i="0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[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0"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Var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244071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q^top k = ∑ᵢ₌₁^(dₖ) qᵢ kᵢ ⇒ 𝔼[q^top k] = 0, Var(q^top k) = dₖ</a:t>
                </a:r>
              </a:p>
            </p:txBody>
          </p:sp>
        </mc:Fallback>
      </mc:AlternateContent>
      <p:grpSp>
        <p:nvGrpSpPr>
          <p:cNvPr id="7" name="Alertblock: Problem"/>
          <p:cNvGrpSpPr/>
          <p:nvPr/>
        </p:nvGrpSpPr>
        <p:grpSpPr>
          <a:xfrm>
            <a:off x="548640" y="3432791"/>
            <a:ext cx="11094415" cy="1407706"/>
            <a:chOff x="548640" y="3432791"/>
            <a:chExt cx="11094415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ounded Rectangle 4"/>
                <p:cNvSpPr/>
                <p:nvPr/>
              </p:nvSpPr>
              <p:spPr>
                <a:xfrm>
                  <a:off x="548640" y="3432791"/>
                  <a:ext cx="11094415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2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For large </a:t>
                  </a:r>
                  <a14:m>
                    <m:oMath xmlns:m="http://schemas.openxmlformats.org/officeDocument/2006/math">
                      <m:sSub>
                        <m:e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 the logits grow like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r>
                                <a:rPr lang="en-US" sz="198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98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, softmax saturates to a near one-hot vector, and its gradients vanish.</a:t>
                  </a:r>
                </a:p>
              </p:txBody>
            </p:sp>
          </mc:Choice>
          <mc:Fallback>
            <p:sp>
              <p:nvSpPr>
                <p:cNvPr id="5" name="Rounded Rectangle 4"/>
                <p:cNvSpPr/>
                <p:nvPr/>
              </p:nvSpPr>
              <p:spPr>
                <a:xfrm>
                  <a:off x="548640" y="3432791"/>
                  <a:ext cx="11094415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2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For large </a:t>
                  </a:r>
                  <a:r>
                    <a:rPr sz="1980" i="1">
                      <a:solidFill>
                        <a:schemeClr val="tx1"/>
                      </a:solidFill>
                    </a:rPr>
                    <a:t>dₖ</a:t>
                  </a:r>
                  <a:r>
                    <a:rPr sz="1980">
                      <a:solidFill>
                        <a:schemeClr val="tx1"/>
                      </a:solidFill>
                    </a:rPr>
                    <a:t> the logits grow like </a:t>
                  </a:r>
                  <a:r>
                    <a:rPr sz="1980" i="1">
                      <a:solidFill>
                        <a:schemeClr val="tx1"/>
                      </a:solidFill>
                    </a:rPr>
                    <a:t>√(dₖ)</a:t>
                  </a:r>
                  <a:r>
                    <a:rPr sz="1980">
                      <a:solidFill>
                        <a:schemeClr val="tx1"/>
                      </a:solidFill>
                    </a:rPr>
                    <a:t>, softmax saturates to a near one-hot vector, and its gradients vanish.</a:t>
                  </a:r>
                </a:p>
              </p:txBody>
            </p:sp>
          </mc:Fallback>
        </mc:AlternateContent>
        <p:sp>
          <p:nvSpPr>
            <p:cNvPr id="6" name="Round Same Side Corner Rectangle 5"/>
            <p:cNvSpPr/>
            <p:nvPr/>
          </p:nvSpPr>
          <p:spPr>
            <a:xfrm>
              <a:off x="548640" y="3432791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Problem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5069097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Var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310" i="0">
                                      <a:latin typeface="Cambria Math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0">
                          <a:latin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5069097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Var((q^top k)/(√(dₖ))) = 1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softmax and its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228701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softmax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z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en-US" sz="2310" i="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228701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softmax(z)ᵢ = (e^(zᵢ))/(∑ⱼ e^(zⱼ))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347573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∂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softmax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z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347573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(∂ softmax(z)ᵢ)/(∂ zⱼ) = sᵢ (δᵢⱼ − sⱼ)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4664456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2200"/>
                  <a:t>When one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→</m:t>
                    </m:r>
                    <m:r>
                      <a:rPr lang="en-US" sz="2200" i="0">
                        <a:latin typeface="Cambria Math"/>
                      </a:rPr>
                      <m:t>1</m:t>
                    </m:r>
                  </m:oMath>
                </a14:m>
                <a:r>
                  <a:rPr sz="2200"/>
                  <a:t>, every entry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δ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i</m:t>
                        </m:r>
                        <m:r>
                          <a:rPr lang="en-US" sz="2200" i="1">
                            <a:latin typeface="Cambria Math"/>
                          </a:rP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→</m:t>
                    </m:r>
                    <m:r>
                      <a:rPr lang="en-US" sz="2200" i="0">
                        <a:latin typeface="Cambria Math"/>
                      </a:rPr>
                      <m:t>0</m:t>
                    </m:r>
                  </m:oMath>
                </a14:m>
                <a:r>
                  <a:rPr sz="2200"/>
                  <a:t>: the </a:t>
                </a:r>
                <a:r>
                  <a:rPr sz="2200">
                    <a:solidFill>
                      <a:schemeClr val="accent2"/>
                    </a:solidFill>
                  </a:rPr>
                  <a:t>saturation</a:t>
                </a:r>
                <a:r>
                  <a:rPr sz="2200"/>
                  <a:t> that scaling avoids.</a:t>
                </a:r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4664456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2200"/>
                  <a:t>When one </a:t>
                </a:r>
                <a:r>
                  <a:rPr sz="2200" i="1"/>
                  <a:t>sᵢ → 1</a:t>
                </a:r>
                <a:r>
                  <a:rPr sz="2200"/>
                  <a:t>, every entry </a:t>
                </a:r>
                <a:r>
                  <a:rPr sz="2200" i="1"/>
                  <a:t>sᵢ(δᵢⱼ − sⱼ) → 0</a:t>
                </a:r>
                <a:r>
                  <a:rPr sz="2200"/>
                  <a:t>: the </a:t>
                </a:r>
                <a:r>
                  <a:rPr sz="2200">
                    <a:solidFill>
                      <a:schemeClr val="accent2"/>
                    </a:solidFill>
                  </a:rPr>
                  <a:t>saturation</a:t>
                </a:r>
                <a:r>
                  <a:rPr sz="2200"/>
                  <a:t> that scaling avoids.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Multi-head attention</a:t>
            </a:r>
          </a:p>
        </p:txBody>
      </p:sp>
      <p:sp>
        <p:nvSpPr>
          <p:cNvPr id="3" name="Placeholder: Multi-head attention" descr="Placeholder - Multi-head attention"/>
          <p:cNvSpPr/>
          <p:nvPr/>
        </p:nvSpPr>
        <p:spPr>
          <a:xfrm>
            <a:off x="4341165" y="1188720"/>
            <a:ext cx="3509366" cy="269951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Multi-head attention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h parallel heads, each with its own linear projections of Q, K and V -&gt; concat -&gt; linear W^O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4116832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head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Attention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  <m:sSub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 </m:t>
                          </m:r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  <m:sSub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 </m:t>
                          </m:r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  <m:sSub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V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4116832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headᵢ = Attention(Q Wᵢ^Q, K Wᵢ^K, V Wᵢ^V)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4985512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MultiHead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Concat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head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head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O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4985512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MultiHead(Q, K, V) = Concat(head₁, …, head_h) W^O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5854192"/>
                <a:ext cx="11094415" cy="4551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Base model: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8</m:t>
                    </m:r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heads,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model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/</m:t>
                    </m:r>
                    <m:r>
                      <a:rPr lang="en-US" sz="16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64</m:t>
                    </m:r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W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O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R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h</m:t>
                        </m:r>
                        <m:sSub>
                          <m:e>
                            <m:r>
                              <a:rPr lang="en-US" sz="16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v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×</m:t>
                        </m:r>
                        <m:sSub>
                          <m:e>
                            <m:r>
                              <a:rPr lang="en-US" sz="1600" i="1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a:rPr lang="en-US" sz="1600" i="0">
                                <a:solidFill>
                                  <a:schemeClr val="tx1">
                                    <a:lumMod val="55000"/>
                                    <a:lumOff val="45000"/>
                                  </a:schemeClr>
                                </a:solidFill>
                                <a:latin typeface="Cambria Math"/>
                              </a:rPr>
                              <m:t>model</m:t>
                            </m:r>
                          </m:sub>
                        </m:sSub>
                      </m:sup>
                    </m:sSup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548640" y="5854192"/>
                <a:ext cx="11094415" cy="4551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Base model: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h = 8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heads,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dₖ = d_v = d_(model)/h = 64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,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W^O ∈ ℝ^(h d_v × d_(model))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What do heads learn?</a:t>
            </a:r>
          </a:p>
        </p:txBody>
      </p:sp>
      <p:sp>
        <p:nvSpPr>
          <p:cNvPr id="3" name="Placeholder: Attention weight heatmap" descr="Placeholder - Attention weight heatmap"/>
          <p:cNvSpPr/>
          <p:nvPr/>
        </p:nvSpPr>
        <p:spPr>
          <a:xfrm>
            <a:off x="816856" y="1554542"/>
            <a:ext cx="4827895" cy="4388995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Attention weight heatmap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query tokens (rows) x key tokens (columns), darker = higher weight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278727" y="2546096"/>
                <a:ext cx="5364327" cy="24058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/>
                  <a:t>Different heads specialise</a:t>
                </a:r>
              </a:p>
              <a:p>
                <a:pPr lvl="1"/>
                <a:r>
                  <a:rPr sz="2000"/>
                  <a:t>Positional (previous / next token)</a:t>
                </a:r>
              </a:p>
              <a:p>
                <a:pPr lvl="1"/>
                <a:r>
                  <a:rPr sz="2000"/>
                  <a:t>Syntactic (subject - verb)</a:t>
                </a:r>
              </a:p>
              <a:p>
                <a:pPr lvl="1"/>
                <a:r>
                  <a:rPr sz="2000"/>
                  <a:t>Coreference (pronoun - antecedent)</a:t>
                </a:r>
              </a:p>
              <a:p>
                <a:pPr/>
                <a:r>
                  <a:rPr sz="2200"/>
                  <a:t>Total cost equals one full-width head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h</m:t>
                    </m:r>
                  </m:oMath>
                </a14:m>
                <a:r>
                  <a:rPr sz="2000"/>
                  <a:t> heads of width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000" i="1"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2000" i="0">
                            <a:latin typeface="Cambria Math"/>
                          </a:rPr>
                          <m:t>model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i="0">
                        <a:latin typeface="Cambria Math"/>
                      </a:rPr>
                      <m:t>/</m:t>
                    </m:r>
                    <m:r>
                      <a:rPr lang="en-US" sz="2000" i="1">
                        <a:latin typeface="Cambria Math"/>
                      </a:rPr>
                      <m:t>h</m:t>
                    </m:r>
                  </m:oMath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6278727" y="2546096"/>
                <a:ext cx="5364327" cy="24058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/>
                  <a:t>Different heads specialise</a:t>
                </a:r>
              </a:p>
              <a:p>
                <a:pPr lvl="1"/>
                <a:r>
                  <a:rPr sz="2000"/>
                  <a:t>Positional (previous / next token)</a:t>
                </a:r>
              </a:p>
              <a:p>
                <a:pPr lvl="1"/>
                <a:r>
                  <a:rPr sz="2000"/>
                  <a:t>Syntactic (subject - verb)</a:t>
                </a:r>
              </a:p>
              <a:p>
                <a:pPr lvl="1"/>
                <a:r>
                  <a:rPr sz="2000"/>
                  <a:t>Coreference (pronoun - antecedent)</a:t>
                </a:r>
              </a:p>
              <a:p>
                <a:pPr/>
                <a:r>
                  <a:rPr sz="2200"/>
                  <a:t>Total cost equals one full-width head</a:t>
                </a:r>
              </a:p>
              <a:p>
                <a:pPr lvl="1"/>
                <a:r>
                  <a:rPr sz="2000" i="1"/>
                  <a:t>h</a:t>
                </a:r>
                <a:r>
                  <a:rPr sz="2000"/>
                  <a:t> heads of width </a:t>
                </a:r>
                <a:r>
                  <a:rPr sz="2000" i="1"/>
                  <a:t>d_(model)/h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Masked (causal) self-attention</a:t>
            </a:r>
          </a:p>
        </p:txBody>
      </p:sp>
      <p:sp>
        <p:nvSpPr>
          <p:cNvPr id="3" name="Placeholder: Causal mask" descr="Placeholder - Causal mask"/>
          <p:cNvSpPr/>
          <p:nvPr/>
        </p:nvSpPr>
        <p:spPr>
          <a:xfrm>
            <a:off x="752484" y="1914440"/>
            <a:ext cx="3669200" cy="36692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Causal mask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lower-triangular n x n matrix: 0 on and below the diagonal, -inf above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1289" y="1945132"/>
            <a:ext cx="6651766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The decoder must not look at future tokens: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991289" y="2720340"/>
                <a:ext cx="6651766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a:rPr lang="en-US" sz="2310" i="1"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en-US" sz="2310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10" i="1">
                                    <a:latin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≤</m:t>
                                </m:r>
                                <m:r>
                                  <a:rPr lang="en-US" sz="2310" i="1">
                                    <a:latin typeface="Cambria Math"/>
                                  </a:rPr>
                                  <m:t>i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sz="2310" i="1">
                                    <a:latin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&gt;</m:t>
                                </m:r>
                                <m:r>
                                  <a:rPr lang="en-US" sz="2310" i="1">
                                    <a:latin typeface="Cambria Math"/>
                                  </a:rPr>
                                  <m:t>i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4991289" y="2720340"/>
                <a:ext cx="6651766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Mᵢⱼ = begincases 0 &amp; j ≤ i −∞ &amp; j &gt; i endcases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991289" y="3909060"/>
                <a:ext cx="6651766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softmax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310" i="0">
                                      <a:latin typeface="Cambria Math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a:rPr lang="en-US" sz="2310" i="1">
                              <a:latin typeface="Cambria Math"/>
                            </a:rPr>
                            <m:t>M</m:t>
                          </m:r>
                        </m:e>
                      </m:d>
                      <m:r>
                        <a:rPr lang="en-US" sz="2310" i="1">
                          <a:latin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4991289" y="3909060"/>
                <a:ext cx="6651766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softmax((Q K^top)/(√(dₖ)) + M) V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991289" y="5097780"/>
                <a:ext cx="6651766" cy="4551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, position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attends only to </a:t>
                </a:r>
                <a14:m>
                  <m:oMath xmlns:m="http://schemas.openxmlformats.org/officeDocument/2006/math">
                    <m: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…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US" sz="1600" i="1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4991289" y="5097780"/>
                <a:ext cx="6651766" cy="4551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Since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e^(−∞) = 0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, position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i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attends only to </a:t>
                </a:r>
                <a:r>
                  <a:rPr sz="16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1, …, i</a:t>
                </a:r>
                <a:r>
                  <a:rPr sz="16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Three uses of attention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2419096"/>
          <a:ext cx="11094414" cy="179120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665254"/>
                <a:gridCol w="2179170"/>
                <a:gridCol w="3070820"/>
                <a:gridCol w="2179170"/>
              </a:tblGrid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Where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chemeClr val="tx1"/>
                          </a:solidFill>
                        </a:rPr>
                        <a:t>Queries from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chemeClr val="tx1"/>
                          </a:solidFill>
                        </a:rPr>
                        <a:t>Keys / values from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chemeClr val="tx1"/>
                          </a:solidFill>
                        </a:rPr>
                        <a:t>Mask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Encoder self-attention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Encoder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Encoder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Padding only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Decoder self-attention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Decoder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Decoder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accent2"/>
                          </a:solidFill>
                        </a:rPr>
                        <a:t>Causal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Cross-attention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Decoder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chemeClr val="tx1"/>
                          </a:solidFill>
                        </a:rPr>
                        <a:t>Encoder output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Padding only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4438904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CrossAttn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Attention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dec</m:t>
                              </m:r>
                            </m:sub>
                          </m:sSub>
                          <m:s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 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enc</m:t>
                              </m:r>
                            </m:sub>
                          </m:sSub>
                          <m:s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 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enc</m:t>
                              </m:r>
                            </m:sub>
                          </m:sSub>
                          <m:s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V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4438904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CrossAttn = Attention(H_(dec) W^Q, H_(enc) W^K, H_(enc) W^V)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Positional encoding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Attention is permutation-equivariant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2223243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For any permutation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Π</m:t>
                    </m:r>
                  </m:oMath>
                </a14:m>
                <a:r>
                  <a:rPr sz="2200"/>
                  <a:t>: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2223243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For any permutation matrix </a:t>
                </a:r>
                <a:r>
                  <a:rPr sz="2200" i="1"/>
                  <a:t>Π</a:t>
                </a:r>
                <a:r>
                  <a:rPr sz="2200"/>
                  <a:t>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998451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Attention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Π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Π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Π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Π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Attention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998451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Attention(Π X W^Q, Π X W^K, Π X W^V) = Π Attention(X W^Q, X W^K, X W^V)</a:t>
                </a:r>
              </a:p>
            </p:txBody>
          </p:sp>
        </mc:Fallback>
      </mc:AlternateContent>
      <p:grpSp>
        <p:nvGrpSpPr>
          <p:cNvPr id="7" name="Alertblock: Consequence"/>
          <p:cNvGrpSpPr/>
          <p:nvPr/>
        </p:nvGrpSpPr>
        <p:grpSpPr>
          <a:xfrm>
            <a:off x="548640" y="3867131"/>
            <a:ext cx="11094415" cy="1407706"/>
            <a:chOff x="548640" y="3867131"/>
            <a:chExt cx="11094415" cy="1407706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3867131"/>
              <a:ext cx="11094415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Without extra information, </a:t>
              </a:r>
              <a:r>
                <a:rPr sz="1980" i="1">
                  <a:solidFill>
                    <a:schemeClr val="tx1"/>
                  </a:solidFill>
                </a:rPr>
                <a:t>the cat sat on the mat</a:t>
              </a:r>
              <a:r>
                <a:rPr sz="1980">
                  <a:solidFill>
                    <a:schemeClr val="tx1"/>
                  </a:solidFill>
                </a:rPr>
                <a:t> and </a:t>
              </a:r>
              <a:r>
                <a:rPr sz="1980" i="1">
                  <a:solidFill>
                    <a:schemeClr val="tx1"/>
                  </a:solidFill>
                </a:rPr>
                <a:t>the mat sat on the cat</a:t>
              </a:r>
              <a:r>
                <a:rPr sz="1980">
                  <a:solidFill>
                    <a:schemeClr val="tx1"/>
                  </a:solidFill>
                </a:rPr>
                <a:t> look identical. Order must be injected explicitly.</a:t>
              </a:r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548640" y="3867131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Consequence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Sinusoidal positional encoding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964436"/>
                <a:ext cx="6222620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a:rPr lang="en-US" sz="2310" i="1">
                              <a:latin typeface="Cambria Math"/>
                            </a:rPr>
                            <m:t>o</m:t>
                          </m:r>
                          <m:r>
                            <a:rPr lang="en-US" sz="2310" i="1"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sin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310" i="1">
                                  <a:latin typeface="Cambria Math"/>
                                </a:rPr>
                                <m:t>p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o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s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en-US" sz="2310" i="0">
                                      <a:latin typeface="Cambria Math"/>
                                    </a:rPr>
                                    <m:t>10000</m:t>
                                  </m:r>
                                </m:e>
                                <m:sup>
                                  <m:r>
                                    <a:rPr lang="en-US" sz="2310" i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310" i="0">
                                      <a:latin typeface="Cambria Math"/>
                                    </a:rPr>
                                    <m:t>/</m:t>
                                  </m:r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  <m:sty m:val="p"/>
                                        </m:rPr>
                                        <a:rPr lang="en-US" sz="2310" i="0">
                                          <a:latin typeface="Cambria Math"/>
                                        </a:rPr>
                                        <m:t>model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964436"/>
                <a:ext cx="6222620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PE_((pos, 2i)) = sin((pos)/(10000^(2i/d_(model))))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3153156"/>
                <a:ext cx="6222620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a:rPr lang="en-US" sz="2310" i="1">
                              <a:latin typeface="Cambria Math"/>
                            </a:rPr>
                            <m:t>o</m:t>
                          </m:r>
                          <m:r>
                            <a:rPr lang="en-US" sz="2310" i="1"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cos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310" i="1">
                                  <a:latin typeface="Cambria Math"/>
                                </a:rPr>
                                <m:t>p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o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s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en-US" sz="2310" i="0">
                                      <a:latin typeface="Cambria Math"/>
                                    </a:rPr>
                                    <m:t>10000</m:t>
                                  </m:r>
                                </m:e>
                                <m:sup>
                                  <m:r>
                                    <a:rPr lang="en-US" sz="2310" i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310" i="0">
                                      <a:latin typeface="Cambria Math"/>
                                    </a:rPr>
                                    <m:t>/</m:t>
                                  </m:r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  <m:sty m:val="p"/>
                                        </m:rPr>
                                        <a:rPr lang="en-US" sz="2310" i="0">
                                          <a:latin typeface="Cambria Math"/>
                                        </a:rPr>
                                        <m:t>model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3153156"/>
                <a:ext cx="6222620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PE_((pos, 2i+1)) = cos((pos)/(10000^(2i/d_(model))))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4341876"/>
                <a:ext cx="6222620" cy="11917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/>
                  <a:t>Wavelengths from </a:t>
                </a:r>
                <a14:m>
                  <m:oMath xmlns:m="http://schemas.openxmlformats.org/officeDocument/2006/math">
                    <m:r>
                      <a:rPr lang="en-US" sz="1700" i="0">
                        <a:latin typeface="Cambria Math"/>
                      </a:rPr>
                      <m:t>2</m:t>
                    </m:r>
                    <m:r>
                      <a:rPr lang="en-US" sz="1700" i="1">
                        <a:latin typeface="Cambria Math"/>
                      </a:rPr>
                      <m:t>π</m:t>
                    </m:r>
                  </m:oMath>
                </a14:m>
                <a:r>
                  <a:rPr sz="1700"/>
                  <a:t> to </a:t>
                </a:r>
                <a14:m>
                  <m:oMath xmlns:m="http://schemas.openxmlformats.org/officeDocument/2006/math">
                    <m:r>
                      <a:rPr lang="en-US" sz="1700" i="0">
                        <a:latin typeface="Cambria Math"/>
                      </a:rPr>
                      <m:t>10000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⋅</m:t>
                    </m:r>
                    <m:r>
                      <a:rPr lang="en-US" sz="1700" i="0">
                        <a:latin typeface="Cambria Math"/>
                      </a:rPr>
                      <m:t>2</m:t>
                    </m:r>
                    <m:r>
                      <a:rPr lang="en-US" sz="1700" i="1">
                        <a:latin typeface="Cambria Math"/>
                      </a:rPr>
                      <m:t>π</m:t>
                    </m:r>
                  </m:oMath>
                </a14:m>
              </a:p>
              <a:p>
                <a:pPr/>
                <a:r>
                  <a:rPr sz="1700"/>
                  <a:t>No learned parameters</a:t>
                </a:r>
              </a:p>
              <a:p>
                <a:pPr/>
                <a:r>
                  <a:rPr sz="1700"/>
                  <a:t>Extrapolates to unseen lengths</a:t>
                </a:r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4341876"/>
                <a:ext cx="6222620" cy="11917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/>
                  <a:t>Wavelengths from </a:t>
                </a:r>
                <a:r>
                  <a:rPr sz="1700" i="1"/>
                  <a:t>2π</a:t>
                </a:r>
                <a:r>
                  <a:rPr sz="1700"/>
                  <a:t> to </a:t>
                </a:r>
                <a:r>
                  <a:rPr sz="1700" i="1"/>
                  <a:t>10000 · 2π</a:t>
                </a:r>
              </a:p>
              <a:p>
                <a:pPr/>
                <a:r>
                  <a:rPr sz="1700"/>
                  <a:t>No learned parameters</a:t>
                </a:r>
              </a:p>
              <a:p>
                <a:pPr/>
                <a:r>
                  <a:rPr sz="1700"/>
                  <a:t>Extrapolates to unseen lengths</a:t>
                </a:r>
              </a:p>
            </p:txBody>
          </p:sp>
        </mc:Fallback>
      </mc:AlternateContent>
      <p:sp>
        <p:nvSpPr>
          <p:cNvPr id="6" name="Placeholder: Positional encoding heatmap" descr="Placeholder - Positional encoding heatmap"/>
          <p:cNvSpPr/>
          <p:nvPr/>
        </p:nvSpPr>
        <p:spPr>
          <a:xfrm>
            <a:off x="7249671" y="2411311"/>
            <a:ext cx="4280733" cy="267545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Positional encoding heatmap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position (rows) x dimension (columns), sin / cos stripes of growing wavelength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Relative positions are linear maps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2063223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ω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=</m:t>
                    </m:r>
                    <m:sSup>
                      <m:e>
                        <m:r>
                          <a:rPr lang="en-US" sz="2200" i="0">
                            <a:latin typeface="Cambria Math"/>
                          </a:rPr>
                          <m:t>10000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i="0">
                            <a:latin typeface="Cambria Math"/>
                          </a:rPr>
                          <m:t>−</m:t>
                        </m:r>
                        <m:r>
                          <a:rPr lang="en-US" sz="2200" i="0">
                            <a:latin typeface="Cambria Math"/>
                          </a:rPr>
                          <m:t>2</m:t>
                        </m:r>
                        <m:r>
                          <a:rPr lang="en-US" sz="2200" i="1">
                            <a:latin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sz="2200" i="0">
                            <a:latin typeface="Cambria Math"/>
                          </a:rPr>
                          <m:t>/</m:t>
                        </m:r>
                        <m:sSub>
                          <m:e>
                            <m:r>
                              <a:rPr lang="en-US" sz="2200" i="1">
                                <a:latin typeface="Cambria Math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a:rPr lang="en-US" sz="2200" i="0">
                                <a:latin typeface="Cambria Math"/>
                              </a:rPr>
                              <m:t>model</m:t>
                            </m:r>
                          </m:sub>
                        </m:sSub>
                      </m:sup>
                    </m:sSup>
                  </m:oMath>
                </a14:m>
                <a:r>
                  <a:rPr sz="2200"/>
                  <a:t>, each pair of dimensions satisfies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2063223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With </a:t>
                </a:r>
                <a:r>
                  <a:rPr sz="2200" i="1"/>
                  <a:t>ωᵢ = 10000^(−2i/d_(model))</a:t>
                </a:r>
                <a:r>
                  <a:rPr sz="2200"/>
                  <a:t>, each pair of dimensions satisfies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838431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sin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310" i="1">
                                    <a:latin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310" i="1">
                                    <a:latin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310" i="1">
                                    <a:latin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310" i="1">
                                    <a:latin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cos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2310" i="1">
                                    <a:latin typeface="Cambria Math"/>
                                  </a:rPr>
                                  <m:t>k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sin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2310" i="1">
                                    <a:latin typeface="Cambria Math"/>
                                  </a:rPr>
                                  <m:t>k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sin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2310" i="1">
                                    <a:latin typeface="Cambria Math"/>
                                  </a:rPr>
                                  <m:t>k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cos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2310" i="1">
                                    <a:latin typeface="Cambria Math"/>
                                  </a:rPr>
                                  <m:t>k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sin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2310" i="1">
                                    <a:latin typeface="Cambria Math"/>
                                  </a:rPr>
                                  <m:t>p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10" i="0">
                                    <a:latin typeface="Cambria Math"/>
                                  </a:rPr>
                                  <m:t>cos</m:t>
                                </m:r>
                                <m:sSub>
                                  <m:e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2310" i="1">
                                        <a:latin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2310" i="1">
                                    <a:latin typeface="Cambria Math"/>
                                  </a:rPr>
                                  <m:t>p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838431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beginpmatrix sin(ωᵢ (p + k)) cos(ωᵢ (p + k)) endpmatrix = beginpmatrix cos ωᵢ k &amp; sin ωᵢ k −sin ωᵢ k &amp; cos ωᵢ k endpmatrix beginpmatrix sin ωᵢ p cos ωᵢ p endpmatrix</a:t>
                </a:r>
              </a:p>
            </p:txBody>
          </p:sp>
        </mc:Fallback>
      </mc:AlternateContent>
      <p:grpSp>
        <p:nvGrpSpPr>
          <p:cNvPr id="7" name="Block: Takeaway"/>
          <p:cNvGrpSpPr/>
          <p:nvPr/>
        </p:nvGrpSpPr>
        <p:grpSpPr>
          <a:xfrm>
            <a:off x="548640" y="4027151"/>
            <a:ext cx="11094415" cy="1407706"/>
            <a:chOff x="548640" y="4027151"/>
            <a:chExt cx="11094415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ounded Rectangle 4"/>
                <p:cNvSpPr/>
                <p:nvPr/>
              </p:nvSpPr>
              <p:spPr>
                <a:xfrm>
                  <a:off x="548640" y="4027151"/>
                  <a:ext cx="11094415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An offset of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k</m:t>
                      </m:r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 is a </a:t>
                  </a:r>
                  <a:r>
                    <a:rPr sz="1980">
                      <a:solidFill>
                        <a:schemeClr val="accent2"/>
                      </a:solidFill>
                    </a:rPr>
                    <a:t>rotation</a:t>
                  </a:r>
                  <a:r>
                    <a:rPr sz="1980">
                      <a:solidFill>
                        <a:schemeClr val="tx1"/>
                      </a:solidFill>
                    </a:rPr>
                    <a:t> that does not depend on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p</m:t>
                      </m:r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, so attention can learn to attend by relative position. RoPE builds on exactly this idea.</a:t>
                  </a:r>
                </a:p>
              </p:txBody>
            </p:sp>
          </mc:Choice>
          <mc:Fallback>
            <p:sp>
              <p:nvSpPr>
                <p:cNvPr id="5" name="Rounded Rectangle 4"/>
                <p:cNvSpPr/>
                <p:nvPr/>
              </p:nvSpPr>
              <p:spPr>
                <a:xfrm>
                  <a:off x="548640" y="4027151"/>
                  <a:ext cx="11094415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An offset of </a:t>
                  </a:r>
                  <a:r>
                    <a:rPr sz="1980" i="1">
                      <a:solidFill>
                        <a:schemeClr val="tx1"/>
                      </a:solidFill>
                    </a:rPr>
                    <a:t>k</a:t>
                  </a:r>
                  <a:r>
                    <a:rPr sz="1980">
                      <a:solidFill>
                        <a:schemeClr val="tx1"/>
                      </a:solidFill>
                    </a:rPr>
                    <a:t> is a </a:t>
                  </a:r>
                  <a:r>
                    <a:rPr sz="1980">
                      <a:solidFill>
                        <a:schemeClr val="accent2"/>
                      </a:solidFill>
                    </a:rPr>
                    <a:t>rotation</a:t>
                  </a:r>
                  <a:r>
                    <a:rPr sz="1980">
                      <a:solidFill>
                        <a:schemeClr val="tx1"/>
                      </a:solidFill>
                    </a:rPr>
                    <a:t> that does not depend on </a:t>
                  </a:r>
                  <a:r>
                    <a:rPr sz="1980" i="1">
                      <a:solidFill>
                        <a:schemeClr val="tx1"/>
                      </a:solidFill>
                    </a:rPr>
                    <a:t>p</a:t>
                  </a:r>
                  <a:r>
                    <a:rPr sz="1980">
                      <a:solidFill>
                        <a:schemeClr val="tx1"/>
                      </a:solidFill>
                    </a:rPr>
                    <a:t>, so attention can learn to attend by relative position. RoPE builds on exactly this idea.</a:t>
                  </a:r>
                </a:p>
              </p:txBody>
            </p:sp>
          </mc:Fallback>
        </mc:AlternateContent>
        <p:sp>
          <p:nvSpPr>
            <p:cNvPr id="6" name="Round Same Side Corner Rectangle 5"/>
            <p:cNvSpPr/>
            <p:nvPr/>
          </p:nvSpPr>
          <p:spPr>
            <a:xfrm>
              <a:off x="548640" y="4027151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Takeaway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Feed-forward, residuals and normalisation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Position-wise feed-forward network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226161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FFN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max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0"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 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226161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FFN(x) = max(0, x W₁ + b₁) W₂ + b₂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313029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R</m:t>
                          </m:r>
                        </m:e>
                        <m: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model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f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f</m:t>
                              </m:r>
                            </m:sub>
                          </m:sSub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R</m:t>
                          </m:r>
                        </m:e>
                        <m:sup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f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f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model</m:t>
                              </m:r>
                            </m:sub>
                          </m:sSub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0">
                          <a:latin typeface="Cambria Math"/>
                        </a:rPr>
                        <m:t>4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model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0">
                          <a:latin typeface="Cambria Math"/>
                        </a:rPr>
                        <m:t>2048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313029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W₁ ∈ ℝ^(d_(model) × d_(ff)), W₂ ∈ ℝ^(d_(ff) × d_(model)), d_(ff) = 4 d_(model) = 2048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3998976"/>
                <a:ext cx="11094415" cy="12374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800"/>
                  <a:t>Applied to each position independently (same weights)</a:t>
                </a:r>
              </a:p>
              <a:p>
                <a:pPr/>
                <a:r>
                  <a:rPr sz="1800"/>
                  <a:t>Holds about </a:t>
                </a:r>
                <a:r>
                  <a:rPr sz="1800">
                    <a:solidFill>
                      <a:schemeClr val="accent2"/>
                    </a:solidFill>
                  </a:rPr>
                  <a:t>two thirds</a:t>
                </a:r>
                <a:r>
                  <a:rPr sz="1800"/>
                  <a:t> of the parameters in each layer</a:t>
                </a:r>
              </a:p>
              <a:p>
                <a:pPr/>
                <a:r>
                  <a:rPr sz="1800"/>
                  <a:t>Modern variants: GELU, or SwiGLU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/>
                          </a:rPr>
                          <m:t>Swish</m:t>
                        </m:r>
                        <m:r>
                          <m:rPr>
                            <m:sty m:val="p"/>
                          </m:rPr>
                          <a:rPr lang="en-US" sz="1800" i="0">
                            <a:latin typeface="Cambria Math"/>
                          </a:rPr>
                          <m:t>(</m:t>
                        </m:r>
                        <m:r>
                          <a:rPr lang="en-US" sz="1800" i="1">
                            <a:latin typeface="Cambria Math"/>
                          </a:rPr>
                          <m:t>x</m:t>
                        </m:r>
                        <m:sSub>
                          <m:e>
                            <m:r>
                              <a:rPr lang="en-US" sz="1800" i="1">
                                <a:latin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en-US" sz="1800" i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800" i="0">
                            <a:latin typeface="Cambria Math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800" i="0">
                            <a:latin typeface="Cambria Math"/>
                          </a:rPr>
                          <m:t>⊙</m:t>
                        </m:r>
                        <m:r>
                          <a:rPr lang="en-US" sz="1800" i="1">
                            <a:latin typeface="Cambria Math"/>
                          </a:rPr>
                          <m:t>x</m:t>
                        </m:r>
                        <m:sSub>
                          <m:e>
                            <m:r>
                              <a:rPr lang="en-US" sz="1800" i="1">
                                <a:latin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en-US" sz="1800" i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sSub>
                      <m:e>
                        <m:r>
                          <a:rPr lang="en-US" sz="1800" i="1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sz="1800" i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3998976"/>
                <a:ext cx="11094415" cy="12374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800"/>
                  <a:t>Applied to each position independently (same weights)</a:t>
                </a:r>
              </a:p>
              <a:p>
                <a:pPr/>
                <a:r>
                  <a:rPr sz="1800"/>
                  <a:t>Holds about </a:t>
                </a:r>
                <a:r>
                  <a:rPr sz="1800">
                    <a:solidFill>
                      <a:schemeClr val="accent2"/>
                    </a:solidFill>
                  </a:rPr>
                  <a:t>two thirds</a:t>
                </a:r>
                <a:r>
                  <a:rPr sz="1800"/>
                  <a:t> of the parameters in each layer</a:t>
                </a:r>
              </a:p>
              <a:p>
                <a:pPr/>
                <a:r>
                  <a:rPr sz="1800"/>
                  <a:t>Modern variants: GELU, or SwiGLU </a:t>
                </a:r>
                <a:r>
                  <a:rPr sz="1800" i="1"/>
                  <a:t>(Swish(x W₁) odot x W₃) W₂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Residual connections and layer normalisation</a:t>
            </a:r>
          </a:p>
        </p:txBody>
      </p:sp>
      <p:sp>
        <p:nvSpPr>
          <p:cNvPr id="3" name="Placeholder: Encoder layer" descr="Placeholder - Encoder layer"/>
          <p:cNvSpPr/>
          <p:nvPr/>
        </p:nvSpPr>
        <p:spPr>
          <a:xfrm>
            <a:off x="645198" y="1710596"/>
            <a:ext cx="3669200" cy="407688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Encoder layer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multi-head self-attention -&gt; add &amp; norm -&gt; feed-forward -&gt; add &amp;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776716" y="1456436"/>
                <a:ext cx="6866339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1">
                          <a:latin typeface="Cambria Math"/>
                        </a:rPr>
                        <m:t>γ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⊙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−</m:t>
                          </m:r>
                          <m:r>
                            <a:rPr lang="en-US" sz="2310" i="1">
                              <a:latin typeface="Cambria Math"/>
                            </a:rPr>
                            <m:t>μ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2310" i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ϵ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r>
                        <a:rPr lang="en-US" sz="2310" i="1">
                          <a:latin typeface="Cambria Math"/>
                        </a:rPr>
                        <m:t>β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4776716" y="1456436"/>
                <a:ext cx="6866339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LN(x) = γ odot (x − μ)/(√(σ² + ε)) + β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776716" y="2645156"/>
                <a:ext cx="6866339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sup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σ</m:t>
                          </m:r>
                        </m:e>
                        <m:sup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</m:e>
                      </m:nary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−</m:t>
                      </m:r>
                      <m:r>
                        <a:rPr lang="en-US" sz="2310" i="1">
                          <a:latin typeface="Cambria Math"/>
                        </a:rPr>
                        <m:t>μ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4776716" y="2645156"/>
                <a:ext cx="6866339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μ = (1)/(d)∑ᵢ₌₁^d xᵢ, σ² = (1)/(d)∑ᵢ₌₁^d (xᵢ − μ)²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776716" y="3833876"/>
            <a:ext cx="6866339" cy="4704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700"/>
              <a:t>Two ways to wrap each sub-layer: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776716" y="4532884"/>
                <a:ext cx="6866339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en-US" sz="2310" i="0">
                          <a:latin typeface="Cambria Math"/>
                        </a:rPr>
                        <m:t>Post-LN: 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←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Sublayer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4776716" y="4532884"/>
                <a:ext cx="6866339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Post-LN: x ← LN(x + Sublayer(x))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776716" y="5401564"/>
                <a:ext cx="6866339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en-US" sz="2310" i="0">
                          <a:latin typeface="Cambria Math"/>
                        </a:rPr>
                        <m:t>Pre-LN: 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←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Sublayer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LN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4776716" y="5401564"/>
                <a:ext cx="6866339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Pre-LN: x ← x + Sublayer(LN(x))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One encoder layer, end to end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73837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MultiHead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73837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Z = LN(X + MultiHead(X, X, X))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60705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Z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FFN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Z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607056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H = LN(Z + FFN(Z))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3475736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And one decoder layer, with encoder output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2200" i="0">
                            <a:latin typeface="Cambria Math"/>
                          </a:rPr>
                          <m:t>enc</m:t>
                        </m:r>
                      </m:sub>
                    </m:sSub>
                  </m:oMath>
                </a14:m>
                <a:r>
                  <a:rPr sz="2200"/>
                  <a:t>:</a:t>
                </a:r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3475736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And one decoder layer, with encoder output </a:t>
                </a:r>
                <a:r>
                  <a:rPr sz="2200" i="1"/>
                  <a:t>H_(enc)</a:t>
                </a:r>
                <a:r>
                  <a:rPr sz="2200"/>
                  <a:t>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4250944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MaskedMHA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548640" y="4250944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A = LN(Y + MaskedMHA(Y, Y, Y))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5119624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MHA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enc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enc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FFN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5119624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B = LN(A + MHA(A, H_(enc), H_(enc))), Y^prime = LN(B + FFN(B))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Decoder layer</a:t>
            </a:r>
          </a:p>
        </p:txBody>
      </p:sp>
      <p:sp>
        <p:nvSpPr>
          <p:cNvPr id="3" name="Placeholder: Decoder layer" descr="Placeholder - Decoder layer"/>
          <p:cNvSpPr/>
          <p:nvPr/>
        </p:nvSpPr>
        <p:spPr>
          <a:xfrm>
            <a:off x="655927" y="1484102"/>
            <a:ext cx="4076889" cy="4529877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Decoder layer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masked self-attention -&gt; add &amp; norm -&gt; cross-attention -&gt; add &amp; norm -&gt; FFN -&gt; add &amp; 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5862" y="2218436"/>
            <a:ext cx="6437193" cy="219252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AutoNum type="arabicPeriod"/>
            </a:pPr>
            <a:r>
              <a:rPr sz="2200"/>
              <a:t>Masked self-attention over generated tokens</a:t>
            </a:r>
          </a:p>
          <a:p>
            <a:pPr>
              <a:buAutoNum type="arabicPeriod"/>
            </a:pPr>
            <a:r>
              <a:rPr sz="2200"/>
              <a:t>Cross-attention reads the source sentence</a:t>
            </a:r>
          </a:p>
          <a:p>
            <a:pPr>
              <a:buAutoNum type="arabicPeriod"/>
            </a:pPr>
            <a:r>
              <a:rPr sz="2200"/>
              <a:t>Feed-forward refines each position</a:t>
            </a:r>
          </a:p>
          <a:p>
            <a:pPr>
              <a:buAutoNum type="arabicPeriod"/>
            </a:pPr>
            <a:r>
              <a:rPr sz="2200"/>
              <a:t>Final linear layer and softmax over the vocabulary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205862" y="4639564"/>
                <a:ext cx="6437193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∣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&lt;</m:t>
                          </m:r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softmax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sSub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E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205862" y="4639564"/>
                <a:ext cx="6437193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p(y_t | y_(&lt;t), x) = softmax(h_t W_E^top)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Objective, optimiser and regularisation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Training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13860"/>
            <a:ext cx="11094415" cy="52984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090"/>
              <a:t>Autoregressive factorisation of the target sequence: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072304"/>
                <a:ext cx="11094415" cy="912114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n-US" sz="2194" i="1"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194" i="1">
                              <a:latin typeface="Cambria Math"/>
                            </a:rPr>
                            <m:t>θ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(</m:t>
                      </m:r>
                      <m:r>
                        <a:rPr lang="en-US" sz="2194" i="1"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∣</m:t>
                      </m:r>
                      <m:r>
                        <a:rPr lang="en-US" sz="2194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194" i="0">
                              <a:latin typeface="Cambria Math"/>
                            </a:rPr>
                            <m:t>=</m:t>
                          </m:r>
                          <m:r>
                            <a:rPr lang="en-US" sz="2194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</m:sup>
                        <m:e>
                          <m:sSub>
                            <m:e>
                              <m:r>
                                <a:rPr lang="en-US" sz="2194" i="1">
                                  <a:latin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194" i="1">
                                  <a:latin typeface="Cambria Math"/>
                                </a:rPr>
                                <m:t>θ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194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∣</m:t>
                      </m:r>
                      <m:sSub>
                        <m:e>
                          <m:r>
                            <a:rPr lang="en-US" sz="2194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94" i="0">
                              <a:latin typeface="Cambria Math"/>
                            </a:rPr>
                            <m:t>&lt;</m:t>
                          </m:r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,</m:t>
                      </m:r>
                      <m:r>
                        <a:rPr lang="en-US" sz="2194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072304"/>
                <a:ext cx="11094415" cy="912114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194" i="1"/>
                  <a:t>p_θ(y | x) = ∏_(t=1)ᵀ p_θ(y_t | y_(&lt;t), x)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48640" y="3213018"/>
            <a:ext cx="11094415" cy="52984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090"/>
              <a:t>Teacher forcing with cross-entropy (all positions in parallel):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3971462"/>
                <a:ext cx="11094415" cy="912114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a:rPr lang="en-US" sz="2194" i="0"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(</m:t>
                      </m:r>
                      <m:r>
                        <a:rPr lang="en-US" sz="2194" i="1"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194" i="0">
                              <a:latin typeface="Cambria Math"/>
                            </a:rPr>
                            <m:t>=</m:t>
                          </m:r>
                          <m:r>
                            <a:rPr lang="en-US" sz="2194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194" i="0">
                              <a:latin typeface="Cambria Math"/>
                            </a:rPr>
                            <m:t>log</m:t>
                          </m:r>
                        </m:e>
                      </m:nary>
                      <m:sSub>
                        <m:e>
                          <m:r>
                            <a:rPr lang="en-US" sz="2194" i="1"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194" i="1">
                              <a:latin typeface="Cambria Math"/>
                            </a:rPr>
                            <m:t>θ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194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∣</m:t>
                      </m:r>
                      <m:sSub>
                        <m:e>
                          <m:r>
                            <a:rPr lang="en-US" sz="2194" i="1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94" i="0">
                              <a:latin typeface="Cambria Math"/>
                            </a:rPr>
                            <m:t>&lt;</m:t>
                          </m:r>
                          <m:r>
                            <a:rPr lang="en-US" sz="2194" i="1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,</m:t>
                      </m:r>
                      <m:r>
                        <a:rPr lang="en-US" sz="2194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194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548640" y="3971462"/>
                <a:ext cx="11094415" cy="912114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194" i="1"/>
                  <a:t>L(θ) = −∑_(t=1)ᵀ log p_θ(y_t | y_(&lt;t), x)</a:t>
                </a:r>
              </a:p>
            </p:txBody>
          </p:sp>
        </mc:Fallback>
      </mc:AlternateContent>
      <p:grpSp>
        <p:nvGrpSpPr>
          <p:cNvPr id="9" name="Block: Label smoothing (xxxxxxxxxxxx)"/>
          <p:cNvGrpSpPr/>
          <p:nvPr/>
        </p:nvGrpSpPr>
        <p:grpSpPr>
          <a:xfrm>
            <a:off x="548640" y="5112176"/>
            <a:ext cx="11094415" cy="1072043"/>
            <a:chOff x="548640" y="5112176"/>
            <a:chExt cx="11094415" cy="10720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ounded Rectangle 6"/>
                <p:cNvSpPr/>
                <p:nvPr/>
              </p:nvSpPr>
              <p:spPr>
                <a:xfrm>
                  <a:off x="548640" y="5112176"/>
                  <a:ext cx="11094415" cy="1072043"/>
                </a:xfrm>
                <a:prstGeom prst="roundRect">
                  <a:avLst>
                    <a:gd name="adj" fmla="val 767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37439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880">
                      <a:solidFill>
                        <a:schemeClr val="tx1"/>
                      </a:solidFill>
                    </a:rPr>
                    <a:t>Target distribution </a:t>
                  </a:r>
                  <a14:m>
                    <m:oMath xmlns:m="http://schemas.openxmlformats.org/officeDocument/2006/math">
                      <m:r>
                        <a:rPr lang="en-US" sz="1880" i="1">
                          <a:solidFill>
                            <a:schemeClr val="tx1"/>
                          </a:solidFill>
                          <a:latin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880" i="1">
                          <a:solidFill>
                            <a:schemeClr val="tx1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ε</m:t>
                          </m:r>
                        </m:e>
                        <m:sub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cr m:val="double-struck"/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1880" i="1">
                          <a:solidFill>
                            <a:schemeClr val="tx1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ε</m:t>
                          </m:r>
                        </m:e>
                        <m:sub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a:rPr lang="en-US" sz="18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1880" i="1">
                          <a:solidFill>
                            <a:schemeClr val="tx1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880" i="0">
                          <a:solidFill>
                            <a:schemeClr val="tx1"/>
                          </a:solidFill>
                          <a:latin typeface="Cambria Math"/>
                        </a:rPr>
                        <m:t>|</m:t>
                      </m:r>
                    </m:oMath>
                  </a14:m>
                  <a:r>
                    <a:rPr sz="1880">
                      <a:solidFill>
                        <a:schemeClr val="tx1"/>
                      </a:solidFill>
                    </a:rPr>
                    <a:t> - hurts perplexity but improves BLEU.</a:t>
                  </a:r>
                </a:p>
              </p:txBody>
            </p:sp>
          </mc:Choice>
          <mc:Fallback>
            <p:sp>
              <p:nvSpPr>
                <p:cNvPr id="7" name="Rounded Rectangle 6"/>
                <p:cNvSpPr/>
                <p:nvPr/>
              </p:nvSpPr>
              <p:spPr>
                <a:xfrm>
                  <a:off x="548640" y="5112176"/>
                  <a:ext cx="11094415" cy="1072043"/>
                </a:xfrm>
                <a:prstGeom prst="roundRect">
                  <a:avLst>
                    <a:gd name="adj" fmla="val 767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37439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880">
                      <a:solidFill>
                        <a:schemeClr val="tx1"/>
                      </a:solidFill>
                    </a:rPr>
                    <a:t>Target distribution </a:t>
                  </a:r>
                  <a:r>
                    <a:rPr sz="1880" i="1">
                      <a:solidFill>
                        <a:schemeClr val="tx1"/>
                      </a:solidFill>
                    </a:rPr>
                    <a:t>q(k) = (1 − ε_(ls)) mathbb1[k = y_t] + ε_(ls) / |V|</a:t>
                  </a:r>
                  <a:r>
                    <a:rPr sz="1880">
                      <a:solidFill>
                        <a:schemeClr val="tx1"/>
                      </a:solidFill>
                    </a:rPr>
                    <a:t> - hurts perplexity but improves BLEU.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ound Same Side Corner Rectangle 7"/>
                <p:cNvSpPr/>
                <p:nvPr/>
              </p:nvSpPr>
              <p:spPr>
                <a:xfrm>
                  <a:off x="548640" y="5112176"/>
                  <a:ext cx="11094415" cy="464287"/>
                </a:xfrm>
                <a:prstGeom prst="round2SameRect">
                  <a:avLst>
                    <a:gd name="adj1" fmla="val 17725"/>
                    <a:gd name="adj2" fmla="val 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rtlCol="0" anchor="ctr" wrap="square" lIns="137160" rIns="137160" tIns="18288" bIns="18288"/>
                <a:lstStyle/>
                <a:p>
                  <a:pPr algn="l"/>
                  <a:r>
                    <a:rPr sz="1974" b="1">
                      <a:solidFill>
                        <a:schemeClr val="bg1"/>
                      </a:solidFill>
                    </a:rPr>
                    <a:t>Label smoothing (</a:t>
                  </a:r>
                  <a14:m>
                    <m:oMath xmlns:m="http://schemas.openxmlformats.org/officeDocument/2006/math">
                      <m:sSub>
                        <m:e>
                          <m:r>
                            <a:rPr lang="en-US" sz="1974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ε</m:t>
                          </m:r>
                        </m:e>
                        <m:sub>
                          <m:r>
                            <a:rPr lang="en-US" sz="1974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a:rPr lang="en-US" sz="1974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74" b="1" i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974" b="1" i="0">
                          <a:solidFill>
                            <a:schemeClr val="bg1"/>
                          </a:solidFill>
                          <a:latin typeface="Cambria Math"/>
                        </a:rPr>
                        <m:t>0.1</m:t>
                      </m:r>
                    </m:oMath>
                  </a14:m>
                  <a:r>
                    <a:rPr sz="1974" b="1">
                      <a:solidFill>
                        <a:schemeClr val="bg1"/>
                      </a:solidFill>
                    </a:rPr>
                    <a:t>)</a:t>
                  </a:r>
                </a:p>
              </p:txBody>
            </p:sp>
          </mc:Choice>
          <mc:Fallback>
            <p:sp>
              <p:nvSpPr>
                <p:cNvPr id="8" name="Round Same Side Corner Rectangle 7"/>
                <p:cNvSpPr/>
                <p:nvPr/>
              </p:nvSpPr>
              <p:spPr>
                <a:xfrm>
                  <a:off x="548640" y="5112176"/>
                  <a:ext cx="11094415" cy="464287"/>
                </a:xfrm>
                <a:prstGeom prst="round2SameRect">
                  <a:avLst>
                    <a:gd name="adj1" fmla="val 17725"/>
                    <a:gd name="adj2" fmla="val 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rtlCol="0" anchor="ctr" wrap="square" lIns="137160" rIns="137160" tIns="18288" bIns="18288"/>
                <a:lstStyle/>
                <a:p>
                  <a:pPr algn="l"/>
                  <a:r>
                    <a:rPr sz="1974" b="1">
                      <a:solidFill>
                        <a:schemeClr val="bg1"/>
                      </a:solidFill>
                    </a:rPr>
                    <a:t>Label smoothing (</a:t>
                  </a:r>
                  <a:r>
                    <a:rPr sz="1974" b="1" i="1">
                      <a:solidFill>
                        <a:schemeClr val="bg1"/>
                      </a:solidFill>
                    </a:rPr>
                    <a:t>ε_(ls) = 0.1</a:t>
                  </a:r>
                  <a:r>
                    <a:rPr sz="1974" b="1">
                      <a:solidFill>
                        <a:schemeClr val="bg1"/>
                      </a:solidFill>
                    </a:rPr>
                    <a:t>)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Learning-rate schedule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665958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l</m:t>
                      </m:r>
                      <m:r>
                        <a:rPr lang="en-US" sz="2310" i="1"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sSubSup>
                        <m:e>
                          <m:r>
                            <a:rPr lang="en-US" sz="2310" i="1"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model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−</m:t>
                          </m:r>
                          <m:r>
                            <a:rPr lang="en-US" sz="2310" i="0">
                              <a:latin typeface="Cambria Math"/>
                            </a:rPr>
                            <m:t>0.5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min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step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310" i="0">
                                  <a:latin typeface="Cambria Math"/>
                                </a:rPr>
                                <m:t>0.5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0">
                              <a:latin typeface="Cambria Math"/>
                            </a:rPr>
                            <m:t> </m:t>
                          </m:r>
                          <m:r>
                            <m:rPr>
                              <m:nor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step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⋅</m:t>
                          </m:r>
                          <m:sSup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warmup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310" i="0">
                                  <a:latin typeface="Cambria Math"/>
                                </a:rPr>
                                <m:t>1.5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665958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lr = d_(model)^(−0.5) · min(step^(−0.5), step · warmup^(−1.5))</a:t>
                </a:r>
              </a:p>
            </p:txBody>
          </p:sp>
        </mc:Fallback>
      </mc:AlternateContent>
      <p:sp>
        <p:nvSpPr>
          <p:cNvPr id="4" name="Placeholder: Learning-rate schedule" descr="Placeholder - Learning-rate schedule"/>
          <p:cNvSpPr/>
          <p:nvPr/>
        </p:nvSpPr>
        <p:spPr>
          <a:xfrm>
            <a:off x="696159" y="2534638"/>
            <a:ext cx="5605722" cy="32974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Learning-rate schedule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linear warm-up to step 4000, then decay proportional to 1/sqrt(step)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815160" y="3407156"/>
                <a:ext cx="4827895" cy="155244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/>
                  <a:t>Linear warm-up for 4000 steps</a:t>
                </a:r>
              </a:p>
              <a:p>
                <a:pPr/>
                <a:r>
                  <a:rPr sz="1700"/>
                  <a:t>Then decay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∝</m:t>
                    </m:r>
                    <m:r>
                      <a:rPr lang="en-US" sz="1700" i="0"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/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nor/>
                            <m:sty m:val="p"/>
                          </m:rPr>
                          <a:rPr lang="en-US" sz="1700" i="0">
                            <a:latin typeface="Cambria Math"/>
                          </a:rPr>
                          <m:t>step</m:t>
                        </m:r>
                      </m:e>
                    </m:rad>
                  </m:oMath>
                </a14:m>
              </a:p>
              <a:p>
                <a:pPr/>
                <a:r>
                  <a:rPr sz="1700"/>
                  <a:t>Adam: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700" i="1">
                            <a:latin typeface="Cambria Math"/>
                          </a:rPr>
                          <m:t>β</m:t>
                        </m:r>
                      </m:e>
                      <m:sub>
                        <m:r>
                          <a:rPr lang="en-US" sz="1700" i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=</m:t>
                    </m:r>
                    <m:r>
                      <a:rPr lang="en-US" sz="1700" i="0">
                        <a:latin typeface="Cambria Math"/>
                      </a:rPr>
                      <m:t>0.9</m:t>
                    </m:r>
                  </m:oMath>
                </a14:m>
                <a:r>
                  <a:rPr sz="1700"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700" i="1">
                            <a:latin typeface="Cambria Math"/>
                          </a:rPr>
                          <m:t>β</m:t>
                        </m:r>
                      </m:e>
                      <m:sub>
                        <m:r>
                          <a:rPr lang="en-US" sz="1700" i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=</m:t>
                    </m:r>
                    <m:r>
                      <a:rPr lang="en-US" sz="1700" i="0">
                        <a:latin typeface="Cambria Math"/>
                      </a:rPr>
                      <m:t>0.98</m:t>
                    </m:r>
                  </m:oMath>
                </a14:m>
                <a:r>
                  <a:rPr sz="1700"/>
                  <a:t>,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/>
                      </a:rPr>
                      <m:t>ϵ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=</m:t>
                    </m:r>
                    <m:sSup>
                      <m:e>
                        <m:r>
                          <a:rPr lang="en-US" sz="1700" i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700" i="0">
                            <a:latin typeface="Cambria Math"/>
                          </a:rPr>
                          <m:t>−</m:t>
                        </m:r>
                        <m:r>
                          <a:rPr lang="en-US" sz="1700" i="0">
                            <a:latin typeface="Cambria Math"/>
                          </a:rPr>
                          <m:t>9</m:t>
                        </m:r>
                      </m:sup>
                    </m:sSup>
                  </m:oMath>
                </a14:m>
              </a:p>
              <a:p>
                <a:pPr/>
                <a:r>
                  <a:rPr sz="1700"/>
                  <a:t>Dropout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700" i="1"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a:rPr lang="en-US" sz="1700" i="1">
                            <a:latin typeface="Cambria Math"/>
                          </a:rPr>
                          <m:t>d</m:t>
                        </m:r>
                        <m:r>
                          <a:rPr lang="en-US" sz="1700" i="1">
                            <a:latin typeface="Cambria Math"/>
                          </a:rPr>
                          <m:t>r</m:t>
                        </m:r>
                        <m:r>
                          <a:rPr lang="en-US" sz="1700" i="1">
                            <a:latin typeface="Cambria Math"/>
                          </a:rPr>
                          <m:t>o</m:t>
                        </m:r>
                        <m:r>
                          <a:rPr lang="en-US" sz="1700" i="1"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=</m:t>
                    </m:r>
                    <m:r>
                      <a:rPr lang="en-US" sz="1700" i="0">
                        <a:latin typeface="Cambria Math"/>
                      </a:rPr>
                      <m:t>0.1</m:t>
                    </m:r>
                  </m:oMath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6815160" y="3407156"/>
                <a:ext cx="4827895" cy="155244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/>
                  <a:t>Linear warm-up for 4000 steps</a:t>
                </a:r>
              </a:p>
              <a:p>
                <a:pPr/>
                <a:r>
                  <a:rPr sz="1700"/>
                  <a:t>Then decay </a:t>
                </a:r>
                <a:r>
                  <a:rPr sz="1700" i="1"/>
                  <a:t>∝ 1/√(step)</a:t>
                </a:r>
              </a:p>
              <a:p>
                <a:pPr/>
                <a:r>
                  <a:rPr sz="1700"/>
                  <a:t>Adam: </a:t>
                </a:r>
                <a:r>
                  <a:rPr sz="1700" i="1"/>
                  <a:t>β₁ = 0.9</a:t>
                </a:r>
                <a:r>
                  <a:rPr sz="1700"/>
                  <a:t>, </a:t>
                </a:r>
                <a:r>
                  <a:rPr sz="1700" i="1"/>
                  <a:t>β₂ = 0.98</a:t>
                </a:r>
                <a:r>
                  <a:rPr sz="1700"/>
                  <a:t>, </a:t>
                </a:r>
                <a:r>
                  <a:rPr sz="1700" i="1"/>
                  <a:t>ε = 10⁻⁹</a:t>
                </a:r>
              </a:p>
              <a:p>
                <a:pPr/>
                <a:r>
                  <a:rPr sz="1700"/>
                  <a:t>Dropout </a:t>
                </a:r>
                <a:r>
                  <a:rPr sz="1700" i="1"/>
                  <a:t>P_(drop) = 0.1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Model configurations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"/>
              <p:cNvGraphicFramePr>
                <a:graphicFrameLocks noGrp="1"/>
              </p:cNvGraphicFramePr>
              <p:nvPr/>
            </p:nvGraphicFramePr>
            <p:xfrm>
              <a:off x="1842300" y="2727833"/>
              <a:ext cx="8507096" cy="1343406"/>
            </p:xfrm>
            <a:graphic>
              <a:graphicData uri="http://schemas.openxmlformats.org/drawingml/2006/table">
                <a:tbl>
                  <a:tblPr firstRow="1" bandRow="0">
                    <a:tableStyleId>{2D5ABB26-0587-4C30-8999-92F81FD0307C}</a:tableStyleId>
                  </a:tblPr>
                  <a:tblGrid>
                    <a:gridCol w="1150938"/>
                    <a:gridCol w="550228"/>
                    <a:gridCol w="1601470"/>
                    <a:gridCol w="1000760"/>
                    <a:gridCol w="700405"/>
                    <a:gridCol w="1301115"/>
                    <a:gridCol w="2202180"/>
                  </a:tblGrid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172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1720" b="1" i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model</m:t>
                                  </m:r>
                                </m:sub>
                              </m:sSub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172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72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f</m:t>
                                  </m:r>
                                  <m:r>
                                    <a:rPr lang="en-US" sz="172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f</m:t>
                                  </m:r>
                                </m:sub>
                              </m:sSub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h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Params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BLEU (EN-DE)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Base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512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2048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65M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27.3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Big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1024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4096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213M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accent2"/>
                              </a:solidFill>
                            </a:rPr>
                            <a:t>28.4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"/>
              <p:cNvGraphicFramePr>
                <a:graphicFrameLocks noGrp="1"/>
              </p:cNvGraphicFramePr>
              <p:nvPr/>
            </p:nvGraphicFramePr>
            <p:xfrm>
              <a:off x="1842300" y="2727833"/>
              <a:ext cx="8507096" cy="1343406"/>
            </p:xfrm>
            <a:graphic>
              <a:graphicData uri="http://schemas.openxmlformats.org/drawingml/2006/table">
                <a:tbl>
                  <a:tblPr firstRow="1" bandRow="0">
                    <a:tableStyleId>{2D5ABB26-0587-4C30-8999-92F81FD0307C}</a:tableStyleId>
                  </a:tblPr>
                  <a:tblGrid>
                    <a:gridCol w="1150938"/>
                    <a:gridCol w="550228"/>
                    <a:gridCol w="1601470"/>
                    <a:gridCol w="1000760"/>
                    <a:gridCol w="700405"/>
                    <a:gridCol w="1301115"/>
                    <a:gridCol w="2202180"/>
                  </a:tblGrid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 i="1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 i="1">
                              <a:solidFill>
                                <a:schemeClr val="tx1"/>
                              </a:solidFill>
                            </a:rPr>
                            <a:t>d_(model)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 i="1">
                              <a:solidFill>
                                <a:schemeClr val="tx1"/>
                              </a:solidFill>
                            </a:rPr>
                            <a:t>d_(ff)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 i="1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Params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BLEU (EN-DE)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22225" cap="flat" cmpd="sng">
                          <a:solidFill>
                            <a:schemeClr val="tx1"/>
                          </a:solidFill>
                          <a:prstDash val="solid"/>
                        </a:lnT>
                        <a:lnB w="11430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Base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512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2048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65M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27.3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 b="1">
                              <a:solidFill>
                                <a:schemeClr val="tx1"/>
                              </a:solidFill>
                            </a:rPr>
                            <a:t>Big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1024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4096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213M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720">
                              <a:solidFill>
                                <a:schemeClr val="accent2"/>
                              </a:solidFill>
                            </a:rPr>
                            <a:t>28.4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22225" cap="flat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4299839"/>
                <a:ext cx="11094415" cy="4704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Parameter count per layer is roughly </a:t>
                </a:r>
                <a14:m>
                  <m:oMath xmlns:m="http://schemas.openxmlformats.org/officeDocument/2006/math">
                    <m: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4</m:t>
                    </m:r>
                    <m:sSubSup>
                      <m:e>
                        <m:r>
                          <a:rPr lang="en-US" sz="17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7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model</m:t>
                        </m:r>
                      </m:sub>
                      <m:sup>
                        <m:r>
                          <a:rPr lang="en-US" sz="17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(attention)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 </m:t>
                    </m:r>
                    <m: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2</m:t>
                    </m:r>
                    <m:sSub>
                      <m:e>
                        <m:r>
                          <a:rPr lang="en-US" sz="17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7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model</m:t>
                        </m:r>
                      </m:sub>
                    </m:sSub>
                    <m:sSub>
                      <m:e>
                        <m:r>
                          <a:rPr lang="en-US" sz="17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f</m:t>
                        </m:r>
                        <m:r>
                          <a:rPr lang="en-US" sz="17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f</m:t>
                        </m:r>
                      </m:sub>
                    </m:sSub>
                  </m:oMath>
                </a14:m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(FFN)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≈</m:t>
                    </m:r>
                    <m: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12</m:t>
                    </m:r>
                    <m:r>
                      <a:rPr lang="en-US" sz="1700" i="0">
                        <a:solidFill>
                          <a:schemeClr val="tx1">
                            <a:lumMod val="55000"/>
                            <a:lumOff val="45000"/>
                          </a:schemeClr>
                        </a:solidFill>
                        <a:latin typeface="Cambria Math"/>
                      </a:rPr>
                      <m:t> </m:t>
                    </m:r>
                    <m:sSubSup>
                      <m:e>
                        <m:r>
                          <a:rPr lang="en-US" sz="1700" i="1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7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model</m:t>
                        </m:r>
                      </m:sub>
                      <m:sup>
                        <m:r>
                          <a:rPr lang="en-US" sz="1700" i="0">
                            <a:solidFill>
                              <a:schemeClr val="tx1">
                                <a:lumMod val="55000"/>
                                <a:lumOff val="4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4299839"/>
                <a:ext cx="11094415" cy="4704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Parameter count per layer is roughly </a:t>
                </a:r>
                <a:r>
                  <a:rPr sz="17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4 d_(model)²</a:t>
                </a:r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(attention) </a:t>
                </a:r>
                <a:r>
                  <a:rPr sz="17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+ 2 d_(model) d_(ff)</a:t>
                </a:r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 (FFN) </a:t>
                </a:r>
                <a:r>
                  <a:rPr sz="1700" i="1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≈ 12 d_(model)²</a:t>
                </a:r>
                <a:r>
                  <a:rPr sz="1700">
                    <a:solidFill>
                      <a:schemeClr val="tx1">
                        <a:lumMod val="55000"/>
                        <a:lumOff val="45000"/>
                      </a:schemeClr>
                    </a:solidFill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Complexity and variants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Cost per layer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"/>
              <p:cNvGraphicFramePr>
                <a:graphicFrameLocks noGrp="1"/>
              </p:cNvGraphicFramePr>
              <p:nvPr/>
            </p:nvGraphicFramePr>
            <p:xfrm>
              <a:off x="565156" y="2186159"/>
              <a:ext cx="11061382" cy="1791208"/>
            </p:xfrm>
            <a:graphic>
              <a:graphicData uri="http://schemas.openxmlformats.org/drawingml/2006/table">
                <a:tbl>
                  <a:tblPr firstRow="1" bandRow="0">
                    <a:tableStyleId>{2D5ABB26-0587-4C30-8999-92F81FD0307C}</a:tableStyleId>
                  </a:tblPr>
                  <a:tblGrid>
                    <a:gridCol w="2502535"/>
                    <a:gridCol w="3403600"/>
                    <a:gridCol w="2502535"/>
                    <a:gridCol w="2652712"/>
                  </a:tblGrid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Layer type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Complexity per layer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Sequential ops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Max path length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Self-attention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US" sz="172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US" sz="1720" i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Recurrent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sSup>
                                <m:e>
                                  <m:r>
                                    <a:rPr lang="en-US" sz="172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1720" i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Convolutional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sSup>
                                <m:e>
                                  <m:r>
                                    <a:rPr lang="en-US" sz="172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1720" i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720" i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72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172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sz="1720" i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"/>
              <p:cNvGraphicFramePr>
                <a:graphicFrameLocks noGrp="1"/>
              </p:cNvGraphicFramePr>
              <p:nvPr/>
            </p:nvGraphicFramePr>
            <p:xfrm>
              <a:off x="565156" y="2186159"/>
              <a:ext cx="11061382" cy="1791208"/>
            </p:xfrm>
            <a:graphic>
              <a:graphicData uri="http://schemas.openxmlformats.org/drawingml/2006/table">
                <a:tbl>
                  <a:tblPr firstRow="1" bandRow="0">
                    <a:tableStyleId>{2D5ABB26-0587-4C30-8999-92F81FD0307C}</a:tableStyleId>
                  </a:tblPr>
                  <a:tblGrid>
                    <a:gridCol w="2502535"/>
                    <a:gridCol w="3403600"/>
                    <a:gridCol w="2502535"/>
                    <a:gridCol w="2652712"/>
                  </a:tblGrid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Layer type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Complexity per layer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Sequential ops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b="1">
                              <a:solidFill>
                                <a:schemeClr val="bg1"/>
                              </a:solidFill>
                            </a:rPr>
                            <a:t>Max path length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Self-attention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O(n² · d)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O(1)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O(1)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Recurrent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O(n · d²)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O(n)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O(n)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chemeClr val="accent1">
                            <a:lumMod val="9999"/>
                            <a:lumOff val="90000"/>
                          </a:schemeClr>
                        </a:solidFill>
                      </a:tcPr>
                    </a:tc>
                  </a:tr>
                  <a:tr h="4478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720">
                              <a:solidFill>
                                <a:schemeClr val="tx1"/>
                              </a:solidFill>
                            </a:rPr>
                            <a:t>Convolutional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O(k · n · d²)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O(1)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720" i="1">
                              <a:solidFill>
                                <a:schemeClr val="tx1"/>
                              </a:solidFill>
                            </a:rPr>
                            <a:t>O(logₖ n)</a:t>
                          </a:r>
                        </a:p>
                      </a:txBody>
                      <a:tcPr marL="91440" marR="91440" marT="27432" marB="2743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6" name="Alertblock: The quadratic bottleneck"/>
          <p:cNvGrpSpPr/>
          <p:nvPr/>
        </p:nvGrpSpPr>
        <p:grpSpPr>
          <a:xfrm>
            <a:off x="548640" y="4205967"/>
            <a:ext cx="11094415" cy="1105954"/>
            <a:chOff x="548640" y="4205967"/>
            <a:chExt cx="11094415" cy="11059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ounded Rectangle 3"/>
                <p:cNvSpPr/>
                <p:nvPr/>
              </p:nvSpPr>
              <p:spPr>
                <a:xfrm>
                  <a:off x="548640" y="4205967"/>
                  <a:ext cx="11094415" cy="1105954"/>
                </a:xfrm>
                <a:prstGeom prst="roundRect">
                  <a:avLst>
                    <a:gd name="adj" fmla="val 7441"/>
                  </a:avLst>
                </a:prstGeom>
                <a:solidFill>
                  <a:schemeClr val="accent2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The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n</m:t>
                      </m:r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 score matrix dominates when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&gt;</m:t>
                      </m:r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d</m:t>
                      </m:r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. Sparse, linear and flash attention all target this term.</a:t>
                  </a:r>
                </a:p>
              </p:txBody>
            </p:sp>
          </mc:Choice>
          <mc:Fallback>
            <p:sp>
              <p:nvSpPr>
                <p:cNvPr id="4" name="Rounded Rectangle 3"/>
                <p:cNvSpPr/>
                <p:nvPr/>
              </p:nvSpPr>
              <p:spPr>
                <a:xfrm>
                  <a:off x="548640" y="4205967"/>
                  <a:ext cx="11094415" cy="1105954"/>
                </a:xfrm>
                <a:prstGeom prst="roundRect">
                  <a:avLst>
                    <a:gd name="adj" fmla="val 7441"/>
                  </a:avLst>
                </a:prstGeom>
                <a:solidFill>
                  <a:schemeClr val="accent2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The </a:t>
                  </a:r>
                  <a:r>
                    <a:rPr sz="1980" i="1">
                      <a:solidFill>
                        <a:schemeClr val="tx1"/>
                      </a:solidFill>
                    </a:rPr>
                    <a:t>n × n</a:t>
                  </a:r>
                  <a:r>
                    <a:rPr sz="1980">
                      <a:solidFill>
                        <a:schemeClr val="tx1"/>
                      </a:solidFill>
                    </a:rPr>
                    <a:t> score matrix dominates when </a:t>
                  </a:r>
                  <a:r>
                    <a:rPr sz="1980" i="1">
                      <a:solidFill>
                        <a:schemeClr val="tx1"/>
                      </a:solidFill>
                    </a:rPr>
                    <a:t>n &gt; d</a:t>
                  </a:r>
                  <a:r>
                    <a:rPr sz="1980">
                      <a:solidFill>
                        <a:schemeClr val="tx1"/>
                      </a:solidFill>
                    </a:rPr>
                    <a:t>. Sparse, linear and flash attention all target this term.</a:t>
                  </a:r>
                </a:p>
              </p:txBody>
            </p:sp>
          </mc:Fallback>
        </mc:AlternateContent>
        <p:sp>
          <p:nvSpPr>
            <p:cNvPr id="5" name="Round Same Side Corner Rectangle 4"/>
            <p:cNvSpPr/>
            <p:nvPr/>
          </p:nvSpPr>
          <p:spPr>
            <a:xfrm>
              <a:off x="548640" y="4205967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The quadratic bottleneck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One architecture, three families</a:t>
            </a:r>
          </a:p>
        </p:txBody>
      </p:sp>
      <p:sp>
        <p:nvSpPr>
          <p:cNvPr id="3" name="Placeholder: Transformer family tree" descr="Placeholder - Transformer family tree"/>
          <p:cNvSpPr/>
          <p:nvPr/>
        </p:nvSpPr>
        <p:spPr>
          <a:xfrm>
            <a:off x="2656579" y="1367583"/>
            <a:ext cx="6878537" cy="312660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Transformer family tree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Transformer branching into encoder-only (BERT), decoder-only (GPT), encoder-decoder (T5, BART)</a:t>
            </a:r>
          </a:p>
        </p:txBody>
      </p:sp>
      <p:grpSp>
        <p:nvGrpSpPr>
          <p:cNvPr id="6" name="Block: Encoder-only"/>
          <p:cNvGrpSpPr/>
          <p:nvPr/>
        </p:nvGrpSpPr>
        <p:grpSpPr>
          <a:xfrm>
            <a:off x="548640" y="4722791"/>
            <a:ext cx="3454298" cy="1407706"/>
            <a:chOff x="548640" y="4722791"/>
            <a:chExt cx="3454298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ounded Rectangle 3"/>
                <p:cNvSpPr/>
                <p:nvPr/>
              </p:nvSpPr>
              <p:spPr>
                <a:xfrm>
                  <a:off x="548640" y="4722791"/>
                  <a:ext cx="3454298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BERT - masked LM,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∣</m:t>
                      </m:r>
                      <m:sSub>
                        <m:e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8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\</m:t>
                          </m:r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4" name="Rounded Rectangle 3"/>
                <p:cNvSpPr/>
                <p:nvPr/>
              </p:nvSpPr>
              <p:spPr>
                <a:xfrm>
                  <a:off x="548640" y="4722791"/>
                  <a:ext cx="3454298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BERT - masked LM, </a:t>
                  </a:r>
                  <a:r>
                    <a:rPr sz="1980" i="1">
                      <a:solidFill>
                        <a:schemeClr val="tx1"/>
                      </a:solidFill>
                    </a:rPr>
                    <a:t>p(xᵢ | x_(setminus i))</a:t>
                  </a:r>
                </a:p>
              </p:txBody>
            </p:sp>
          </mc:Fallback>
        </mc:AlternateContent>
        <p:sp>
          <p:nvSpPr>
            <p:cNvPr id="5" name="Round Same Side Corner Rectangle 4"/>
            <p:cNvSpPr/>
            <p:nvPr/>
          </p:nvSpPr>
          <p:spPr>
            <a:xfrm>
              <a:off x="548640" y="4722791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Encoder-only</a:t>
              </a:r>
            </a:p>
          </p:txBody>
        </p:sp>
      </p:grpSp>
      <p:grpSp>
        <p:nvGrpSpPr>
          <p:cNvPr id="9" name="Block: Decoder-only"/>
          <p:cNvGrpSpPr/>
          <p:nvPr/>
        </p:nvGrpSpPr>
        <p:grpSpPr>
          <a:xfrm>
            <a:off x="4368698" y="4722791"/>
            <a:ext cx="3454298" cy="1407706"/>
            <a:chOff x="4368698" y="4722791"/>
            <a:chExt cx="3454298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ounded Rectangle 6"/>
                <p:cNvSpPr/>
                <p:nvPr/>
              </p:nvSpPr>
              <p:spPr>
                <a:xfrm>
                  <a:off x="4368698" y="4722791"/>
                  <a:ext cx="3454298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GPT - causal LM,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∣</m:t>
                      </m:r>
                      <m:sSub>
                        <m:e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8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US" sz="198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7" name="Rounded Rectangle 6"/>
                <p:cNvSpPr/>
                <p:nvPr/>
              </p:nvSpPr>
              <p:spPr>
                <a:xfrm>
                  <a:off x="4368698" y="4722791"/>
                  <a:ext cx="3454298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GPT - causal LM, </a:t>
                  </a:r>
                  <a:r>
                    <a:rPr sz="1980" i="1">
                      <a:solidFill>
                        <a:schemeClr val="tx1"/>
                      </a:solidFill>
                    </a:rPr>
                    <a:t>p(x_t | x_(&lt;t))</a:t>
                  </a:r>
                </a:p>
              </p:txBody>
            </p:sp>
          </mc:Fallback>
        </mc:AlternateContent>
        <p:sp>
          <p:nvSpPr>
            <p:cNvPr id="8" name="Round Same Side Corner Rectangle 7"/>
            <p:cNvSpPr/>
            <p:nvPr/>
          </p:nvSpPr>
          <p:spPr>
            <a:xfrm>
              <a:off x="4368698" y="4722791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Decoder-only</a:t>
              </a:r>
            </a:p>
          </p:txBody>
        </p:sp>
      </p:grpSp>
      <p:grpSp>
        <p:nvGrpSpPr>
          <p:cNvPr id="12" name="Block: Encoder-decoder"/>
          <p:cNvGrpSpPr/>
          <p:nvPr/>
        </p:nvGrpSpPr>
        <p:grpSpPr>
          <a:xfrm>
            <a:off x="8188757" y="4722791"/>
            <a:ext cx="3454298" cy="1407706"/>
            <a:chOff x="8188757" y="4722791"/>
            <a:chExt cx="3454298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8188757" y="4722791"/>
                  <a:ext cx="3454298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T5, BART - </a:t>
                  </a:r>
                  <a14:m>
                    <m:oMath xmlns:m="http://schemas.openxmlformats.org/officeDocument/2006/math"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∣</m:t>
                      </m:r>
                      <m:r>
                        <a:rPr lang="en-US" sz="1980" i="1">
                          <a:solidFill>
                            <a:schemeClr val="tx1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10" name="Rounded Rectangle 9"/>
                <p:cNvSpPr/>
                <p:nvPr/>
              </p:nvSpPr>
              <p:spPr>
                <a:xfrm>
                  <a:off x="8188757" y="4722791"/>
                  <a:ext cx="3454298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70000"/>
                    <a:buFont typeface="Arial" panose="020B0604020202020204"/>
                    <a:buChar char="►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T5, BART - </a:t>
                  </a:r>
                  <a:r>
                    <a:rPr sz="1980" i="1">
                      <a:solidFill>
                        <a:schemeClr val="tx1"/>
                      </a:solidFill>
                    </a:rPr>
                    <a:t>p(y | x)</a:t>
                  </a:r>
                </a:p>
              </p:txBody>
            </p:sp>
          </mc:Fallback>
        </mc:AlternateContent>
        <p:sp>
          <p:nvSpPr>
            <p:cNvPr id="11" name="Round Same Side Corner Rectangle 10"/>
            <p:cNvSpPr/>
            <p:nvPr/>
          </p:nvSpPr>
          <p:spPr>
            <a:xfrm>
              <a:off x="8188757" y="4722791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Encoder-decoder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Summary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200761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softmax</m:t>
                      </m:r>
                      <m:r>
                        <a:rPr lang="en-US" sz="2310" i="0">
                          <a:latin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310" i="0">
                                      <a:latin typeface="Cambria Math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2310" i="1">
                                          <a:latin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310" i="1">
                          <a:latin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200761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softmax((Q K^top)/(√(dₖ))) V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48640" y="3196336"/>
            <a:ext cx="11094415" cy="229412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200"/>
              <a:t>Attention replaces recurrence, so training is fully parallel</a:t>
            </a:r>
          </a:p>
          <a:p>
            <a:pPr/>
            <a:r>
              <a:rPr sz="2200"/>
              <a:t>Multi-head attention attends to several relations at once</a:t>
            </a:r>
          </a:p>
          <a:p>
            <a:pPr/>
            <a:r>
              <a:rPr sz="2200"/>
              <a:t>Positional encodings supply word order</a:t>
            </a:r>
          </a:p>
          <a:p>
            <a:pPr/>
            <a:r>
              <a:rPr sz="2200"/>
              <a:t>Residuals + LayerNorm make deep stacks trainable</a:t>
            </a:r>
          </a:p>
          <a:p>
            <a:pPr/>
            <a:r>
              <a:rPr sz="2200"/>
              <a:t>Cost is </a:t>
            </a:r>
            <a:r>
              <a:rPr sz="2200">
                <a:solidFill>
                  <a:schemeClr val="accent2"/>
                </a:solidFill>
              </a:rPr>
              <a:t>quadratic</a:t>
            </a:r>
            <a:r>
              <a:rPr sz="2200"/>
              <a:t> in sequence length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73808"/>
            <a:ext cx="11094415" cy="8818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4400">
                <a:solidFill>
                  <a:schemeClr val="accent1"/>
                </a:solidFill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42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>
                <a:solidFill>
                  <a:schemeClr val="tx1">
                    <a:lumMod val="55000"/>
                    <a:lumOff val="45000"/>
                  </a:schemeClr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59504"/>
            <a:ext cx="11094415" cy="4246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400">
                <a:solidFill>
                  <a:schemeClr val="tx1">
                    <a:lumMod val="55000"/>
                    <a:lumOff val="45000"/>
                  </a:schemeClr>
                </a:solidFill>
              </a:rPr>
              <a:t>Vaswani et al., </a:t>
            </a:r>
            <a:r>
              <a:rPr sz="1400" i="1">
                <a:solidFill>
                  <a:schemeClr val="tx1">
                    <a:lumMod val="55000"/>
                    <a:lumOff val="45000"/>
                  </a:schemeClr>
                </a:solidFill>
              </a:rPr>
              <a:t>Attention Is All You Need</a:t>
            </a:r>
            <a:r>
              <a:rPr sz="1400">
                <a:solidFill>
                  <a:schemeClr val="tx1">
                    <a:lumMod val="55000"/>
                    <a:lumOff val="45000"/>
                  </a:schemeClr>
                </a:solidFill>
              </a:rPr>
              <a:t>, NeurIPS 2017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eamer Blue (Madrid-inspired)">
  <a:themeElements>
    <a:clrScheme name="Beamer Blue (Madrid-inspired)">
      <a:dk1>
        <a:srgbClr val="1F1F24"/>
      </a:dk1>
      <a:lt1>
        <a:srgbClr val="FFFFFF"/>
      </a:lt1>
      <a:dk2>
        <a:srgbClr val="1A1A5E"/>
      </a:dk2>
      <a:lt2>
        <a:srgbClr val="EBEBF7"/>
      </a:lt2>
      <a:accent1>
        <a:srgbClr val="3333B3"/>
      </a:accent1>
      <a:accent2>
        <a:srgbClr val="C0161B"/>
      </a:accent2>
      <a:accent3>
        <a:srgbClr val="1E7B34"/>
      </a:accent3>
      <a:accent4>
        <a:srgbClr val="E69F00"/>
      </a:accent4>
      <a:accent5>
        <a:srgbClr val="3E9BD6"/>
      </a:accent5>
      <a:accent6>
        <a:srgbClr val="7A7A8C"/>
      </a:accent6>
      <a:hlink>
        <a:srgbClr val="3333B3"/>
      </a:hlink>
      <a:folHlink>
        <a:srgbClr val="6A3DB8"/>
      </a:folHlink>
    </a:clrScheme>
    <a:fontScheme name="Beamer Blue (Madrid-inspired)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Transformer</dc:title>
  <dc:subject/>
  <dc:creator>Your Name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